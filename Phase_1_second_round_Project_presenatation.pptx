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82" r:id="rId5"/>
    <p:sldId id="259" r:id="rId6"/>
    <p:sldId id="279" r:id="rId7"/>
    <p:sldId id="280" r:id="rId8"/>
    <p:sldId id="260" r:id="rId9"/>
    <p:sldId id="261" r:id="rId10"/>
    <p:sldId id="263" r:id="rId11"/>
    <p:sldId id="271" r:id="rId12"/>
    <p:sldId id="275" r:id="rId13"/>
    <p:sldId id="276" r:id="rId14"/>
    <p:sldId id="273" r:id="rId15"/>
    <p:sldId id="274" r:id="rId16"/>
    <p:sldId id="268" r:id="rId17"/>
    <p:sldId id="264" r:id="rId18"/>
    <p:sldId id="281" r:id="rId19"/>
    <p:sldId id="265" r:id="rId20"/>
  </p:sldIdLst>
  <p:sldSz cx="12192000" cy="6858000"/>
  <p:notesSz cx="6954838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066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F8BA2592-37C6-4071-8C95-F74DDD69B6FE}" type="datetimeFigureOut">
              <a:rPr lang="en-IN" smtClean="0"/>
              <a:pPr/>
              <a:t>11-01-2022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r>
              <a:rPr lang="en-US"/>
              <a:t>Dept. of CSE, GAT                                           2020-21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80221FE1-528C-4581-9630-D496CD92E2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22397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4FAE1FFC-BB9A-4B6C-B478-F218775EACC6}" type="datetimeFigureOut">
              <a:rPr lang="en-IN" smtClean="0"/>
              <a:pPr/>
              <a:t>11-01-2022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r>
              <a:rPr lang="en-US"/>
              <a:t>Dept. of CSE, GAT                                           2020-21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4F106680-AFFF-4043-92CD-40567EBB64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06675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106680-AFFF-4043-92CD-40567EBB641E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                                           2020-21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454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106680-AFFF-4043-92CD-40567EBB641E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                                           2020-21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065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106680-AFFF-4043-92CD-40567EBB641E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                                           2020-21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839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Dept. of CSE, GAT                                           2020-21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106680-AFFF-4043-92CD-40567EBB641E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409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Dept. of CSE, GAT                                           2020-21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106680-AFFF-4043-92CD-40567EBB641E}" type="slidenum">
              <a:rPr lang="en-IN" smtClean="0"/>
              <a:pPr/>
              <a:t>9</a:t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Dept. of CSE, GAT                                           2020-21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106680-AFFF-4043-92CD-40567EBB641E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623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457-345D-41D4-B50D-F34135DD4C7C}" type="datetime1">
              <a:rPr lang="en-IN" smtClean="0"/>
              <a:t>11-01-2022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                                                                                                                2021-22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962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ED3AC-4A17-4E49-B1CF-BDB4AD7B47CE}" type="datetime1">
              <a:rPr lang="en-IN" smtClean="0"/>
              <a:t>11-01-2022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                                                                                                                2021-22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17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7CFE8-88C5-450F-8CF2-C2F60AA3874E}" type="datetime1">
              <a:rPr lang="en-IN" smtClean="0"/>
              <a:t>11-01-2022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                                                                                                                2021-22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431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5DBE-4D83-4A5B-8C84-31964D5FD201}" type="datetime1">
              <a:rPr lang="en-IN" smtClean="0"/>
              <a:t>11-01-2022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                                                                                                                2021-22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123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17AB3-9852-4A76-BF4D-0D60583DDDF5}" type="datetime1">
              <a:rPr lang="en-IN" smtClean="0"/>
              <a:t>11-01-2022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                                                                                                                2021-22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968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0D4E4-E085-4E45-9373-DD4D2EB95680}" type="datetime1">
              <a:rPr lang="en-IN" smtClean="0"/>
              <a:t>11-01-2022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                                                                                                                2021-22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538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0C014-807E-4543-B603-CF12582131A2}" type="datetime1">
              <a:rPr lang="en-IN" smtClean="0"/>
              <a:t>11-01-2022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                                                                                                                2021-22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641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5E604-CC88-432B-99B4-834F52DD49DC}" type="datetime1">
              <a:rPr lang="en-IN" smtClean="0"/>
              <a:t>11-01-2022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                                                                                                                2021-22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345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EA9E-709B-49D1-91E2-841DBD327D4D}" type="datetime1">
              <a:rPr lang="en-IN" smtClean="0"/>
              <a:t>11-01-2022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                                                                                                                2021-22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358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3FCDF-5952-45C5-9A5C-D7CF7BF5EAD3}" type="datetime1">
              <a:rPr lang="en-IN" smtClean="0"/>
              <a:t>11-01-2022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                                                                                                                2021-22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456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F0A0-0A4B-4A4F-AD37-EFBF9A8577E2}" type="datetime1">
              <a:rPr lang="en-IN" smtClean="0"/>
              <a:t>11-01-2022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                                                                                                                2021-22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33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CB152-85AD-4101-9A20-2AAE8D2AB820}" type="datetime1">
              <a:rPr lang="en-IN" smtClean="0"/>
              <a:t>11-01-2022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Dept. of CSE, GAT                                                                                                                2021-22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3D2DC-5F12-406D-9BC7-0C4E270748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985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9975" y="0"/>
            <a:ext cx="10977349" cy="1752600"/>
          </a:xfrm>
        </p:spPr>
        <p:txBody>
          <a:bodyPr>
            <a:noAutofit/>
          </a:bodyPr>
          <a:lstStyle/>
          <a:p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ACADEMY OF TECHNOLOGY</a:t>
            </a:r>
            <a:b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br>
              <a:rPr lang="en-IN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(Accredited by NBA 2020-2122)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: 2021 - 22 ODD Sem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K:\ns2 templates\KIRAN NS-2\college_logo3.p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40010" y="325320"/>
            <a:ext cx="9239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885" y="381000"/>
            <a:ext cx="633670" cy="727281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4128541" y="6406424"/>
            <a:ext cx="4114800" cy="36512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GAT                                                                                                                2021-22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48958D6-2531-46C0-939D-ED4B86E38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838297"/>
              </p:ext>
            </p:extLst>
          </p:nvPr>
        </p:nvGraphicFramePr>
        <p:xfrm>
          <a:off x="866093" y="1394821"/>
          <a:ext cx="10420279" cy="493053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36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2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8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2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157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Subject Name</a:t>
                      </a:r>
                      <a:endParaRPr lang="en-IN" sz="16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Work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Subject Code</a:t>
                      </a:r>
                      <a:endParaRPr lang="en-IN" sz="16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18CSP77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683">
                <a:tc row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AKHILADEVI M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 row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USN</a:t>
                      </a:r>
                      <a:endParaRPr lang="en-IN" sz="16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1GA18CS017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68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AMRUTHA M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1GA18CS023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68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CHANDANASHREE K R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1GA18CS045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68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AMRUTHA K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1GA18CS194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139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</a:t>
                      </a:r>
                      <a:endParaRPr lang="en-IN" sz="16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MACHINE LEARNING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No: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10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139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Title</a:t>
                      </a:r>
                      <a:endParaRPr lang="en-IN" sz="16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“ROAD ACCIDENT ANALYSIS USING KNN MACHINE </a:t>
                      </a: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ALGORITHM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72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taken at</a:t>
                      </a:r>
                      <a:endParaRPr lang="en-IN" sz="16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 gridSpan="3">
                  <a:txBody>
                    <a:bodyPr/>
                    <a:lstStyle/>
                    <a:p>
                      <a:pPr marR="3175"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GLOBAL ACADEMY OF TECHNOLOGY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72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Guide Name</a:t>
                      </a:r>
                      <a:endParaRPr lang="en-IN" sz="16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 gridSpan="3">
                  <a:txBody>
                    <a:bodyPr/>
                    <a:lstStyle/>
                    <a:p>
                      <a:pPr marR="3175"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 Dr. ANITHA K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777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Specification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and High Level Design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Split-ups and algorithms used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7315200" cy="365125"/>
          </a:xfrm>
        </p:spPr>
        <p:txBody>
          <a:bodyPr/>
          <a:lstStyle/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GAT                                                                                                                2021-22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968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6395"/>
            <a:ext cx="10515600" cy="5189763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sz="9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learning is the study of computer algorithms that can improve automatically through experience and by the use of data. It is seen as a part of artificial Intelligence. </a:t>
            </a:r>
          </a:p>
          <a:p>
            <a:pPr algn="just">
              <a:lnSpc>
                <a:spcPct val="120000"/>
              </a:lnSpc>
            </a:pPr>
            <a:r>
              <a:rPr lang="en-US" sz="9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Learning algorithms build a model based on sample data, known as “training data”, to make predictions or decisions without being explicitly programmed to do so. </a:t>
            </a:r>
          </a:p>
          <a:p>
            <a:pPr algn="just">
              <a:lnSpc>
                <a:spcPct val="120000"/>
              </a:lnSpc>
            </a:pPr>
            <a:r>
              <a:rPr lang="en-US" sz="9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Learning algorithms are used in a wide variety of applications, such as in medicine, email filtering, speech recognition, and computer vision, where it is difficult or unfeasible to develop conventional algorithms to perform the needs tasks. </a:t>
            </a:r>
            <a:endParaRPr lang="en-IN" sz="9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7315200" cy="365125"/>
          </a:xfrm>
        </p:spPr>
        <p:txBody>
          <a:bodyPr/>
          <a:lstStyle/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GAT                                                                                                                2021-22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434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9D111-997D-45EC-BAB3-51843628E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8457"/>
            <a:ext cx="10515600" cy="5458506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K-Nearest Neighbour is one of the simplest Machine Learning algorithms based on the Supervised Learning technique.</a:t>
            </a: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can be used for both classification and regression problems. However, it is more widely used in classification problems.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 nearest neighbors is a simple algorithm that stores all available cases and classifies new cases by a majority of its k neighbors. 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case being assigned to the class is most common amongst its K nearest neighbors measured by a distance function.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 regression is a statistical model that in its basic form uses a logistic function to model a binary dependent variable, although many more complex extensions exist.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657EB6-02FD-427F-8D92-75D28F245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GAT                                                                                                                2021-22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3F1AEB-5C89-4528-8D85-80FE6571E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341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7315200" cy="365125"/>
          </a:xfrm>
        </p:spPr>
        <p:txBody>
          <a:bodyPr/>
          <a:lstStyle/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GAT                                                                                                                2021-22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7833C8F-EDE3-4105-B4AF-61368B9B0CCC}"/>
              </a:ext>
            </a:extLst>
          </p:cNvPr>
          <p:cNvSpPr txBox="1">
            <a:spLocks/>
          </p:cNvSpPr>
          <p:nvPr/>
        </p:nvSpPr>
        <p:spPr>
          <a:xfrm>
            <a:off x="838200" y="8064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DD90C92F-766C-4706-ADE1-07E21EB6BB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6739139"/>
              </p:ext>
            </p:extLst>
          </p:nvPr>
        </p:nvGraphicFramePr>
        <p:xfrm>
          <a:off x="838200" y="1524000"/>
          <a:ext cx="10515600" cy="4111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27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r>
                        <a:rPr lang="en-IN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the paper and year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r>
                        <a:rPr lang="en-IN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0021"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Traffic Accident Severity Prediction Based on Decision Level Fusion of Machine and Deep Learning Model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(Sep 2021) [1].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Mining, CNN, Random Forest, Logistic Regression.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architecture of RFCNN is more efficient, accurate and gives highest performance.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Implementation of these methodologies increases the Complexity.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6333"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Road Accident Analysis using Machine Learning (May 2020) [2].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Mining, 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Apriori, K-Means.</a:t>
                      </a:r>
                      <a:b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Prototypes are built which provides the precautions to the people in a particular area.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Difficult to provide confidence and support values 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continuously.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7214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FABF3D-BBE4-4928-8D30-3A1D3460E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GAT                                                                                                                2021-22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487F0A-593A-4043-8D76-E271C818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690A75-04E4-453D-9ED2-4860005CA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226548"/>
              </p:ext>
            </p:extLst>
          </p:nvPr>
        </p:nvGraphicFramePr>
        <p:xfrm>
          <a:off x="838200" y="697864"/>
          <a:ext cx="10515600" cy="4991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92587191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075850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421770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70307982"/>
                    </a:ext>
                  </a:extLst>
                </a:gridCol>
              </a:tblGrid>
              <a:tr h="831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r>
                        <a:rPr lang="en-IN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the paper and year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806658"/>
                  </a:ext>
                </a:extLst>
              </a:tr>
              <a:tr h="2258166"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Machine Learning Approach to Road Surface Anomaly Assessment Using Smartphone Sensors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(Mar 2020) [3].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SVM, Neural network, Decision Tree.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Classifiers trained using features from all axis proved to be more accurate when compared to features from only one axis.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technology can be expensive and also SVM consumes huge amount of time.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146290"/>
                  </a:ext>
                </a:extLst>
              </a:tr>
              <a:tr h="1901614"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Road Accident Analysis and Prediction using Machine Learning         (Jan 2020) [4].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 Algorithm, Decision Tree Algorithm, Naïve Bayes Algorithm.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Analyses and simplifies the accidental data</a:t>
                      </a:r>
                      <a:b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and gives a proper and effective visualized report.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Concentrates only on Traffic conditions.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220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9201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273B4-8BC2-474C-93CF-F611CD263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GAT                                                                                                                2021-22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2F17C5-E51E-49C2-AB78-3A5BC89A6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6289CF-D6BD-4D43-B5BB-3E7BD96DD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582990"/>
              </p:ext>
            </p:extLst>
          </p:nvPr>
        </p:nvGraphicFramePr>
        <p:xfrm>
          <a:off x="853440" y="650240"/>
          <a:ext cx="10500360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5090">
                  <a:extLst>
                    <a:ext uri="{9D8B030D-6E8A-4147-A177-3AD203B41FA5}">
                      <a16:colId xmlns:a16="http://schemas.microsoft.com/office/drawing/2014/main" val="4173033393"/>
                    </a:ext>
                  </a:extLst>
                </a:gridCol>
                <a:gridCol w="2625090">
                  <a:extLst>
                    <a:ext uri="{9D8B030D-6E8A-4147-A177-3AD203B41FA5}">
                      <a16:colId xmlns:a16="http://schemas.microsoft.com/office/drawing/2014/main" val="1609670825"/>
                    </a:ext>
                  </a:extLst>
                </a:gridCol>
                <a:gridCol w="2625090">
                  <a:extLst>
                    <a:ext uri="{9D8B030D-6E8A-4147-A177-3AD203B41FA5}">
                      <a16:colId xmlns:a16="http://schemas.microsoft.com/office/drawing/2014/main" val="1299478019"/>
                    </a:ext>
                  </a:extLst>
                </a:gridCol>
                <a:gridCol w="2625090">
                  <a:extLst>
                    <a:ext uri="{9D8B030D-6E8A-4147-A177-3AD203B41FA5}">
                      <a16:colId xmlns:a16="http://schemas.microsoft.com/office/drawing/2014/main" val="2010961968"/>
                    </a:ext>
                  </a:extLst>
                </a:gridCol>
              </a:tblGrid>
              <a:tr h="790222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r>
                        <a:rPr lang="en-IN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the paper and year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r>
                        <a:rPr lang="en-IN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01594"/>
                  </a:ext>
                </a:extLst>
              </a:tr>
              <a:tr h="2144889"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Road Accident Prediction using Machine Learning Algorithm (Mar 2019) [5].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Mining, Logistic Regression Algorithm.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Algorithm is triggered automatically as user inputs the data.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application completely depends on the user inputs.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195560"/>
                  </a:ext>
                </a:extLst>
              </a:tr>
              <a:tr h="2144889"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Detecting Road Surface Condition using Smartphone Sensors and Machine Learning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(2019) [6].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SVM, Random Forest, Random Tree in Mag Track.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MagTrack worked well in various distinguishable road condition with an average accuracy of 92%.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Smartphone app for data</a:t>
                      </a:r>
                      <a:b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Visualization is not implemented.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715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510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7315200" cy="365125"/>
          </a:xfrm>
        </p:spPr>
        <p:txBody>
          <a:bodyPr/>
          <a:lstStyle/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GAT                                                                                                                2021-22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DFCAED-74C6-4662-B13D-D74D304AAA32}"/>
              </a:ext>
            </a:extLst>
          </p:cNvPr>
          <p:cNvSpPr txBox="1"/>
          <p:nvPr/>
        </p:nvSpPr>
        <p:spPr>
          <a:xfrm>
            <a:off x="805180" y="498566"/>
            <a:ext cx="1058164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the model which will be cost-effective, simple, and determine the severity of accidents using KNN Algorithm.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previously occurred accidents in the locality which will help us to determine the most accident-prone area.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predictions based on constraints like weather, pollution, road structure, etc.</a:t>
            </a:r>
          </a:p>
        </p:txBody>
      </p:sp>
    </p:spTree>
    <p:extLst>
      <p:ext uri="{BB962C8B-B14F-4D97-AF65-F5344CB8AC3E}">
        <p14:creationId xmlns:p14="http://schemas.microsoft.com/office/powerpoint/2010/main" val="3579484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condition monitoring is a challenging worldwide problem in the field of transportation. Poor road surface conditions create a risk of damage to vehicles and increase chances of traffic accidents. To minimize accidents, KNN Machine Learning Algorithms are used to predict road accidents.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7315200" cy="365125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GAT                                                                                                                2021-22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845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7315200" cy="365125"/>
          </a:xfrm>
        </p:spPr>
        <p:txBody>
          <a:bodyPr/>
          <a:lstStyle/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GAT                                                                                                                2021-22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77EC63-3169-40F3-8D9F-545AF96F5334}"/>
              </a:ext>
            </a:extLst>
          </p:cNvPr>
          <p:cNvSpPr txBox="1"/>
          <p:nvPr/>
        </p:nvSpPr>
        <p:spPr>
          <a:xfrm>
            <a:off x="772160" y="433252"/>
            <a:ext cx="1058164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Specification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Any Processor above 500MHz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512Mb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Disk: 10GB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Device: Standard keyboard and Mouse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Device: VGA and High-Resolution Monitor</a:t>
            </a:r>
          </a:p>
          <a:p>
            <a:pPr lvl="1"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Tools: Anaconda </a:t>
            </a:r>
            <a:r>
              <a:rPr lang="en-IN" sz="2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Navigator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Colaboratory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</a:p>
          <a:p>
            <a:pPr lvl="1"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793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31B0DA52-C490-457E-B1C3-EFAD74738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3" y="419553"/>
            <a:ext cx="10515600" cy="1325563"/>
          </a:xfrm>
        </p:spPr>
        <p:txBody>
          <a:bodyPr/>
          <a:lstStyle/>
          <a:p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84DF96-8F23-4C33-B2DB-22041926D7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10A70D1-B0A5-47B6-9555-83E267891370}" type="slidenum">
              <a:rPr lang="en-IN" altLang="en-US">
                <a:solidFill>
                  <a:srgbClr val="8989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IN" altLang="en-US">
              <a:solidFill>
                <a:srgbClr val="8989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F07B2A9-7E37-459D-B6CA-3EE221E025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2020-21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872412-50E9-4010-9DBE-40A5F82B9143}"/>
              </a:ext>
            </a:extLst>
          </p:cNvPr>
          <p:cNvSpPr/>
          <p:nvPr/>
        </p:nvSpPr>
        <p:spPr>
          <a:xfrm>
            <a:off x="7772401" y="864618"/>
            <a:ext cx="2002972" cy="1083923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1.Decision Tree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2.KNN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3.Regression Algorithm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91C79A-C666-4F36-A58D-051DF5127BAE}"/>
              </a:ext>
            </a:extLst>
          </p:cNvPr>
          <p:cNvSpPr/>
          <p:nvPr/>
        </p:nvSpPr>
        <p:spPr>
          <a:xfrm>
            <a:off x="7772404" y="2166257"/>
            <a:ext cx="2002972" cy="62944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48023C-B5CD-4B35-A2F3-24BFB9BD9B93}"/>
              </a:ext>
            </a:extLst>
          </p:cNvPr>
          <p:cNvSpPr/>
          <p:nvPr/>
        </p:nvSpPr>
        <p:spPr>
          <a:xfrm>
            <a:off x="7451271" y="3005702"/>
            <a:ext cx="2618015" cy="158466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B33CF6A-28BE-4200-A624-D85CBC5E6DA7}"/>
              </a:ext>
            </a:extLst>
          </p:cNvPr>
          <p:cNvSpPr/>
          <p:nvPr/>
        </p:nvSpPr>
        <p:spPr>
          <a:xfrm>
            <a:off x="7750630" y="3073509"/>
            <a:ext cx="2024743" cy="60585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Trained Data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5B25477-D309-412A-9C86-4072F98A488E}"/>
              </a:ext>
            </a:extLst>
          </p:cNvPr>
          <p:cNvSpPr/>
          <p:nvPr/>
        </p:nvSpPr>
        <p:spPr>
          <a:xfrm>
            <a:off x="7750630" y="3733798"/>
            <a:ext cx="2024744" cy="805543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rules based on algorithms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2FB372E-CB45-48FA-A2CF-E06E681A9B6E}"/>
              </a:ext>
            </a:extLst>
          </p:cNvPr>
          <p:cNvSpPr/>
          <p:nvPr/>
        </p:nvSpPr>
        <p:spPr>
          <a:xfrm>
            <a:off x="7750629" y="4948347"/>
            <a:ext cx="2024744" cy="66278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accident survey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516555F-8548-43A7-9B4A-8BD5C4EE1D06}"/>
              </a:ext>
            </a:extLst>
          </p:cNvPr>
          <p:cNvSpPr/>
          <p:nvPr/>
        </p:nvSpPr>
        <p:spPr>
          <a:xfrm>
            <a:off x="4408711" y="4890812"/>
            <a:ext cx="2090061" cy="76540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Fatal/Simple Injury/Motor Collision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40C6E29-C51F-4089-887E-87C560797642}"/>
              </a:ext>
            </a:extLst>
          </p:cNvPr>
          <p:cNvSpPr/>
          <p:nvPr/>
        </p:nvSpPr>
        <p:spPr>
          <a:xfrm>
            <a:off x="4408712" y="3363684"/>
            <a:ext cx="2099856" cy="62048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Data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E5CC45B-5649-45ED-A8D5-835DA2AAD97F}"/>
              </a:ext>
            </a:extLst>
          </p:cNvPr>
          <p:cNvSpPr/>
          <p:nvPr/>
        </p:nvSpPr>
        <p:spPr>
          <a:xfrm>
            <a:off x="4408713" y="2166257"/>
            <a:ext cx="2100944" cy="56605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E14D9ED-6B37-440E-9105-34FDD040060D}"/>
              </a:ext>
            </a:extLst>
          </p:cNvPr>
          <p:cNvSpPr/>
          <p:nvPr/>
        </p:nvSpPr>
        <p:spPr>
          <a:xfrm>
            <a:off x="4397829" y="1422285"/>
            <a:ext cx="2100943" cy="45005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24CAA8B-A0C7-4210-9406-F9A28A8862D0}"/>
              </a:ext>
            </a:extLst>
          </p:cNvPr>
          <p:cNvSpPr/>
          <p:nvPr/>
        </p:nvSpPr>
        <p:spPr>
          <a:xfrm>
            <a:off x="1404258" y="2090055"/>
            <a:ext cx="2471057" cy="165462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1.Data Cleaning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2.Feature Selection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3.Model Evaluation 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6B88659-4420-4425-ACFA-8D3168101144}"/>
              </a:ext>
            </a:extLst>
          </p:cNvPr>
          <p:cNvSpPr/>
          <p:nvPr/>
        </p:nvSpPr>
        <p:spPr>
          <a:xfrm rot="5400000">
            <a:off x="8612471" y="1963453"/>
            <a:ext cx="246631" cy="206827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F04DF3DF-5299-427E-8C1C-D68D2FEDD3DB}"/>
              </a:ext>
            </a:extLst>
          </p:cNvPr>
          <p:cNvSpPr/>
          <p:nvPr/>
        </p:nvSpPr>
        <p:spPr>
          <a:xfrm>
            <a:off x="8654142" y="2804096"/>
            <a:ext cx="206827" cy="190724"/>
          </a:xfrm>
          <a:prstGeom prst="down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DF7DA5BB-4817-4177-9B7D-1F0A439CB4CA}"/>
              </a:ext>
            </a:extLst>
          </p:cNvPr>
          <p:cNvSpPr/>
          <p:nvPr/>
        </p:nvSpPr>
        <p:spPr>
          <a:xfrm>
            <a:off x="8632373" y="4598759"/>
            <a:ext cx="206827" cy="349588"/>
          </a:xfrm>
          <a:prstGeom prst="down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A118331-8187-4DE3-9ABF-C7502027A184}"/>
              </a:ext>
            </a:extLst>
          </p:cNvPr>
          <p:cNvSpPr/>
          <p:nvPr/>
        </p:nvSpPr>
        <p:spPr>
          <a:xfrm>
            <a:off x="6508568" y="5141046"/>
            <a:ext cx="1233355" cy="298144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6C60583-7D42-481B-AE5F-B612079F4CFE}"/>
              </a:ext>
            </a:extLst>
          </p:cNvPr>
          <p:cNvSpPr/>
          <p:nvPr/>
        </p:nvSpPr>
        <p:spPr>
          <a:xfrm>
            <a:off x="6508568" y="3531383"/>
            <a:ext cx="949234" cy="298144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CA4E3671-86DF-411E-8588-0AEAFB69F20E}"/>
              </a:ext>
            </a:extLst>
          </p:cNvPr>
          <p:cNvSpPr/>
          <p:nvPr/>
        </p:nvSpPr>
        <p:spPr>
          <a:xfrm>
            <a:off x="6508568" y="2307769"/>
            <a:ext cx="1242061" cy="295074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2D064EA9-DFD1-40C6-BC15-88AD82BF59CB}"/>
              </a:ext>
            </a:extLst>
          </p:cNvPr>
          <p:cNvSpPr/>
          <p:nvPr/>
        </p:nvSpPr>
        <p:spPr>
          <a:xfrm rot="5400000">
            <a:off x="5366657" y="1915885"/>
            <a:ext cx="293916" cy="206828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Arrow: Curved Left 21">
            <a:extLst>
              <a:ext uri="{FF2B5EF4-FFF2-40B4-BE49-F238E27FC236}">
                <a16:creationId xmlns:a16="http://schemas.microsoft.com/office/drawing/2014/main" id="{A7B80021-9B4F-41F8-A771-D1447669932A}"/>
              </a:ext>
            </a:extLst>
          </p:cNvPr>
          <p:cNvSpPr/>
          <p:nvPr/>
        </p:nvSpPr>
        <p:spPr>
          <a:xfrm rot="4036429">
            <a:off x="4073572" y="2764971"/>
            <a:ext cx="446315" cy="696685"/>
          </a:xfrm>
          <a:prstGeom prst="curvedLef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032D78-4521-43E7-A8DD-0C0C8D5D334A}"/>
              </a:ext>
            </a:extLst>
          </p:cNvPr>
          <p:cNvSpPr txBox="1"/>
          <p:nvPr/>
        </p:nvSpPr>
        <p:spPr>
          <a:xfrm>
            <a:off x="3766463" y="5906689"/>
            <a:ext cx="461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 1: System Design of Road Accident Analysis</a:t>
            </a:r>
          </a:p>
        </p:txBody>
      </p:sp>
    </p:spTree>
    <p:extLst>
      <p:ext uri="{BB962C8B-B14F-4D97-AF65-F5344CB8AC3E}">
        <p14:creationId xmlns:p14="http://schemas.microsoft.com/office/powerpoint/2010/main" val="2547247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design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– Level 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GAT                                                                                                                2021-22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D4053D-C986-4C68-B5AA-612EA1BCBABB}"/>
              </a:ext>
            </a:extLst>
          </p:cNvPr>
          <p:cNvSpPr/>
          <p:nvPr/>
        </p:nvSpPr>
        <p:spPr>
          <a:xfrm>
            <a:off x="5012871" y="1555522"/>
            <a:ext cx="2144486" cy="53453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E090A6-5368-4F1C-8F9E-84BBD1E54DBA}"/>
              </a:ext>
            </a:extLst>
          </p:cNvPr>
          <p:cNvSpPr/>
          <p:nvPr/>
        </p:nvSpPr>
        <p:spPr>
          <a:xfrm>
            <a:off x="5012871" y="2341360"/>
            <a:ext cx="2144486" cy="7393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90A591-AEEF-419A-B421-2DF953B738A2}"/>
              </a:ext>
            </a:extLst>
          </p:cNvPr>
          <p:cNvSpPr/>
          <p:nvPr/>
        </p:nvSpPr>
        <p:spPr>
          <a:xfrm>
            <a:off x="5012871" y="3429001"/>
            <a:ext cx="2144486" cy="58784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1D161B-45A6-4B0D-AD0B-49A868D28781}"/>
              </a:ext>
            </a:extLst>
          </p:cNvPr>
          <p:cNvSpPr/>
          <p:nvPr/>
        </p:nvSpPr>
        <p:spPr>
          <a:xfrm>
            <a:off x="5012871" y="4365166"/>
            <a:ext cx="2144486" cy="50074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Analysing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D5D8D40-44E8-46C2-AA1D-93C03CC8F3F4}"/>
              </a:ext>
            </a:extLst>
          </p:cNvPr>
          <p:cNvSpPr/>
          <p:nvPr/>
        </p:nvSpPr>
        <p:spPr>
          <a:xfrm>
            <a:off x="5012871" y="5214239"/>
            <a:ext cx="2144486" cy="64136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3A09D1-1844-4238-A945-6E263A059227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6085114" y="2090057"/>
            <a:ext cx="0" cy="2513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DD67848-FDF7-43AA-86C4-75CCBAE9CFFD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6085114" y="3080676"/>
            <a:ext cx="0" cy="3483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908FCD-6ED9-4E38-9A0E-65F533348E43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6085114" y="4016841"/>
            <a:ext cx="0" cy="3483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1EBE1A1-8CE1-4035-8EDC-F860B95BD29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6085114" y="4865914"/>
            <a:ext cx="0" cy="3483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580F88E-D9FE-4FDD-A729-2DCBEE2951B5}"/>
              </a:ext>
            </a:extLst>
          </p:cNvPr>
          <p:cNvSpPr txBox="1"/>
          <p:nvPr/>
        </p:nvSpPr>
        <p:spPr>
          <a:xfrm>
            <a:off x="3222171" y="5921310"/>
            <a:ext cx="592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 2: Level 0 Data Flow Diagram of Road Accident Analysis</a:t>
            </a:r>
          </a:p>
        </p:txBody>
      </p:sp>
    </p:spTree>
    <p:extLst>
      <p:ext uri="{BB962C8B-B14F-4D97-AF65-F5344CB8AC3E}">
        <p14:creationId xmlns:p14="http://schemas.microsoft.com/office/powerpoint/2010/main" val="3261335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– Level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GAT                                                                                                                2021-22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07610-2CC6-408D-8B3A-4790A903F022}"/>
              </a:ext>
            </a:extLst>
          </p:cNvPr>
          <p:cNvSpPr/>
          <p:nvPr/>
        </p:nvSpPr>
        <p:spPr>
          <a:xfrm>
            <a:off x="3494314" y="3896935"/>
            <a:ext cx="2249259" cy="11157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 to get high accuracy and predict the severity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17B483-23E2-4FB5-B0F3-A7F946294C47}"/>
              </a:ext>
            </a:extLst>
          </p:cNvPr>
          <p:cNvSpPr/>
          <p:nvPr/>
        </p:nvSpPr>
        <p:spPr>
          <a:xfrm>
            <a:off x="6640284" y="1796143"/>
            <a:ext cx="2710543" cy="1119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 and Feature Selection with Graphs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0DAD21-1E55-4E0D-B0A4-069177943A10}"/>
              </a:ext>
            </a:extLst>
          </p:cNvPr>
          <p:cNvSpPr/>
          <p:nvPr/>
        </p:nvSpPr>
        <p:spPr>
          <a:xfrm>
            <a:off x="9884232" y="1808153"/>
            <a:ext cx="1349828" cy="1119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17D8A7-2D60-4808-9ADA-36F16DDFDCAF}"/>
              </a:ext>
            </a:extLst>
          </p:cNvPr>
          <p:cNvSpPr/>
          <p:nvPr/>
        </p:nvSpPr>
        <p:spPr>
          <a:xfrm>
            <a:off x="8828317" y="3896935"/>
            <a:ext cx="2405743" cy="1119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the model by performing different Algorithms on the Dataset.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323EECD-DD1C-42FA-8153-BAA34B7C3E7B}"/>
              </a:ext>
            </a:extLst>
          </p:cNvPr>
          <p:cNvSpPr/>
          <p:nvPr/>
        </p:nvSpPr>
        <p:spPr>
          <a:xfrm>
            <a:off x="1986692" y="5285186"/>
            <a:ext cx="1643743" cy="9366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1E2F34-C414-4051-B0A5-DB2F096009C8}"/>
              </a:ext>
            </a:extLst>
          </p:cNvPr>
          <p:cNvSpPr/>
          <p:nvPr/>
        </p:nvSpPr>
        <p:spPr>
          <a:xfrm>
            <a:off x="6322559" y="3900338"/>
            <a:ext cx="1981200" cy="11157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Analyzing which algorithm is the best.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2C8FE11-F7B4-4492-8EC5-D69C164D86F6}"/>
              </a:ext>
            </a:extLst>
          </p:cNvPr>
          <p:cNvSpPr/>
          <p:nvPr/>
        </p:nvSpPr>
        <p:spPr>
          <a:xfrm>
            <a:off x="838200" y="1833087"/>
            <a:ext cx="1643743" cy="1062641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65F37E-10A9-40CC-BF1F-3BC7BA809A59}"/>
              </a:ext>
            </a:extLst>
          </p:cNvPr>
          <p:cNvSpPr/>
          <p:nvPr/>
        </p:nvSpPr>
        <p:spPr>
          <a:xfrm>
            <a:off x="2887436" y="1796143"/>
            <a:ext cx="1349828" cy="114930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the Dataset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A011F7-A8E9-48C7-BB6C-E485B5E3450A}"/>
              </a:ext>
            </a:extLst>
          </p:cNvPr>
          <p:cNvSpPr/>
          <p:nvPr/>
        </p:nvSpPr>
        <p:spPr>
          <a:xfrm>
            <a:off x="4752974" y="1802535"/>
            <a:ext cx="1349828" cy="11372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02AFAA3-4CA4-4936-A33C-6E96BCD7A87C}"/>
              </a:ext>
            </a:extLst>
          </p:cNvPr>
          <p:cNvCxnSpPr>
            <a:cxnSpLocks/>
          </p:cNvCxnSpPr>
          <p:nvPr/>
        </p:nvCxnSpPr>
        <p:spPr>
          <a:xfrm>
            <a:off x="2481943" y="2295215"/>
            <a:ext cx="405493" cy="63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514AC35-882B-4C29-B833-FC42F9D386E3}"/>
              </a:ext>
            </a:extLst>
          </p:cNvPr>
          <p:cNvCxnSpPr>
            <a:cxnSpLocks/>
          </p:cNvCxnSpPr>
          <p:nvPr/>
        </p:nvCxnSpPr>
        <p:spPr>
          <a:xfrm>
            <a:off x="9350827" y="2292405"/>
            <a:ext cx="533405" cy="120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E4DCD39-86B9-43E7-A160-3813BCB8EF56}"/>
              </a:ext>
            </a:extLst>
          </p:cNvPr>
          <p:cNvCxnSpPr>
            <a:stCxn id="13" idx="2"/>
          </p:cNvCxnSpPr>
          <p:nvPr/>
        </p:nvCxnSpPr>
        <p:spPr>
          <a:xfrm>
            <a:off x="10559146" y="2927263"/>
            <a:ext cx="0" cy="9816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C3A8EC6-8553-4132-AD27-3EF4179EDA4F}"/>
              </a:ext>
            </a:extLst>
          </p:cNvPr>
          <p:cNvCxnSpPr>
            <a:cxnSpLocks/>
          </p:cNvCxnSpPr>
          <p:nvPr/>
        </p:nvCxnSpPr>
        <p:spPr>
          <a:xfrm flipH="1">
            <a:off x="8303759" y="4438191"/>
            <a:ext cx="524560" cy="2204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71D4D56-D23F-4F59-AE2C-DB21523BA134}"/>
              </a:ext>
            </a:extLst>
          </p:cNvPr>
          <p:cNvCxnSpPr>
            <a:cxnSpLocks/>
          </p:cNvCxnSpPr>
          <p:nvPr/>
        </p:nvCxnSpPr>
        <p:spPr>
          <a:xfrm flipH="1">
            <a:off x="5743573" y="4449212"/>
            <a:ext cx="5789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063ABBB-0564-4EA3-A229-9D9DEE3E31EC}"/>
              </a:ext>
            </a:extLst>
          </p:cNvPr>
          <p:cNvCxnSpPr>
            <a:cxnSpLocks/>
          </p:cNvCxnSpPr>
          <p:nvPr/>
        </p:nvCxnSpPr>
        <p:spPr>
          <a:xfrm>
            <a:off x="4237264" y="2298410"/>
            <a:ext cx="51571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864E6D8-97CA-43B0-83FB-C29CEC87E61E}"/>
              </a:ext>
            </a:extLst>
          </p:cNvPr>
          <p:cNvCxnSpPr>
            <a:cxnSpLocks/>
          </p:cNvCxnSpPr>
          <p:nvPr/>
        </p:nvCxnSpPr>
        <p:spPr>
          <a:xfrm>
            <a:off x="6103766" y="2298410"/>
            <a:ext cx="53651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BA22133-FD2C-4C29-B2F6-C59DE136CB7A}"/>
              </a:ext>
            </a:extLst>
          </p:cNvPr>
          <p:cNvCxnSpPr>
            <a:cxnSpLocks/>
          </p:cNvCxnSpPr>
          <p:nvPr/>
        </p:nvCxnSpPr>
        <p:spPr>
          <a:xfrm flipH="1" flipV="1">
            <a:off x="2809353" y="4438191"/>
            <a:ext cx="696685" cy="1659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DDE5EE-6C9E-46F5-8C34-CEEFF0A76A0E}"/>
              </a:ext>
            </a:extLst>
          </p:cNvPr>
          <p:cNvCxnSpPr>
            <a:cxnSpLocks/>
          </p:cNvCxnSpPr>
          <p:nvPr/>
        </p:nvCxnSpPr>
        <p:spPr>
          <a:xfrm>
            <a:off x="2808514" y="4438191"/>
            <a:ext cx="0" cy="8254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8CCBEC8-D203-4787-82ED-59E41CB90433}"/>
              </a:ext>
            </a:extLst>
          </p:cNvPr>
          <p:cNvSpPr txBox="1"/>
          <p:nvPr/>
        </p:nvSpPr>
        <p:spPr>
          <a:xfrm>
            <a:off x="3820885" y="5834224"/>
            <a:ext cx="592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 3: Level 1 Data Flow Diagram of Road Accident Analysis</a:t>
            </a:r>
          </a:p>
        </p:txBody>
      </p:sp>
    </p:spTree>
    <p:extLst>
      <p:ext uri="{BB962C8B-B14F-4D97-AF65-F5344CB8AC3E}">
        <p14:creationId xmlns:p14="http://schemas.microsoft.com/office/powerpoint/2010/main" val="3294662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89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2020-21                                                                                                           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9176653" y="6356350"/>
            <a:ext cx="4114800" cy="365125"/>
          </a:xfrm>
        </p:spPr>
        <p:txBody>
          <a:bodyPr/>
          <a:lstStyle/>
          <a:p>
            <a:fld id="{25C42BF0-F0BA-4BEC-BFEF-185B471DC7CC}" type="slidenum">
              <a:rPr lang="en-I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EA36B7-BBDD-4EB5-823B-B4C98E54A313}"/>
              </a:ext>
            </a:extLst>
          </p:cNvPr>
          <p:cNvSpPr/>
          <p:nvPr/>
        </p:nvSpPr>
        <p:spPr>
          <a:xfrm>
            <a:off x="740226" y="881740"/>
            <a:ext cx="2079171" cy="322217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AD8A70-E452-482E-84C3-2DEFBA85B2C2}"/>
              </a:ext>
            </a:extLst>
          </p:cNvPr>
          <p:cNvSpPr/>
          <p:nvPr/>
        </p:nvSpPr>
        <p:spPr>
          <a:xfrm>
            <a:off x="7445833" y="3222172"/>
            <a:ext cx="1752600" cy="25254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DF27D-25B7-46BD-9389-77D09030BA9A}"/>
              </a:ext>
            </a:extLst>
          </p:cNvPr>
          <p:cNvSpPr/>
          <p:nvPr/>
        </p:nvSpPr>
        <p:spPr>
          <a:xfrm>
            <a:off x="9361712" y="1001484"/>
            <a:ext cx="2079158" cy="2950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18D04E-5440-4BAD-BB91-B6DC37B6584F}"/>
              </a:ext>
            </a:extLst>
          </p:cNvPr>
          <p:cNvSpPr/>
          <p:nvPr/>
        </p:nvSpPr>
        <p:spPr>
          <a:xfrm>
            <a:off x="5508169" y="3831769"/>
            <a:ext cx="1698166" cy="22315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401D1A-3495-451F-B0A1-78F1BEE75AC8}"/>
              </a:ext>
            </a:extLst>
          </p:cNvPr>
          <p:cNvCxnSpPr/>
          <p:nvPr/>
        </p:nvCxnSpPr>
        <p:spPr>
          <a:xfrm>
            <a:off x="740226" y="1328055"/>
            <a:ext cx="207917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D09615D-AC82-4EB7-9CDA-365D659F28D8}"/>
              </a:ext>
            </a:extLst>
          </p:cNvPr>
          <p:cNvSpPr txBox="1"/>
          <p:nvPr/>
        </p:nvSpPr>
        <p:spPr>
          <a:xfrm>
            <a:off x="740226" y="914398"/>
            <a:ext cx="2079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E219A6-F61D-41DE-A2B3-71CEAE70F210}"/>
              </a:ext>
            </a:extLst>
          </p:cNvPr>
          <p:cNvSpPr txBox="1"/>
          <p:nvPr/>
        </p:nvSpPr>
        <p:spPr>
          <a:xfrm>
            <a:off x="838198" y="1359024"/>
            <a:ext cx="18396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License_Id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Person_Name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Date_of_Birth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Religion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F363B-FFA2-41C1-B962-8C29E45209F6}"/>
              </a:ext>
            </a:extLst>
          </p:cNvPr>
          <p:cNvSpPr txBox="1"/>
          <p:nvPr/>
        </p:nvSpPr>
        <p:spPr>
          <a:xfrm>
            <a:off x="740225" y="3701142"/>
            <a:ext cx="2079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Calculate_Age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662978-A298-4908-AEAD-7D6E92001064}"/>
              </a:ext>
            </a:extLst>
          </p:cNvPr>
          <p:cNvCxnSpPr/>
          <p:nvPr/>
        </p:nvCxnSpPr>
        <p:spPr>
          <a:xfrm>
            <a:off x="729342" y="3646715"/>
            <a:ext cx="207917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C3D0E08-C534-472A-900C-E9DE1CFF6CF5}"/>
              </a:ext>
            </a:extLst>
          </p:cNvPr>
          <p:cNvCxnSpPr/>
          <p:nvPr/>
        </p:nvCxnSpPr>
        <p:spPr>
          <a:xfrm>
            <a:off x="9361699" y="1480458"/>
            <a:ext cx="207917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33C12CC-3899-4877-ADE3-FBF5263DA471}"/>
              </a:ext>
            </a:extLst>
          </p:cNvPr>
          <p:cNvSpPr txBox="1"/>
          <p:nvPr/>
        </p:nvSpPr>
        <p:spPr>
          <a:xfrm>
            <a:off x="9361703" y="1066798"/>
            <a:ext cx="2079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0437100-F0F8-4782-8513-B50849778206}"/>
              </a:ext>
            </a:extLst>
          </p:cNvPr>
          <p:cNvCxnSpPr/>
          <p:nvPr/>
        </p:nvCxnSpPr>
        <p:spPr>
          <a:xfrm>
            <a:off x="9372582" y="3439886"/>
            <a:ext cx="207917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92C5FC4-5C3D-4959-A560-D18FCAF26A96}"/>
              </a:ext>
            </a:extLst>
          </p:cNvPr>
          <p:cNvSpPr txBox="1"/>
          <p:nvPr/>
        </p:nvSpPr>
        <p:spPr>
          <a:xfrm>
            <a:off x="9361700" y="1565851"/>
            <a:ext cx="20791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Veh_Plate_Number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Vehicle_Type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Vehicle_Mode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64D151-F036-409F-803F-71923742FA86}"/>
              </a:ext>
            </a:extLst>
          </p:cNvPr>
          <p:cNvCxnSpPr>
            <a:cxnSpLocks/>
          </p:cNvCxnSpPr>
          <p:nvPr/>
        </p:nvCxnSpPr>
        <p:spPr>
          <a:xfrm>
            <a:off x="7445833" y="3646715"/>
            <a:ext cx="17526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9A1FF8E-B470-44DE-9ECE-DB0BFC6D4947}"/>
              </a:ext>
            </a:extLst>
          </p:cNvPr>
          <p:cNvSpPr txBox="1"/>
          <p:nvPr/>
        </p:nvSpPr>
        <p:spPr>
          <a:xfrm>
            <a:off x="7238999" y="3254831"/>
            <a:ext cx="2079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ACCIDENT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6FCA8F-2A3C-4277-9269-EEA2134414DE}"/>
              </a:ext>
            </a:extLst>
          </p:cNvPr>
          <p:cNvSpPr txBox="1"/>
          <p:nvPr/>
        </p:nvSpPr>
        <p:spPr>
          <a:xfrm>
            <a:off x="7467604" y="3646715"/>
            <a:ext cx="1578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Accident_Id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Date/Time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0C6F4DA-97EF-4472-9BCB-BE6A463AA647}"/>
              </a:ext>
            </a:extLst>
          </p:cNvPr>
          <p:cNvCxnSpPr>
            <a:cxnSpLocks/>
          </p:cNvCxnSpPr>
          <p:nvPr/>
        </p:nvCxnSpPr>
        <p:spPr>
          <a:xfrm>
            <a:off x="5508169" y="4251324"/>
            <a:ext cx="169816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2D10064-A257-42FE-9E1B-2E02BE073419}"/>
              </a:ext>
            </a:extLst>
          </p:cNvPr>
          <p:cNvSpPr txBox="1"/>
          <p:nvPr/>
        </p:nvSpPr>
        <p:spPr>
          <a:xfrm>
            <a:off x="5323106" y="3853544"/>
            <a:ext cx="2079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B5E20A-765F-4BF3-8660-56E28534A095}"/>
              </a:ext>
            </a:extLst>
          </p:cNvPr>
          <p:cNvSpPr txBox="1"/>
          <p:nvPr/>
        </p:nvSpPr>
        <p:spPr>
          <a:xfrm>
            <a:off x="5584369" y="4309055"/>
            <a:ext cx="15348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Police_Id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Police_Name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Police_Area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F81966E-E32C-4BBB-9530-BCB5F73016E4}"/>
              </a:ext>
            </a:extLst>
          </p:cNvPr>
          <p:cNvSpPr/>
          <p:nvPr/>
        </p:nvSpPr>
        <p:spPr>
          <a:xfrm>
            <a:off x="3156855" y="2906483"/>
            <a:ext cx="1926753" cy="27976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55A739-E7D3-4DF4-B3EF-9E672C47554C}"/>
              </a:ext>
            </a:extLst>
          </p:cNvPr>
          <p:cNvSpPr txBox="1"/>
          <p:nvPr/>
        </p:nvSpPr>
        <p:spPr>
          <a:xfrm>
            <a:off x="3091533" y="2939140"/>
            <a:ext cx="2079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FD74B5D-41CA-4E3E-8006-63D42AA64467}"/>
              </a:ext>
            </a:extLst>
          </p:cNvPr>
          <p:cNvCxnSpPr>
            <a:cxnSpLocks/>
          </p:cNvCxnSpPr>
          <p:nvPr/>
        </p:nvCxnSpPr>
        <p:spPr>
          <a:xfrm>
            <a:off x="3145967" y="3331028"/>
            <a:ext cx="193764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8FC2DA7-4D4F-4FDE-ADDE-2EA51659E3EA}"/>
              </a:ext>
            </a:extLst>
          </p:cNvPr>
          <p:cNvSpPr txBox="1"/>
          <p:nvPr/>
        </p:nvSpPr>
        <p:spPr>
          <a:xfrm>
            <a:off x="3222172" y="3351108"/>
            <a:ext cx="15348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Insurance_Id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Bank_Name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EC311C7-7E8F-454C-A172-04E7C0DD36A5}"/>
              </a:ext>
            </a:extLst>
          </p:cNvPr>
          <p:cNvCxnSpPr>
            <a:cxnSpLocks/>
          </p:cNvCxnSpPr>
          <p:nvPr/>
        </p:nvCxnSpPr>
        <p:spPr>
          <a:xfrm>
            <a:off x="2808513" y="1589313"/>
            <a:ext cx="6553187" cy="277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9B22CB1-B262-4F39-8362-4D5B4C5103F0}"/>
              </a:ext>
            </a:extLst>
          </p:cNvPr>
          <p:cNvCxnSpPr/>
          <p:nvPr/>
        </p:nvCxnSpPr>
        <p:spPr>
          <a:xfrm>
            <a:off x="8256818" y="1589313"/>
            <a:ext cx="0" cy="163285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4CAF40F1-D92F-4863-8662-63156C138DDB}"/>
              </a:ext>
            </a:extLst>
          </p:cNvPr>
          <p:cNvCxnSpPr>
            <a:cxnSpLocks/>
          </p:cNvCxnSpPr>
          <p:nvPr/>
        </p:nvCxnSpPr>
        <p:spPr>
          <a:xfrm>
            <a:off x="2808513" y="2699654"/>
            <a:ext cx="1322606" cy="206828"/>
          </a:xfrm>
          <a:prstGeom prst="bentConnector2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16FF558-648D-4FE1-9F12-3C7C7316318F}"/>
              </a:ext>
            </a:extLst>
          </p:cNvPr>
          <p:cNvCxnSpPr>
            <a:cxnSpLocks/>
          </p:cNvCxnSpPr>
          <p:nvPr/>
        </p:nvCxnSpPr>
        <p:spPr>
          <a:xfrm flipH="1">
            <a:off x="6229353" y="3439497"/>
            <a:ext cx="123825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E61E86B-FAD4-41CE-B7A5-E541CC2B3F69}"/>
              </a:ext>
            </a:extLst>
          </p:cNvPr>
          <p:cNvCxnSpPr/>
          <p:nvPr/>
        </p:nvCxnSpPr>
        <p:spPr>
          <a:xfrm>
            <a:off x="6226626" y="3439497"/>
            <a:ext cx="0" cy="39227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6D7467B-FC72-4B25-9CE7-0587EC358DE6}"/>
              </a:ext>
            </a:extLst>
          </p:cNvPr>
          <p:cNvSpPr txBox="1"/>
          <p:nvPr/>
        </p:nvSpPr>
        <p:spPr>
          <a:xfrm>
            <a:off x="2884699" y="1160563"/>
            <a:ext cx="843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0..*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07B86AF-3327-4324-B9E6-60805F590335}"/>
              </a:ext>
            </a:extLst>
          </p:cNvPr>
          <p:cNvSpPr txBox="1"/>
          <p:nvPr/>
        </p:nvSpPr>
        <p:spPr>
          <a:xfrm>
            <a:off x="8436411" y="1138790"/>
            <a:ext cx="843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0..*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F78A1AA-C00C-491E-A4DC-C5CB484E34FD}"/>
              </a:ext>
            </a:extLst>
          </p:cNvPr>
          <p:cNvSpPr txBox="1"/>
          <p:nvPr/>
        </p:nvSpPr>
        <p:spPr>
          <a:xfrm>
            <a:off x="2852042" y="2292674"/>
            <a:ext cx="843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0..*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D1DE7AC-A080-42D7-B3F2-61B9C3200CE9}"/>
              </a:ext>
            </a:extLst>
          </p:cNvPr>
          <p:cNvSpPr txBox="1"/>
          <p:nvPr/>
        </p:nvSpPr>
        <p:spPr>
          <a:xfrm>
            <a:off x="4158328" y="2532162"/>
            <a:ext cx="843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1..1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114F5DD-40CE-43AA-AE53-29BC017985C8}"/>
              </a:ext>
            </a:extLst>
          </p:cNvPr>
          <p:cNvSpPr txBox="1"/>
          <p:nvPr/>
        </p:nvSpPr>
        <p:spPr>
          <a:xfrm>
            <a:off x="5671441" y="3446560"/>
            <a:ext cx="843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1..1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AB9543C-94BA-4C12-94F3-E55775834E5F}"/>
              </a:ext>
            </a:extLst>
          </p:cNvPr>
          <p:cNvSpPr txBox="1"/>
          <p:nvPr/>
        </p:nvSpPr>
        <p:spPr>
          <a:xfrm>
            <a:off x="3624941" y="6084596"/>
            <a:ext cx="592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 4: Class Diagram of Road Accident Analysis</a:t>
            </a:r>
          </a:p>
        </p:txBody>
      </p:sp>
    </p:spTree>
    <p:extLst>
      <p:ext uri="{BB962C8B-B14F-4D97-AF65-F5344CB8AC3E}">
        <p14:creationId xmlns:p14="http://schemas.microsoft.com/office/powerpoint/2010/main" val="3753507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89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2020-21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9100454" y="6356350"/>
            <a:ext cx="4114800" cy="365125"/>
          </a:xfrm>
        </p:spPr>
        <p:txBody>
          <a:bodyPr/>
          <a:lstStyle/>
          <a:p>
            <a:fld id="{25C42BF0-F0BA-4BEC-BFEF-185B471DC7CC}" type="slidenum">
              <a:rPr lang="en-I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 descr="A picture containing diagram&#10;&#10;Description automatically generated">
            <a:extLst>
              <a:ext uri="{FF2B5EF4-FFF2-40B4-BE49-F238E27FC236}">
                <a16:creationId xmlns:a16="http://schemas.microsoft.com/office/drawing/2014/main" id="{00F13738-F010-4231-9956-9330530D97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05" t="43916" r="43037" b="26473"/>
          <a:stretch/>
        </p:blipFill>
        <p:spPr>
          <a:xfrm>
            <a:off x="1665515" y="2989102"/>
            <a:ext cx="457816" cy="104621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EDBE0931-9E10-4632-B1EB-A2A1828F9438}"/>
              </a:ext>
            </a:extLst>
          </p:cNvPr>
          <p:cNvSpPr/>
          <p:nvPr/>
        </p:nvSpPr>
        <p:spPr>
          <a:xfrm>
            <a:off x="4295775" y="734779"/>
            <a:ext cx="4114799" cy="5987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Accident to police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905DF99-D221-4DC0-80B9-BC8F9D0DB261}"/>
              </a:ext>
            </a:extLst>
          </p:cNvPr>
          <p:cNvSpPr/>
          <p:nvPr/>
        </p:nvSpPr>
        <p:spPr>
          <a:xfrm>
            <a:off x="4295774" y="1459926"/>
            <a:ext cx="4114800" cy="52002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Police examine the accident area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1523C5F-C571-4A2D-996F-6E1FD529DD9C}"/>
              </a:ext>
            </a:extLst>
          </p:cNvPr>
          <p:cNvSpPr/>
          <p:nvPr/>
        </p:nvSpPr>
        <p:spPr>
          <a:xfrm>
            <a:off x="4295774" y="2095041"/>
            <a:ext cx="4114800" cy="52002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accident to insurance agent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019CF45-11B3-4CD5-89E1-BA95F673ADEC}"/>
              </a:ext>
            </a:extLst>
          </p:cNvPr>
          <p:cNvSpPr/>
          <p:nvPr/>
        </p:nvSpPr>
        <p:spPr>
          <a:xfrm>
            <a:off x="4295774" y="2726411"/>
            <a:ext cx="4114800" cy="52002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Insurance agent generates the report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0BDE674-E3AC-418C-8A16-4003C4D9E23C}"/>
              </a:ext>
            </a:extLst>
          </p:cNvPr>
          <p:cNvSpPr/>
          <p:nvPr/>
        </p:nvSpPr>
        <p:spPr>
          <a:xfrm>
            <a:off x="4295774" y="3362766"/>
            <a:ext cx="4114800" cy="52002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personal details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0375817-33F6-4EC0-817D-7A928F2A734E}"/>
              </a:ext>
            </a:extLst>
          </p:cNvPr>
          <p:cNvSpPr/>
          <p:nvPr/>
        </p:nvSpPr>
        <p:spPr>
          <a:xfrm>
            <a:off x="4295774" y="3989156"/>
            <a:ext cx="4114800" cy="52002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external details such as time of accident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A19C624-88BA-4C3D-BC2A-49DC419B687D}"/>
              </a:ext>
            </a:extLst>
          </p:cNvPr>
          <p:cNvSpPr/>
          <p:nvPr/>
        </p:nvSpPr>
        <p:spPr>
          <a:xfrm>
            <a:off x="4295774" y="4620524"/>
            <a:ext cx="4114800" cy="90260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details as train/test set on the algorithms to predict future accidents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1C5DF04-8E61-4D7D-98C4-A24F960575F7}"/>
              </a:ext>
            </a:extLst>
          </p:cNvPr>
          <p:cNvSpPr/>
          <p:nvPr/>
        </p:nvSpPr>
        <p:spPr>
          <a:xfrm>
            <a:off x="4295774" y="5600237"/>
            <a:ext cx="4114800" cy="6164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 travellers regarding probability of an accident</a:t>
            </a:r>
          </a:p>
        </p:txBody>
      </p:sp>
      <p:pic>
        <p:nvPicPr>
          <p:cNvPr id="30" name="Picture 29" descr="A picture containing diagram&#10;&#10;Description automatically generated">
            <a:extLst>
              <a:ext uri="{FF2B5EF4-FFF2-40B4-BE49-F238E27FC236}">
                <a16:creationId xmlns:a16="http://schemas.microsoft.com/office/drawing/2014/main" id="{DC47CF80-F7B2-4354-A749-4C27035EF0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05" t="43916" r="43037" b="26473"/>
          <a:stretch/>
        </p:blipFill>
        <p:spPr>
          <a:xfrm>
            <a:off x="10176912" y="1280632"/>
            <a:ext cx="406106" cy="928041"/>
          </a:xfrm>
          <a:prstGeom prst="rect">
            <a:avLst/>
          </a:prstGeom>
        </p:spPr>
      </p:pic>
      <p:pic>
        <p:nvPicPr>
          <p:cNvPr id="31" name="Picture 30" descr="A picture containing diagram&#10;&#10;Description automatically generated">
            <a:extLst>
              <a:ext uri="{FF2B5EF4-FFF2-40B4-BE49-F238E27FC236}">
                <a16:creationId xmlns:a16="http://schemas.microsoft.com/office/drawing/2014/main" id="{34A251B1-AD9F-4932-B94F-B104D618CF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05" t="43916" r="43037" b="26473"/>
          <a:stretch/>
        </p:blipFill>
        <p:spPr>
          <a:xfrm>
            <a:off x="10198681" y="2989101"/>
            <a:ext cx="437619" cy="1000055"/>
          </a:xfrm>
          <a:prstGeom prst="rect">
            <a:avLst/>
          </a:prstGeom>
        </p:spPr>
      </p:pic>
      <p:pic>
        <p:nvPicPr>
          <p:cNvPr id="32" name="Picture 31" descr="A picture containing diagram&#10;&#10;Description automatically generated">
            <a:extLst>
              <a:ext uri="{FF2B5EF4-FFF2-40B4-BE49-F238E27FC236}">
                <a16:creationId xmlns:a16="http://schemas.microsoft.com/office/drawing/2014/main" id="{3F8B900A-DEF5-403A-BDD2-E6168911B5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05" t="43916" r="43037" b="26473"/>
          <a:stretch/>
        </p:blipFill>
        <p:spPr>
          <a:xfrm>
            <a:off x="10220455" y="4742296"/>
            <a:ext cx="437619" cy="1000055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036B8FC-48A2-4426-A5C7-7DA236DC1653}"/>
              </a:ext>
            </a:extLst>
          </p:cNvPr>
          <p:cNvCxnSpPr>
            <a:cxnSpLocks/>
            <a:stCxn id="20" idx="3"/>
            <a:endCxn id="21" idx="2"/>
          </p:cNvCxnSpPr>
          <p:nvPr/>
        </p:nvCxnSpPr>
        <p:spPr>
          <a:xfrm flipV="1">
            <a:off x="2123331" y="1034137"/>
            <a:ext cx="2172444" cy="24780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FACB2B9-53A3-4CEF-BEF5-F82BF73CE472}"/>
              </a:ext>
            </a:extLst>
          </p:cNvPr>
          <p:cNvCxnSpPr>
            <a:cxnSpLocks/>
            <a:stCxn id="22" idx="2"/>
            <a:endCxn id="20" idx="3"/>
          </p:cNvCxnSpPr>
          <p:nvPr/>
        </p:nvCxnSpPr>
        <p:spPr>
          <a:xfrm flipH="1">
            <a:off x="2123331" y="1719936"/>
            <a:ext cx="2172443" cy="17922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0CB0BBC-A9CD-49D5-8BBC-F0DFCD1D0B00}"/>
              </a:ext>
            </a:extLst>
          </p:cNvPr>
          <p:cNvCxnSpPr>
            <a:cxnSpLocks/>
            <a:stCxn id="20" idx="3"/>
            <a:endCxn id="23" idx="2"/>
          </p:cNvCxnSpPr>
          <p:nvPr/>
        </p:nvCxnSpPr>
        <p:spPr>
          <a:xfrm flipV="1">
            <a:off x="2123331" y="2355051"/>
            <a:ext cx="2172443" cy="11571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377C768-3D03-4AFE-85ED-F81C4D2A42BD}"/>
              </a:ext>
            </a:extLst>
          </p:cNvPr>
          <p:cNvCxnSpPr>
            <a:cxnSpLocks/>
            <a:stCxn id="25" idx="2"/>
            <a:endCxn id="20" idx="3"/>
          </p:cNvCxnSpPr>
          <p:nvPr/>
        </p:nvCxnSpPr>
        <p:spPr>
          <a:xfrm flipH="1">
            <a:off x="2123331" y="2986421"/>
            <a:ext cx="2172443" cy="5257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613C551-4E0D-44CE-8589-5309A7C4DC0E}"/>
              </a:ext>
            </a:extLst>
          </p:cNvPr>
          <p:cNvCxnSpPr>
            <a:cxnSpLocks/>
            <a:stCxn id="20" idx="3"/>
            <a:endCxn id="26" idx="2"/>
          </p:cNvCxnSpPr>
          <p:nvPr/>
        </p:nvCxnSpPr>
        <p:spPr>
          <a:xfrm>
            <a:off x="2123331" y="3512207"/>
            <a:ext cx="2172443" cy="11056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C1CA72B-93D5-4506-8DB9-0089D9DC9E31}"/>
              </a:ext>
            </a:extLst>
          </p:cNvPr>
          <p:cNvCxnSpPr>
            <a:cxnSpLocks/>
            <a:stCxn id="28" idx="2"/>
            <a:endCxn id="20" idx="3"/>
          </p:cNvCxnSpPr>
          <p:nvPr/>
        </p:nvCxnSpPr>
        <p:spPr>
          <a:xfrm flipH="1" flipV="1">
            <a:off x="2123331" y="3512207"/>
            <a:ext cx="2172443" cy="15596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0A4B1BB-5413-4850-887C-99FB3AEC8052}"/>
              </a:ext>
            </a:extLst>
          </p:cNvPr>
          <p:cNvCxnSpPr>
            <a:cxnSpLocks/>
            <a:stCxn id="29" idx="2"/>
            <a:endCxn id="20" idx="3"/>
          </p:cNvCxnSpPr>
          <p:nvPr/>
        </p:nvCxnSpPr>
        <p:spPr>
          <a:xfrm flipH="1" flipV="1">
            <a:off x="2123331" y="3512207"/>
            <a:ext cx="2172443" cy="23962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813062F-48C4-4AAF-A5E3-7B38AB4A3924}"/>
              </a:ext>
            </a:extLst>
          </p:cNvPr>
          <p:cNvCxnSpPr>
            <a:cxnSpLocks/>
            <a:stCxn id="20" idx="3"/>
            <a:endCxn id="27" idx="2"/>
          </p:cNvCxnSpPr>
          <p:nvPr/>
        </p:nvCxnSpPr>
        <p:spPr>
          <a:xfrm>
            <a:off x="2123331" y="3512207"/>
            <a:ext cx="2172443" cy="7369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FD1A585-5F1C-447A-9321-20108ED84343}"/>
              </a:ext>
            </a:extLst>
          </p:cNvPr>
          <p:cNvCxnSpPr>
            <a:cxnSpLocks/>
            <a:stCxn id="21" idx="6"/>
            <a:endCxn id="30" idx="1"/>
          </p:cNvCxnSpPr>
          <p:nvPr/>
        </p:nvCxnSpPr>
        <p:spPr>
          <a:xfrm>
            <a:off x="8410574" y="1034137"/>
            <a:ext cx="1766338" cy="71051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41CEB8F-87D3-4CA8-91C9-57075F836A13}"/>
              </a:ext>
            </a:extLst>
          </p:cNvPr>
          <p:cNvCxnSpPr>
            <a:cxnSpLocks/>
            <a:stCxn id="30" idx="1"/>
            <a:endCxn id="22" idx="6"/>
          </p:cNvCxnSpPr>
          <p:nvPr/>
        </p:nvCxnSpPr>
        <p:spPr>
          <a:xfrm flipH="1" flipV="1">
            <a:off x="8410574" y="1719936"/>
            <a:ext cx="1766338" cy="247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B7A53ED-C2D6-4F69-B029-BE9FADCE332B}"/>
              </a:ext>
            </a:extLst>
          </p:cNvPr>
          <p:cNvCxnSpPr>
            <a:cxnSpLocks/>
            <a:stCxn id="23" idx="6"/>
            <a:endCxn id="31" idx="1"/>
          </p:cNvCxnSpPr>
          <p:nvPr/>
        </p:nvCxnSpPr>
        <p:spPr>
          <a:xfrm>
            <a:off x="8410574" y="2355051"/>
            <a:ext cx="1788107" cy="11340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792" name="Straight Arrow Connector 33791">
            <a:extLst>
              <a:ext uri="{FF2B5EF4-FFF2-40B4-BE49-F238E27FC236}">
                <a16:creationId xmlns:a16="http://schemas.microsoft.com/office/drawing/2014/main" id="{D6FB13DC-12E0-4C5E-8CC2-7FBD003416A7}"/>
              </a:ext>
            </a:extLst>
          </p:cNvPr>
          <p:cNvCxnSpPr>
            <a:cxnSpLocks/>
            <a:stCxn id="31" idx="1"/>
            <a:endCxn id="25" idx="6"/>
          </p:cNvCxnSpPr>
          <p:nvPr/>
        </p:nvCxnSpPr>
        <p:spPr>
          <a:xfrm flipH="1" flipV="1">
            <a:off x="8410574" y="2986421"/>
            <a:ext cx="1788107" cy="5027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795" name="Straight Arrow Connector 33794">
            <a:extLst>
              <a:ext uri="{FF2B5EF4-FFF2-40B4-BE49-F238E27FC236}">
                <a16:creationId xmlns:a16="http://schemas.microsoft.com/office/drawing/2014/main" id="{03935F43-1505-498A-89EB-1E65C31AB81A}"/>
              </a:ext>
            </a:extLst>
          </p:cNvPr>
          <p:cNvCxnSpPr>
            <a:cxnSpLocks/>
            <a:stCxn id="26" idx="6"/>
            <a:endCxn id="32" idx="1"/>
          </p:cNvCxnSpPr>
          <p:nvPr/>
        </p:nvCxnSpPr>
        <p:spPr>
          <a:xfrm>
            <a:off x="8410574" y="3622776"/>
            <a:ext cx="1809881" cy="16195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797" name="Straight Arrow Connector 33796">
            <a:extLst>
              <a:ext uri="{FF2B5EF4-FFF2-40B4-BE49-F238E27FC236}">
                <a16:creationId xmlns:a16="http://schemas.microsoft.com/office/drawing/2014/main" id="{B65245A9-680D-4030-BBF2-BCB76D102913}"/>
              </a:ext>
            </a:extLst>
          </p:cNvPr>
          <p:cNvCxnSpPr>
            <a:cxnSpLocks/>
            <a:stCxn id="27" idx="6"/>
            <a:endCxn id="32" idx="1"/>
          </p:cNvCxnSpPr>
          <p:nvPr/>
        </p:nvCxnSpPr>
        <p:spPr>
          <a:xfrm>
            <a:off x="8410574" y="4249166"/>
            <a:ext cx="1809881" cy="99315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799" name="Straight Arrow Connector 33798">
            <a:extLst>
              <a:ext uri="{FF2B5EF4-FFF2-40B4-BE49-F238E27FC236}">
                <a16:creationId xmlns:a16="http://schemas.microsoft.com/office/drawing/2014/main" id="{AAD91E0C-F6D5-4CA9-99DD-542FEBDE5FA6}"/>
              </a:ext>
            </a:extLst>
          </p:cNvPr>
          <p:cNvCxnSpPr>
            <a:cxnSpLocks/>
            <a:stCxn id="32" idx="1"/>
            <a:endCxn id="28" idx="6"/>
          </p:cNvCxnSpPr>
          <p:nvPr/>
        </p:nvCxnSpPr>
        <p:spPr>
          <a:xfrm flipH="1" flipV="1">
            <a:off x="8410574" y="5071826"/>
            <a:ext cx="1809881" cy="1704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801" name="Straight Arrow Connector 33800">
            <a:extLst>
              <a:ext uri="{FF2B5EF4-FFF2-40B4-BE49-F238E27FC236}">
                <a16:creationId xmlns:a16="http://schemas.microsoft.com/office/drawing/2014/main" id="{433996A3-BE9A-429F-8B18-A2EC8B2C786E}"/>
              </a:ext>
            </a:extLst>
          </p:cNvPr>
          <p:cNvCxnSpPr>
            <a:cxnSpLocks/>
            <a:stCxn id="32" idx="1"/>
            <a:endCxn id="29" idx="6"/>
          </p:cNvCxnSpPr>
          <p:nvPr/>
        </p:nvCxnSpPr>
        <p:spPr>
          <a:xfrm flipH="1">
            <a:off x="8410574" y="5242324"/>
            <a:ext cx="1809881" cy="6661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802" name="TextBox 33801">
            <a:extLst>
              <a:ext uri="{FF2B5EF4-FFF2-40B4-BE49-F238E27FC236}">
                <a16:creationId xmlns:a16="http://schemas.microsoft.com/office/drawing/2014/main" id="{DC4E40A1-F24D-4116-B77B-93D5B20D3D0D}"/>
              </a:ext>
            </a:extLst>
          </p:cNvPr>
          <p:cNvSpPr txBox="1"/>
          <p:nvPr/>
        </p:nvSpPr>
        <p:spPr>
          <a:xfrm>
            <a:off x="85970" y="3389918"/>
            <a:ext cx="1808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Owner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3A952F-98AC-4260-8E03-0DC6E5990932}"/>
              </a:ext>
            </a:extLst>
          </p:cNvPr>
          <p:cNvSpPr txBox="1"/>
          <p:nvPr/>
        </p:nvSpPr>
        <p:spPr>
          <a:xfrm>
            <a:off x="10615674" y="4972409"/>
            <a:ext cx="1547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Admin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9A18FF2-DB58-4C9F-A2AA-89B9D1D5CA4D}"/>
              </a:ext>
            </a:extLst>
          </p:cNvPr>
          <p:cNvSpPr txBox="1"/>
          <p:nvPr/>
        </p:nvSpPr>
        <p:spPr>
          <a:xfrm>
            <a:off x="10636300" y="3098159"/>
            <a:ext cx="1144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Agent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879DBAA-E07D-4293-97B2-F1AD281C080F}"/>
              </a:ext>
            </a:extLst>
          </p:cNvPr>
          <p:cNvSpPr txBox="1"/>
          <p:nvPr/>
        </p:nvSpPr>
        <p:spPr>
          <a:xfrm>
            <a:off x="10615675" y="1621202"/>
            <a:ext cx="1547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Police Officer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44379D-2A44-4B47-817C-2A9974A4258B}"/>
              </a:ext>
            </a:extLst>
          </p:cNvPr>
          <p:cNvSpPr txBox="1"/>
          <p:nvPr/>
        </p:nvSpPr>
        <p:spPr>
          <a:xfrm>
            <a:off x="3940627" y="6302310"/>
            <a:ext cx="592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 5: Use Case Diagram of Road Accident Analysis</a:t>
            </a:r>
          </a:p>
        </p:txBody>
      </p:sp>
    </p:spTree>
    <p:extLst>
      <p:ext uri="{BB962C8B-B14F-4D97-AF65-F5344CB8AC3E}">
        <p14:creationId xmlns:p14="http://schemas.microsoft.com/office/powerpoint/2010/main" val="3695357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Split-ups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Data Acquisition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Data Pre-Processing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Machine Learning Training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Model Evaluation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77240" y="6446520"/>
            <a:ext cx="7376160" cy="274955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GAT                                                                                                                2021-22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7315200" cy="365125"/>
          </a:xfrm>
        </p:spPr>
        <p:txBody>
          <a:bodyPr/>
          <a:lstStyle/>
          <a:p>
            <a:pPr algn="l"/>
            <a:r>
              <a:rPr lang="en-US"/>
              <a:t>Dept. of CSE, GAT                                                                                                                2021-22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388C4E-FD1B-4FBF-AB1A-F2DC890CE92D}"/>
              </a:ext>
            </a:extLst>
          </p:cNvPr>
          <p:cNvSpPr txBox="1"/>
          <p:nvPr/>
        </p:nvSpPr>
        <p:spPr>
          <a:xfrm>
            <a:off x="772160" y="304800"/>
            <a:ext cx="1058164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Mubariz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Manzoor, Muhammad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Saima Sadiq Saleem Ullah, hamza Ahmad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Madni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Ishaq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carmen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bisogni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Traffic Accident Severity Prediction Based on Decision Level Fusion of Machine and Deep Learning Model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.”IEEE Access </a:t>
            </a:r>
            <a:r>
              <a:rPr lang="en-IN" sz="2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10.1109/ACCESS.2021.3112546</a:t>
            </a:r>
          </a:p>
          <a:p>
            <a:pPr algn="just"/>
            <a:endParaRPr lang="en-IN" sz="24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[2]. N. Sridevi, M. V.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Keerthana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Monisha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V. Pal, T. R.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Nikshitha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Jyothi.”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Road Accident Analysis Using  Machine Learning.” International Journal of Research in Engineering, Science and Management  Volume-3, Issue-5, May-2020 www.ijresm.com | ISSN (Online): 2581-5792</a:t>
            </a:r>
            <a:endParaRPr lang="en-IN" sz="2400" b="0" i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Akanksh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Basavaraju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Jing Du,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Fujie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Zhou, and Jim Ji.”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Machine Learning Approach to Road Surface Anomaly Assessment Using Smartphone Sensors .”IEEE SENSORS JOURNAL, VOL. 20, NO. 5, MARCH 1, 2020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521816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C97E99-241A-4150-B338-FC9FEA865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GAT                                                                                                                2021-22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057331-8C6B-4B61-88C2-E42E28E20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D9CD4B-A19D-4CE2-A952-95983DA2585F}"/>
              </a:ext>
            </a:extLst>
          </p:cNvPr>
          <p:cNvSpPr txBox="1"/>
          <p:nvPr/>
        </p:nvSpPr>
        <p:spPr>
          <a:xfrm>
            <a:off x="802640" y="284480"/>
            <a:ext cx="1058164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[4]. Sahil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Dabhade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Avinash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Chitalkar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Pushkar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Gawhad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Vicky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.”Road Accident Analysis and Prediction using Machine Learning.”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for Research in Applied Science &amp; Engineering Technology (IJRASET) ISSN: 2321-9653; IC Value: 45.98; SJ Impact Factor: 7.177 Volume 8 Issue I, Jan 2020- Available at www.ijraset.com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[5]. Vipul Rana, Hemant  Joshi, Deepak Parmar,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Pradnya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Jadhav,  Monika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Kanojiya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 Road  Accident  Prediction  using  Machine Learning  Algorithm.” International Research  Journal of  Engineering and Technology  (IRJET) Volume:  06  Issue:  03  |  Mar  2019 www.irjet.net</a:t>
            </a:r>
          </a:p>
          <a:p>
            <a:pPr marL="0" indent="0" algn="just">
              <a:buNone/>
            </a:pPr>
            <a:endParaRPr lang="en-IN" sz="24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Meenu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Rani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Dey,Utkalika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Satapathy,Pranali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Bhanse,Bhabendu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Kr.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Mohanta,Debasish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Jena.”</a:t>
            </a:r>
            <a:r>
              <a:rPr lang="en-US" sz="24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Detecting Road Surface Condition using</a:t>
            </a:r>
            <a:br>
              <a:rPr lang="en-US" sz="24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2420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Smartphone Sensors and Machine Learning.”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 Lab IIIT Bhubaneswar Odisha, India a117004@iiit-bh.ac.in 978-1-7281-1895-6/19/$31.00 c2019 IEEE.</a:t>
            </a:r>
          </a:p>
        </p:txBody>
      </p:sp>
    </p:spTree>
    <p:extLst>
      <p:ext uri="{BB962C8B-B14F-4D97-AF65-F5344CB8AC3E}">
        <p14:creationId xmlns:p14="http://schemas.microsoft.com/office/powerpoint/2010/main" val="1180658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95785"/>
            <a:ext cx="10515600" cy="578117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7200" dirty="0"/>
          </a:p>
          <a:p>
            <a:pPr marL="0" indent="0" algn="ctr">
              <a:buNone/>
            </a:pPr>
            <a:endParaRPr lang="en-IN" sz="7200" dirty="0"/>
          </a:p>
          <a:p>
            <a:pPr marL="0" indent="0" algn="ctr">
              <a:buNone/>
            </a:pPr>
            <a:r>
              <a:rPr lang="en-IN" sz="7200" dirty="0"/>
              <a:t>Thank You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7315200" cy="365125"/>
          </a:xfrm>
        </p:spPr>
        <p:txBody>
          <a:bodyPr/>
          <a:lstStyle/>
          <a:p>
            <a:pPr algn="l"/>
            <a:r>
              <a:rPr lang="en-US"/>
              <a:t>Dept. of CSE, GAT                                                                                                                2021-22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D2DC-5F12-406D-9BC7-0C4E2707489C}" type="slidenum">
              <a:rPr lang="en-IN" smtClean="0"/>
              <a:pPr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069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Words>1694</Words>
  <Application>Microsoft Office PowerPoint</Application>
  <PresentationFormat>Widescreen</PresentationFormat>
  <Paragraphs>256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                GLOBAL ACADEMY OF TECHNOLOGY DEPARTMENT OF COMPUTER SCIENCE AND ENGINEERING (Accredited by NBA 2020-2122) Academic Year : 2021 - 22 ODD Sem </vt:lpstr>
      <vt:lpstr>Agenda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Statement</vt:lpstr>
      <vt:lpstr>PowerPoint Presentation</vt:lpstr>
      <vt:lpstr>System Design</vt:lpstr>
      <vt:lpstr>High-level design Data Flow Diagram – Level 0</vt:lpstr>
      <vt:lpstr>Data Flow Diagram – Level 1</vt:lpstr>
      <vt:lpstr>Class Diagram</vt:lpstr>
      <vt:lpstr>Use Case Diagram</vt:lpstr>
      <vt:lpstr>Module Split-ups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ACADEMY OF TECHNOLOGY DEPARTMENT OF COMPUTER SCIENCE AND ENGINEERING</dc:title>
  <dc:creator>admin</dc:creator>
  <cp:lastModifiedBy>Akhiladevi M</cp:lastModifiedBy>
  <cp:revision>48</cp:revision>
  <cp:lastPrinted>2018-09-04T04:42:13Z</cp:lastPrinted>
  <dcterms:created xsi:type="dcterms:W3CDTF">2018-01-23T09:52:46Z</dcterms:created>
  <dcterms:modified xsi:type="dcterms:W3CDTF">2022-01-11T15:13:21Z</dcterms:modified>
</cp:coreProperties>
</file>