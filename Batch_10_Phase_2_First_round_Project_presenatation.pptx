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56" r:id="rId2"/>
    <p:sldId id="257" r:id="rId3"/>
    <p:sldId id="258" r:id="rId4"/>
    <p:sldId id="261" r:id="rId5"/>
    <p:sldId id="262" r:id="rId6"/>
    <p:sldId id="263" r:id="rId7"/>
    <p:sldId id="282" r:id="rId8"/>
    <p:sldId id="267" r:id="rId9"/>
    <p:sldId id="271" r:id="rId10"/>
    <p:sldId id="279" r:id="rId11"/>
    <p:sldId id="280" r:id="rId12"/>
    <p:sldId id="281" r:id="rId13"/>
    <p:sldId id="274" r:id="rId14"/>
    <p:sldId id="270" r:id="rId15"/>
    <p:sldId id="272" r:id="rId16"/>
    <p:sldId id="283" r:id="rId17"/>
    <p:sldId id="292" r:id="rId18"/>
    <p:sldId id="284" r:id="rId19"/>
    <p:sldId id="288" r:id="rId20"/>
    <p:sldId id="289" r:id="rId21"/>
    <p:sldId id="290" r:id="rId22"/>
    <p:sldId id="291" r:id="rId23"/>
    <p:sldId id="285" r:id="rId24"/>
    <p:sldId id="273" r:id="rId25"/>
    <p:sldId id="293" r:id="rId26"/>
    <p:sldId id="286" r:id="rId27"/>
    <p:sldId id="287" r:id="rId28"/>
    <p:sldId id="265" r:id="rId2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066"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anuja kunati" userId="d3e57c6f090bf7bd" providerId="LiveId" clId="{6AA07B70-55CC-41C5-97E5-10BAAF8D3ACC}"/>
    <pc:docChg chg="modSld">
      <pc:chgData name="thanuja kunati" userId="d3e57c6f090bf7bd" providerId="LiveId" clId="{6AA07B70-55CC-41C5-97E5-10BAAF8D3ACC}" dt="2022-05-17T14:58:54.523" v="1"/>
      <pc:docMkLst>
        <pc:docMk/>
      </pc:docMkLst>
      <pc:sldChg chg="modSp mod">
        <pc:chgData name="thanuja kunati" userId="d3e57c6f090bf7bd" providerId="LiveId" clId="{6AA07B70-55CC-41C5-97E5-10BAAF8D3ACC}" dt="2022-05-17T14:58:54.523" v="1"/>
        <pc:sldMkLst>
          <pc:docMk/>
          <pc:sldMk cId="2134650929" sldId="291"/>
        </pc:sldMkLst>
        <pc:spChg chg="mod">
          <ac:chgData name="thanuja kunati" userId="d3e57c6f090bf7bd" providerId="LiveId" clId="{6AA07B70-55CC-41C5-97E5-10BAAF8D3ACC}" dt="2022-05-17T14:58:54.523" v="1"/>
          <ac:spMkLst>
            <pc:docMk/>
            <pc:sldMk cId="2134650929" sldId="291"/>
            <ac:spMk id="3" creationId="{2F98D327-B736-4080-B636-CDD161F4DB0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658E2C-4649-44DA-94C1-04F267F3CF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A0DB7DE3-ECF5-4C7A-8F5E-3EA1E35478F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994281A2-F896-4B7C-816C-0129ABD5D8C3}" type="datetimeFigureOut">
              <a:rPr lang="en-IN"/>
              <a:pPr>
                <a:defRPr/>
              </a:pPr>
              <a:t>17-05-2022</a:t>
            </a:fld>
            <a:endParaRPr lang="en-IN"/>
          </a:p>
        </p:txBody>
      </p:sp>
      <p:sp>
        <p:nvSpPr>
          <p:cNvPr id="4" name="Footer Placeholder 3">
            <a:extLst>
              <a:ext uri="{FF2B5EF4-FFF2-40B4-BE49-F238E27FC236}">
                <a16:creationId xmlns:a16="http://schemas.microsoft.com/office/drawing/2014/main" id="{EEBA8B8D-3406-4B1A-95B5-D7D9E67C655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r>
              <a:rPr lang="en-IN"/>
              <a:t>Dept. of CSE, GAT                                           2017-18</a:t>
            </a:r>
          </a:p>
        </p:txBody>
      </p:sp>
      <p:sp>
        <p:nvSpPr>
          <p:cNvPr id="5" name="Slide Number Placeholder 4">
            <a:extLst>
              <a:ext uri="{FF2B5EF4-FFF2-40B4-BE49-F238E27FC236}">
                <a16:creationId xmlns:a16="http://schemas.microsoft.com/office/drawing/2014/main" id="{41D8401D-4DA3-47AE-8334-EDDCF49491CF}"/>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D5E3CDE-57F8-4A7F-948C-2F8E13C40C3B}" type="slidenum">
              <a:rPr lang="en-IN" altLang="en-US"/>
              <a:pPr/>
              <a:t>‹#›</a:t>
            </a:fld>
            <a:endParaRPr lang="en-I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5BD3D8-ABFE-46E9-B416-B2B6D66ED3F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IN"/>
          </a:p>
        </p:txBody>
      </p:sp>
      <p:sp>
        <p:nvSpPr>
          <p:cNvPr id="3" name="Date Placeholder 2">
            <a:extLst>
              <a:ext uri="{FF2B5EF4-FFF2-40B4-BE49-F238E27FC236}">
                <a16:creationId xmlns:a16="http://schemas.microsoft.com/office/drawing/2014/main" id="{BB81FB6B-818B-439F-AA9D-F4A4C51D9CB7}"/>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47A2982A-07C7-4771-95EF-D985DAEE4650}" type="datetimeFigureOut">
              <a:rPr lang="en-IN"/>
              <a:pPr>
                <a:defRPr/>
              </a:pPr>
              <a:t>17-05-2022</a:t>
            </a:fld>
            <a:endParaRPr lang="en-IN"/>
          </a:p>
        </p:txBody>
      </p:sp>
      <p:sp>
        <p:nvSpPr>
          <p:cNvPr id="4" name="Slide Image Placeholder 3">
            <a:extLst>
              <a:ext uri="{FF2B5EF4-FFF2-40B4-BE49-F238E27FC236}">
                <a16:creationId xmlns:a16="http://schemas.microsoft.com/office/drawing/2014/main" id="{13B9B77C-9113-4E6B-BC26-A76A14DCFA9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C807DB35-67A4-4B1B-A560-6A01BC5C211A}"/>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5FD0BFDF-1B36-40DC-B782-279FFBBF56A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smtClean="0">
                <a:latin typeface="+mn-lt"/>
              </a:defRPr>
            </a:lvl1pPr>
          </a:lstStyle>
          <a:p>
            <a:pPr>
              <a:defRPr/>
            </a:pPr>
            <a:r>
              <a:rPr lang="en-IN"/>
              <a:t>Dept. of CSE, GAT                                           2017-18</a:t>
            </a:r>
          </a:p>
        </p:txBody>
      </p:sp>
      <p:sp>
        <p:nvSpPr>
          <p:cNvPr id="7" name="Slide Number Placeholder 6">
            <a:extLst>
              <a:ext uri="{FF2B5EF4-FFF2-40B4-BE49-F238E27FC236}">
                <a16:creationId xmlns:a16="http://schemas.microsoft.com/office/drawing/2014/main" id="{E3C06572-CE2A-4A31-AE1D-CC249A717B51}"/>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69B157FE-FA23-47D8-9ACC-07EE1C07ABF3}" type="slidenum">
              <a:rPr lang="en-IN" altLang="en-US"/>
              <a:pPr/>
              <a:t>‹#›</a:t>
            </a:fld>
            <a:endParaRPr lang="en-IN" altLang="en-US"/>
          </a:p>
        </p:txBody>
      </p:sp>
    </p:spTree>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D8236CCB-3A26-49F0-8FAB-82DB49ECC1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BDD9D4F9-5DE9-4794-87FE-614D67F33A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a:p>
        </p:txBody>
      </p:sp>
      <p:sp>
        <p:nvSpPr>
          <p:cNvPr id="18436" name="Slide Number Placeholder 3">
            <a:extLst>
              <a:ext uri="{FF2B5EF4-FFF2-40B4-BE49-F238E27FC236}">
                <a16:creationId xmlns:a16="http://schemas.microsoft.com/office/drawing/2014/main" id="{8C5CDCE4-EAFA-4660-925B-C5BD2BA8EE8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2371BF2B-4D55-4776-A4D2-27B33421FCC5}" type="slidenum">
              <a:rPr lang="en-IN" altLang="en-US"/>
              <a:pPr/>
              <a:t>1</a:t>
            </a:fld>
            <a:endParaRPr lang="en-IN" altLang="en-US"/>
          </a:p>
        </p:txBody>
      </p:sp>
      <p:sp>
        <p:nvSpPr>
          <p:cNvPr id="18437" name="Footer Placeholder 4">
            <a:extLst>
              <a:ext uri="{FF2B5EF4-FFF2-40B4-BE49-F238E27FC236}">
                <a16:creationId xmlns:a16="http://schemas.microsoft.com/office/drawing/2014/main" id="{98CA054D-D0E2-4C9D-B954-0BA03C4F91E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IN" altLang="en-US"/>
              <a:t>Dept. of CSE, GAT                                           2017-18</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6609D17F-119E-4B1D-ABBD-53940EDF13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1C888B25-F3FD-416D-8BE9-A608D215BD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IN" altLang="en-US"/>
          </a:p>
        </p:txBody>
      </p:sp>
      <p:sp>
        <p:nvSpPr>
          <p:cNvPr id="19460" name="Slide Number Placeholder 3">
            <a:extLst>
              <a:ext uri="{FF2B5EF4-FFF2-40B4-BE49-F238E27FC236}">
                <a16:creationId xmlns:a16="http://schemas.microsoft.com/office/drawing/2014/main" id="{ADE788C8-69A8-4956-881F-214A6DBB3D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1C98BBF-01F6-470D-A37B-6D74AE336209}" type="slidenum">
              <a:rPr lang="en-IN" altLang="en-US"/>
              <a:pPr/>
              <a:t>2</a:t>
            </a:fld>
            <a:endParaRPr lang="en-IN" altLang="en-US"/>
          </a:p>
        </p:txBody>
      </p:sp>
      <p:sp>
        <p:nvSpPr>
          <p:cNvPr id="19461" name="Footer Placeholder 4">
            <a:extLst>
              <a:ext uri="{FF2B5EF4-FFF2-40B4-BE49-F238E27FC236}">
                <a16:creationId xmlns:a16="http://schemas.microsoft.com/office/drawing/2014/main" id="{1279747B-867C-4CC4-B780-3CA2B346ECA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r>
              <a:rPr lang="en-IN" altLang="en-US"/>
              <a:t>Dept. of CSE, GAT                                           2017-18</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666666"/>
                </a:solidFill>
                <a:effectLst/>
                <a:latin typeface="Roboto" panose="02000000000000000000" pitchFamily="2" charset="0"/>
              </a:rPr>
              <a:t>Data and Acquisition, where data is the raw facts and figures, which could be structured and unstructured and acquisition means acquiring data for the given task at hand.</a:t>
            </a:r>
            <a:endParaRPr lang="en-IN" dirty="0"/>
          </a:p>
        </p:txBody>
      </p:sp>
      <p:sp>
        <p:nvSpPr>
          <p:cNvPr id="4" name="Footer Placeholder 3"/>
          <p:cNvSpPr>
            <a:spLocks noGrp="1"/>
          </p:cNvSpPr>
          <p:nvPr>
            <p:ph type="ftr" sz="quarter" idx="4"/>
          </p:nvPr>
        </p:nvSpPr>
        <p:spPr/>
        <p:txBody>
          <a:bodyPr/>
          <a:lstStyle/>
          <a:p>
            <a:pPr>
              <a:defRPr/>
            </a:pPr>
            <a:r>
              <a:rPr lang="en-IN"/>
              <a:t>Dept. of CSE, GAT                                           2017-18</a:t>
            </a:r>
          </a:p>
        </p:txBody>
      </p:sp>
      <p:sp>
        <p:nvSpPr>
          <p:cNvPr id="5" name="Slide Number Placeholder 4"/>
          <p:cNvSpPr>
            <a:spLocks noGrp="1"/>
          </p:cNvSpPr>
          <p:nvPr>
            <p:ph type="sldNum" sz="quarter" idx="5"/>
          </p:nvPr>
        </p:nvSpPr>
        <p:spPr/>
        <p:txBody>
          <a:bodyPr/>
          <a:lstStyle/>
          <a:p>
            <a:fld id="{69B157FE-FA23-47D8-9ACC-07EE1C07ABF3}" type="slidenum">
              <a:rPr lang="en-IN" altLang="en-US" smtClean="0"/>
              <a:pPr/>
              <a:t>15</a:t>
            </a:fld>
            <a:endParaRPr lang="en-IN" altLang="en-US"/>
          </a:p>
        </p:txBody>
      </p:sp>
    </p:spTree>
    <p:extLst>
      <p:ext uri="{BB962C8B-B14F-4D97-AF65-F5344CB8AC3E}">
        <p14:creationId xmlns:p14="http://schemas.microsoft.com/office/powerpoint/2010/main" val="2989444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4215991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Footer Placeholder 4">
            <a:extLst>
              <a:ext uri="{FF2B5EF4-FFF2-40B4-BE49-F238E27FC236}">
                <a16:creationId xmlns:a16="http://schemas.microsoft.com/office/drawing/2014/main" id="{7A0DC5A0-96A6-4077-9374-2F486B406B1C}"/>
              </a:ext>
            </a:extLst>
          </p:cNvPr>
          <p:cNvSpPr>
            <a:spLocks noGrp="1"/>
          </p:cNvSpPr>
          <p:nvPr>
            <p:ph type="ftr" sz="quarter" idx="10"/>
          </p:nvPr>
        </p:nvSpPr>
        <p:spPr/>
        <p:txBody>
          <a:bodyPr/>
          <a:lstStyle>
            <a:lvl1pPr>
              <a:defRPr dirty="0"/>
            </a:lvl1pPr>
          </a:lstStyle>
          <a:p>
            <a:pPr>
              <a:defRPr/>
            </a:pPr>
            <a:r>
              <a:rPr lang="en-US"/>
              <a:t>Dept of CSE,GAT                     2021-22                                                                                                           </a:t>
            </a:r>
            <a:endParaRPr lang="en-IN"/>
          </a:p>
        </p:txBody>
      </p:sp>
      <p:sp>
        <p:nvSpPr>
          <p:cNvPr id="5" name="Slide Number Placeholder 5">
            <a:extLst>
              <a:ext uri="{FF2B5EF4-FFF2-40B4-BE49-F238E27FC236}">
                <a16:creationId xmlns:a16="http://schemas.microsoft.com/office/drawing/2014/main" id="{D53A68EC-B0CF-43F1-ADE1-DBFFF0EB9E45}"/>
              </a:ext>
            </a:extLst>
          </p:cNvPr>
          <p:cNvSpPr>
            <a:spLocks noGrp="1"/>
          </p:cNvSpPr>
          <p:nvPr>
            <p:ph type="sldNum" sz="quarter" idx="11"/>
          </p:nvPr>
        </p:nvSpPr>
        <p:spPr/>
        <p:txBody>
          <a:bodyPr/>
          <a:lstStyle>
            <a:lvl1pPr>
              <a:defRPr/>
            </a:lvl1pPr>
          </a:lstStyle>
          <a:p>
            <a:fld id="{25C42BF0-F0BA-4BEC-BFEF-185B471DC7CC}" type="slidenum">
              <a:rPr lang="en-IN" altLang="en-US"/>
              <a:pPr/>
              <a:t>‹#›</a:t>
            </a:fld>
            <a:endParaRPr lang="en-IN" altLang="en-US"/>
          </a:p>
        </p:txBody>
      </p:sp>
    </p:spTree>
    <p:extLst>
      <p:ext uri="{BB962C8B-B14F-4D97-AF65-F5344CB8AC3E}">
        <p14:creationId xmlns:p14="http://schemas.microsoft.com/office/powerpoint/2010/main" val="145066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FE4DAB-4EF9-48AA-87A2-CFAA120CA501}"/>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B1EC9550-FE34-443A-BC46-34B2C42C8E65}"/>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6" name="Slide Number Placeholder 5">
            <a:extLst>
              <a:ext uri="{FF2B5EF4-FFF2-40B4-BE49-F238E27FC236}">
                <a16:creationId xmlns:a16="http://schemas.microsoft.com/office/drawing/2014/main" id="{FCB03E00-85EC-4E9E-8BCB-D60E7B1D918C}"/>
              </a:ext>
            </a:extLst>
          </p:cNvPr>
          <p:cNvSpPr>
            <a:spLocks noGrp="1"/>
          </p:cNvSpPr>
          <p:nvPr>
            <p:ph type="sldNum" sz="quarter" idx="12"/>
          </p:nvPr>
        </p:nvSpPr>
        <p:spPr/>
        <p:txBody>
          <a:bodyPr/>
          <a:lstStyle>
            <a:lvl1pPr>
              <a:defRPr/>
            </a:lvl1pPr>
          </a:lstStyle>
          <a:p>
            <a:fld id="{E4AE256C-CCEB-47B7-A3F7-A664EDC74B4C}" type="slidenum">
              <a:rPr lang="en-IN" altLang="en-US"/>
              <a:pPr/>
              <a:t>‹#›</a:t>
            </a:fld>
            <a:endParaRPr lang="en-IN" altLang="en-US"/>
          </a:p>
        </p:txBody>
      </p:sp>
    </p:spTree>
    <p:extLst>
      <p:ext uri="{BB962C8B-B14F-4D97-AF65-F5344CB8AC3E}">
        <p14:creationId xmlns:p14="http://schemas.microsoft.com/office/powerpoint/2010/main" val="1639667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772BF65D-02AB-4BE6-8D14-842F88AA808B}"/>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A57A10FB-B8EC-4456-9E91-867610FD6C1E}"/>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7" name="Slide Number Placeholder 5">
            <a:extLst>
              <a:ext uri="{FF2B5EF4-FFF2-40B4-BE49-F238E27FC236}">
                <a16:creationId xmlns:a16="http://schemas.microsoft.com/office/drawing/2014/main" id="{1E5A331A-5AD0-4EBA-A248-A6F3099101A8}"/>
              </a:ext>
            </a:extLst>
          </p:cNvPr>
          <p:cNvSpPr>
            <a:spLocks noGrp="1"/>
          </p:cNvSpPr>
          <p:nvPr>
            <p:ph type="sldNum" sz="quarter" idx="12"/>
          </p:nvPr>
        </p:nvSpPr>
        <p:spPr/>
        <p:txBody>
          <a:bodyPr/>
          <a:lstStyle>
            <a:lvl1pPr>
              <a:defRPr/>
            </a:lvl1pPr>
          </a:lstStyle>
          <a:p>
            <a:fld id="{C460169D-C4DB-4DBB-AF90-73CD91804C6A}" type="slidenum">
              <a:rPr lang="en-IN" altLang="en-US"/>
              <a:pPr/>
              <a:t>‹#›</a:t>
            </a:fld>
            <a:endParaRPr lang="en-IN" altLang="en-US"/>
          </a:p>
        </p:txBody>
      </p:sp>
    </p:spTree>
    <p:extLst>
      <p:ext uri="{BB962C8B-B14F-4D97-AF65-F5344CB8AC3E}">
        <p14:creationId xmlns:p14="http://schemas.microsoft.com/office/powerpoint/2010/main" val="2008552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FE57CC81-4F11-4040-9A90-C5792A9EC1CA}"/>
              </a:ext>
            </a:extLst>
          </p:cNvPr>
          <p:cNvSpPr>
            <a:spLocks noGrp="1"/>
          </p:cNvSpPr>
          <p:nvPr>
            <p:ph type="dt" sz="half" idx="10"/>
          </p:nvPr>
        </p:nvSpPr>
        <p:spPr/>
        <p:txBody>
          <a:bodyPr/>
          <a:lstStyle>
            <a:lvl1pPr>
              <a:defRPr/>
            </a:lvl1pPr>
          </a:lstStyle>
          <a:p>
            <a:pPr>
              <a:defRPr/>
            </a:pPr>
            <a:endParaRPr lang="en-IN"/>
          </a:p>
        </p:txBody>
      </p:sp>
      <p:sp>
        <p:nvSpPr>
          <p:cNvPr id="8" name="Footer Placeholder 4">
            <a:extLst>
              <a:ext uri="{FF2B5EF4-FFF2-40B4-BE49-F238E27FC236}">
                <a16:creationId xmlns:a16="http://schemas.microsoft.com/office/drawing/2014/main" id="{C1761E16-F943-46EE-AFE8-9BA595D0647A}"/>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9" name="Slide Number Placeholder 5">
            <a:extLst>
              <a:ext uri="{FF2B5EF4-FFF2-40B4-BE49-F238E27FC236}">
                <a16:creationId xmlns:a16="http://schemas.microsoft.com/office/drawing/2014/main" id="{DA800408-5E1D-49FD-8822-B9F120973F41}"/>
              </a:ext>
            </a:extLst>
          </p:cNvPr>
          <p:cNvSpPr>
            <a:spLocks noGrp="1"/>
          </p:cNvSpPr>
          <p:nvPr>
            <p:ph type="sldNum" sz="quarter" idx="12"/>
          </p:nvPr>
        </p:nvSpPr>
        <p:spPr/>
        <p:txBody>
          <a:bodyPr/>
          <a:lstStyle>
            <a:lvl1pPr>
              <a:defRPr/>
            </a:lvl1pPr>
          </a:lstStyle>
          <a:p>
            <a:fld id="{3277046A-29DF-4514-BC8D-EEC16223F49E}" type="slidenum">
              <a:rPr lang="en-IN" altLang="en-US"/>
              <a:pPr/>
              <a:t>‹#›</a:t>
            </a:fld>
            <a:endParaRPr lang="en-IN" altLang="en-US"/>
          </a:p>
        </p:txBody>
      </p:sp>
    </p:spTree>
    <p:extLst>
      <p:ext uri="{BB962C8B-B14F-4D97-AF65-F5344CB8AC3E}">
        <p14:creationId xmlns:p14="http://schemas.microsoft.com/office/powerpoint/2010/main" val="3273625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A42C6E7D-3160-4CEF-B6D8-0C904FD2AA12}"/>
              </a:ext>
            </a:extLst>
          </p:cNvPr>
          <p:cNvSpPr>
            <a:spLocks noGrp="1"/>
          </p:cNvSpPr>
          <p:nvPr>
            <p:ph type="dt" sz="half" idx="10"/>
          </p:nvPr>
        </p:nvSpPr>
        <p:spPr/>
        <p:txBody>
          <a:bodyPr/>
          <a:lstStyle>
            <a:lvl1pPr>
              <a:defRPr/>
            </a:lvl1pPr>
          </a:lstStyle>
          <a:p>
            <a:pPr>
              <a:defRPr/>
            </a:pPr>
            <a:endParaRPr lang="en-IN"/>
          </a:p>
        </p:txBody>
      </p:sp>
      <p:sp>
        <p:nvSpPr>
          <p:cNvPr id="4" name="Footer Placeholder 4">
            <a:extLst>
              <a:ext uri="{FF2B5EF4-FFF2-40B4-BE49-F238E27FC236}">
                <a16:creationId xmlns:a16="http://schemas.microsoft.com/office/drawing/2014/main" id="{0FF05DBB-FF64-4A7E-9407-7F5A27D7B091}"/>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5" name="Slide Number Placeholder 5">
            <a:extLst>
              <a:ext uri="{FF2B5EF4-FFF2-40B4-BE49-F238E27FC236}">
                <a16:creationId xmlns:a16="http://schemas.microsoft.com/office/drawing/2014/main" id="{46130D4C-C934-4014-8723-63B25CC63462}"/>
              </a:ext>
            </a:extLst>
          </p:cNvPr>
          <p:cNvSpPr>
            <a:spLocks noGrp="1"/>
          </p:cNvSpPr>
          <p:nvPr>
            <p:ph type="sldNum" sz="quarter" idx="12"/>
          </p:nvPr>
        </p:nvSpPr>
        <p:spPr/>
        <p:txBody>
          <a:bodyPr/>
          <a:lstStyle>
            <a:lvl1pPr>
              <a:defRPr/>
            </a:lvl1pPr>
          </a:lstStyle>
          <a:p>
            <a:fld id="{FB8AA51E-A9FC-4139-873E-8EA3AD7D43BC}" type="slidenum">
              <a:rPr lang="en-IN" altLang="en-US"/>
              <a:pPr/>
              <a:t>‹#›</a:t>
            </a:fld>
            <a:endParaRPr lang="en-IN" altLang="en-US"/>
          </a:p>
        </p:txBody>
      </p:sp>
    </p:spTree>
    <p:extLst>
      <p:ext uri="{BB962C8B-B14F-4D97-AF65-F5344CB8AC3E}">
        <p14:creationId xmlns:p14="http://schemas.microsoft.com/office/powerpoint/2010/main" val="1049276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AB968AF-F49B-422F-BFAE-4969C882316E}"/>
              </a:ext>
            </a:extLst>
          </p:cNvPr>
          <p:cNvSpPr>
            <a:spLocks noGrp="1"/>
          </p:cNvSpPr>
          <p:nvPr>
            <p:ph type="dt" sz="half" idx="10"/>
          </p:nvPr>
        </p:nvSpPr>
        <p:spPr/>
        <p:txBody>
          <a:bodyPr/>
          <a:lstStyle>
            <a:lvl1pPr>
              <a:defRPr/>
            </a:lvl1pPr>
          </a:lstStyle>
          <a:p>
            <a:pPr>
              <a:defRPr/>
            </a:pPr>
            <a:endParaRPr lang="en-IN"/>
          </a:p>
        </p:txBody>
      </p:sp>
      <p:sp>
        <p:nvSpPr>
          <p:cNvPr id="3" name="Footer Placeholder 4">
            <a:extLst>
              <a:ext uri="{FF2B5EF4-FFF2-40B4-BE49-F238E27FC236}">
                <a16:creationId xmlns:a16="http://schemas.microsoft.com/office/drawing/2014/main" id="{954676E3-0B21-42B7-8C4C-FD23E4373400}"/>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4" name="Slide Number Placeholder 5">
            <a:extLst>
              <a:ext uri="{FF2B5EF4-FFF2-40B4-BE49-F238E27FC236}">
                <a16:creationId xmlns:a16="http://schemas.microsoft.com/office/drawing/2014/main" id="{456A4DCD-21E8-4B98-B17F-05C4A6C580E8}"/>
              </a:ext>
            </a:extLst>
          </p:cNvPr>
          <p:cNvSpPr>
            <a:spLocks noGrp="1"/>
          </p:cNvSpPr>
          <p:nvPr>
            <p:ph type="sldNum" sz="quarter" idx="12"/>
          </p:nvPr>
        </p:nvSpPr>
        <p:spPr/>
        <p:txBody>
          <a:bodyPr/>
          <a:lstStyle>
            <a:lvl1pPr>
              <a:defRPr/>
            </a:lvl1pPr>
          </a:lstStyle>
          <a:p>
            <a:fld id="{6F2A3726-8723-4344-AD87-7E50D879CA2C}" type="slidenum">
              <a:rPr lang="en-IN" altLang="en-US"/>
              <a:pPr/>
              <a:t>‹#›</a:t>
            </a:fld>
            <a:endParaRPr lang="en-IN" altLang="en-US"/>
          </a:p>
        </p:txBody>
      </p:sp>
    </p:spTree>
    <p:extLst>
      <p:ext uri="{BB962C8B-B14F-4D97-AF65-F5344CB8AC3E}">
        <p14:creationId xmlns:p14="http://schemas.microsoft.com/office/powerpoint/2010/main" val="49731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6F5FCD02-ACBC-4777-807D-6BCFD2ED1812}"/>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015C8652-801F-4C4F-83AC-289BFF454637}"/>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7" name="Slide Number Placeholder 5">
            <a:extLst>
              <a:ext uri="{FF2B5EF4-FFF2-40B4-BE49-F238E27FC236}">
                <a16:creationId xmlns:a16="http://schemas.microsoft.com/office/drawing/2014/main" id="{1312532C-0B78-4562-AF0E-925724E87128}"/>
              </a:ext>
            </a:extLst>
          </p:cNvPr>
          <p:cNvSpPr>
            <a:spLocks noGrp="1"/>
          </p:cNvSpPr>
          <p:nvPr>
            <p:ph type="sldNum" sz="quarter" idx="12"/>
          </p:nvPr>
        </p:nvSpPr>
        <p:spPr/>
        <p:txBody>
          <a:bodyPr/>
          <a:lstStyle>
            <a:lvl1pPr>
              <a:defRPr/>
            </a:lvl1pPr>
          </a:lstStyle>
          <a:p>
            <a:fld id="{52849531-6430-4586-95B8-F96715E1CF20}" type="slidenum">
              <a:rPr lang="en-IN" altLang="en-US"/>
              <a:pPr/>
              <a:t>‹#›</a:t>
            </a:fld>
            <a:endParaRPr lang="en-IN" altLang="en-US"/>
          </a:p>
        </p:txBody>
      </p:sp>
    </p:spTree>
    <p:extLst>
      <p:ext uri="{BB962C8B-B14F-4D97-AF65-F5344CB8AC3E}">
        <p14:creationId xmlns:p14="http://schemas.microsoft.com/office/powerpoint/2010/main" val="4033864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34D666C8-F70A-4583-9A0B-F8FB6BEA437B}"/>
              </a:ext>
            </a:extLst>
          </p:cNvPr>
          <p:cNvSpPr>
            <a:spLocks noGrp="1"/>
          </p:cNvSpPr>
          <p:nvPr>
            <p:ph type="dt" sz="half" idx="10"/>
          </p:nvPr>
        </p:nvSpPr>
        <p:spPr/>
        <p:txBody>
          <a:bodyPr/>
          <a:lstStyle>
            <a:lvl1pPr>
              <a:defRPr/>
            </a:lvl1pPr>
          </a:lstStyle>
          <a:p>
            <a:pPr>
              <a:defRPr/>
            </a:pPr>
            <a:endParaRPr lang="en-IN"/>
          </a:p>
        </p:txBody>
      </p:sp>
      <p:sp>
        <p:nvSpPr>
          <p:cNvPr id="6" name="Footer Placeholder 4">
            <a:extLst>
              <a:ext uri="{FF2B5EF4-FFF2-40B4-BE49-F238E27FC236}">
                <a16:creationId xmlns:a16="http://schemas.microsoft.com/office/drawing/2014/main" id="{674C8F10-3513-44BB-A9E8-D1C5BC67AB42}"/>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7" name="Slide Number Placeholder 5">
            <a:extLst>
              <a:ext uri="{FF2B5EF4-FFF2-40B4-BE49-F238E27FC236}">
                <a16:creationId xmlns:a16="http://schemas.microsoft.com/office/drawing/2014/main" id="{84E35637-F55F-4A29-AE1B-1C50193013DA}"/>
              </a:ext>
            </a:extLst>
          </p:cNvPr>
          <p:cNvSpPr>
            <a:spLocks noGrp="1"/>
          </p:cNvSpPr>
          <p:nvPr>
            <p:ph type="sldNum" sz="quarter" idx="12"/>
          </p:nvPr>
        </p:nvSpPr>
        <p:spPr/>
        <p:txBody>
          <a:bodyPr/>
          <a:lstStyle>
            <a:lvl1pPr>
              <a:defRPr/>
            </a:lvl1pPr>
          </a:lstStyle>
          <a:p>
            <a:fld id="{572926B6-D9C7-45D2-9828-79D5AADF281C}" type="slidenum">
              <a:rPr lang="en-IN" altLang="en-US"/>
              <a:pPr/>
              <a:t>‹#›</a:t>
            </a:fld>
            <a:endParaRPr lang="en-IN" altLang="en-US"/>
          </a:p>
        </p:txBody>
      </p:sp>
    </p:spTree>
    <p:extLst>
      <p:ext uri="{BB962C8B-B14F-4D97-AF65-F5344CB8AC3E}">
        <p14:creationId xmlns:p14="http://schemas.microsoft.com/office/powerpoint/2010/main" val="2192745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239DB1-B3F9-4166-A5AC-D437AC497ED6}"/>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C17271C5-5D11-43C2-A3DB-96ADEFFC9D76}"/>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6" name="Slide Number Placeholder 5">
            <a:extLst>
              <a:ext uri="{FF2B5EF4-FFF2-40B4-BE49-F238E27FC236}">
                <a16:creationId xmlns:a16="http://schemas.microsoft.com/office/drawing/2014/main" id="{EA0CC7A6-7672-4E81-B10E-ED664156673B}"/>
              </a:ext>
            </a:extLst>
          </p:cNvPr>
          <p:cNvSpPr>
            <a:spLocks noGrp="1"/>
          </p:cNvSpPr>
          <p:nvPr>
            <p:ph type="sldNum" sz="quarter" idx="12"/>
          </p:nvPr>
        </p:nvSpPr>
        <p:spPr/>
        <p:txBody>
          <a:bodyPr/>
          <a:lstStyle>
            <a:lvl1pPr>
              <a:defRPr/>
            </a:lvl1pPr>
          </a:lstStyle>
          <a:p>
            <a:fld id="{B1C1C889-446B-4EA4-AB43-32BF69A4ED9F}" type="slidenum">
              <a:rPr lang="en-IN" altLang="en-US"/>
              <a:pPr/>
              <a:t>‹#›</a:t>
            </a:fld>
            <a:endParaRPr lang="en-IN" altLang="en-US"/>
          </a:p>
        </p:txBody>
      </p:sp>
    </p:spTree>
    <p:extLst>
      <p:ext uri="{BB962C8B-B14F-4D97-AF65-F5344CB8AC3E}">
        <p14:creationId xmlns:p14="http://schemas.microsoft.com/office/powerpoint/2010/main" val="3959837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84590-25BD-42BE-9C49-A07BD58A11AE}"/>
              </a:ext>
            </a:extLst>
          </p:cNvPr>
          <p:cNvSpPr>
            <a:spLocks noGrp="1"/>
          </p:cNvSpPr>
          <p:nvPr>
            <p:ph type="dt" sz="half" idx="10"/>
          </p:nvPr>
        </p:nvSpPr>
        <p:spPr/>
        <p:txBody>
          <a:bodyPr/>
          <a:lstStyle>
            <a:lvl1pPr>
              <a:defRPr/>
            </a:lvl1pPr>
          </a:lstStyle>
          <a:p>
            <a:pPr>
              <a:defRPr/>
            </a:pPr>
            <a:endParaRPr lang="en-IN"/>
          </a:p>
        </p:txBody>
      </p:sp>
      <p:sp>
        <p:nvSpPr>
          <p:cNvPr id="5" name="Footer Placeholder 4">
            <a:extLst>
              <a:ext uri="{FF2B5EF4-FFF2-40B4-BE49-F238E27FC236}">
                <a16:creationId xmlns:a16="http://schemas.microsoft.com/office/drawing/2014/main" id="{14C97F58-0853-40EF-BDA6-B8215D89B698}"/>
              </a:ext>
            </a:extLst>
          </p:cNvPr>
          <p:cNvSpPr>
            <a:spLocks noGrp="1"/>
          </p:cNvSpPr>
          <p:nvPr>
            <p:ph type="ftr" sz="quarter" idx="11"/>
          </p:nvPr>
        </p:nvSpPr>
        <p:spPr/>
        <p:txBody>
          <a:bodyPr/>
          <a:lstStyle>
            <a:lvl1pPr>
              <a:defRPr/>
            </a:lvl1pPr>
          </a:lstStyle>
          <a:p>
            <a:pPr>
              <a:defRPr/>
            </a:pPr>
            <a:r>
              <a:rPr lang="en-US"/>
              <a:t>Dept of CSE,GAT                     2021-22                                                                                                           </a:t>
            </a:r>
            <a:endParaRPr lang="en-IN"/>
          </a:p>
        </p:txBody>
      </p:sp>
      <p:sp>
        <p:nvSpPr>
          <p:cNvPr id="6" name="Slide Number Placeholder 5">
            <a:extLst>
              <a:ext uri="{FF2B5EF4-FFF2-40B4-BE49-F238E27FC236}">
                <a16:creationId xmlns:a16="http://schemas.microsoft.com/office/drawing/2014/main" id="{47040CFB-B4F3-4D17-A8E6-A5E9875C2EEF}"/>
              </a:ext>
            </a:extLst>
          </p:cNvPr>
          <p:cNvSpPr>
            <a:spLocks noGrp="1"/>
          </p:cNvSpPr>
          <p:nvPr>
            <p:ph type="sldNum" sz="quarter" idx="12"/>
          </p:nvPr>
        </p:nvSpPr>
        <p:spPr/>
        <p:txBody>
          <a:bodyPr/>
          <a:lstStyle>
            <a:lvl1pPr>
              <a:defRPr/>
            </a:lvl1pPr>
          </a:lstStyle>
          <a:p>
            <a:fld id="{D5A10665-5B81-4BD6-BD5D-5661B7F3A197}" type="slidenum">
              <a:rPr lang="en-IN" altLang="en-US"/>
              <a:pPr/>
              <a:t>‹#›</a:t>
            </a:fld>
            <a:endParaRPr lang="en-IN" altLang="en-US"/>
          </a:p>
        </p:txBody>
      </p:sp>
    </p:spTree>
    <p:extLst>
      <p:ext uri="{BB962C8B-B14F-4D97-AF65-F5344CB8AC3E}">
        <p14:creationId xmlns:p14="http://schemas.microsoft.com/office/powerpoint/2010/main" val="1558727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3B2F070-B384-4CD0-B99F-A30399CEB237}"/>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EF5A6AD4-DB58-4EBC-944B-706D042F359B}"/>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8BF8BC24-6785-4461-B36C-3CCCD8CEBB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endParaRPr lang="en-IN"/>
          </a:p>
        </p:txBody>
      </p:sp>
      <p:sp>
        <p:nvSpPr>
          <p:cNvPr id="5" name="Footer Placeholder 4">
            <a:extLst>
              <a:ext uri="{FF2B5EF4-FFF2-40B4-BE49-F238E27FC236}">
                <a16:creationId xmlns:a16="http://schemas.microsoft.com/office/drawing/2014/main" id="{2BAAC468-0C9E-4D0D-BFC0-4AA19A4AA9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defRPr>
            </a:lvl1pPr>
          </a:lstStyle>
          <a:p>
            <a:pPr>
              <a:defRPr/>
            </a:pPr>
            <a:r>
              <a:rPr lang="en-US"/>
              <a:t>Dept of CSE,GAT                     2021-22                                                                                                           </a:t>
            </a:r>
            <a:endParaRPr lang="en-IN"/>
          </a:p>
        </p:txBody>
      </p:sp>
      <p:sp>
        <p:nvSpPr>
          <p:cNvPr id="6" name="Slide Number Placeholder 5">
            <a:extLst>
              <a:ext uri="{FF2B5EF4-FFF2-40B4-BE49-F238E27FC236}">
                <a16:creationId xmlns:a16="http://schemas.microsoft.com/office/drawing/2014/main" id="{67046068-D519-485E-9494-D3146CFAE18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B0D3E1A8-CB02-49C7-B2C5-C4EBD53BB114}"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hd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57D31-16A8-4CBC-976B-497F13E5698F}"/>
              </a:ext>
            </a:extLst>
          </p:cNvPr>
          <p:cNvSpPr>
            <a:spLocks noGrp="1"/>
          </p:cNvSpPr>
          <p:nvPr>
            <p:ph type="ctrTitle"/>
          </p:nvPr>
        </p:nvSpPr>
        <p:spPr>
          <a:xfrm>
            <a:off x="1060450" y="173038"/>
            <a:ext cx="10977563" cy="1058862"/>
          </a:xfrm>
        </p:spPr>
        <p:txBody>
          <a:bodyPr rtlCol="0">
            <a:noAutofit/>
          </a:bodyPr>
          <a:lstStyle/>
          <a:p>
            <a:pPr fontAlgn="auto">
              <a:spcAft>
                <a:spcPts val="0"/>
              </a:spcAft>
              <a:defRPr/>
            </a:pPr>
            <a:r>
              <a:rPr lang="en-IN" sz="2800" b="1" dirty="0">
                <a:solidFill>
                  <a:schemeClr val="accent1">
                    <a:lumMod val="75000"/>
                  </a:schemeClr>
                </a:solidFill>
                <a:latin typeface="Times New Roman" panose="02020603050405020304" pitchFamily="18" charset="0"/>
                <a:cs typeface="Times New Roman" panose="02020603050405020304" pitchFamily="18" charset="0"/>
              </a:rPr>
              <a:t>GLOBAL ACADEMY OF TECHNOLOGY</a:t>
            </a:r>
            <a:br>
              <a:rPr lang="en-IN" sz="2800" b="1" dirty="0">
                <a:solidFill>
                  <a:schemeClr val="accent1">
                    <a:lumMod val="75000"/>
                  </a:schemeClr>
                </a:solidFill>
                <a:latin typeface="Times New Roman" panose="02020603050405020304" pitchFamily="18" charset="0"/>
                <a:cs typeface="Times New Roman" panose="02020603050405020304" pitchFamily="18" charset="0"/>
              </a:rPr>
            </a:br>
            <a:r>
              <a:rPr lang="en-IN" sz="2800" b="1" dirty="0">
                <a:solidFill>
                  <a:srgbClr val="C00000"/>
                </a:solidFill>
                <a:latin typeface="Times New Roman" panose="02020603050405020304" pitchFamily="18" charset="0"/>
                <a:cs typeface="Times New Roman" panose="02020603050405020304" pitchFamily="18" charset="0"/>
              </a:rPr>
              <a:t>DEPARTMENT OF COMPUTER SCIENCE AND ENGINEERING</a:t>
            </a:r>
          </a:p>
        </p:txBody>
      </p:sp>
      <p:pic>
        <p:nvPicPr>
          <p:cNvPr id="4099" name="Picture 3" descr="K:\ns2 templates\KIRAN NS-2\college_logo3.png">
            <a:extLst>
              <a:ext uri="{FF2B5EF4-FFF2-40B4-BE49-F238E27FC236}">
                <a16:creationId xmlns:a16="http://schemas.microsoft.com/office/drawing/2014/main" id="{E1FC3CF1-A573-4939-9159-7C15F35E6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25" y="173038"/>
            <a:ext cx="92392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6">
            <a:extLst>
              <a:ext uri="{FF2B5EF4-FFF2-40B4-BE49-F238E27FC236}">
                <a16:creationId xmlns:a16="http://schemas.microsoft.com/office/drawing/2014/main" id="{CC975F29-D46D-4633-AC86-317A470C52FF}"/>
              </a:ext>
            </a:extLst>
          </p:cNvPr>
          <p:cNvGraphicFramePr>
            <a:graphicFrameLocks noGrp="1"/>
          </p:cNvGraphicFramePr>
          <p:nvPr>
            <p:extLst>
              <p:ext uri="{D42A27DB-BD31-4B8C-83A1-F6EECF244321}">
                <p14:modId xmlns:p14="http://schemas.microsoft.com/office/powerpoint/2010/main" val="1589266600"/>
              </p:ext>
            </p:extLst>
          </p:nvPr>
        </p:nvGraphicFramePr>
        <p:xfrm>
          <a:off x="1062038" y="1323975"/>
          <a:ext cx="10420350" cy="4829176"/>
        </p:xfrm>
        <a:graphic>
          <a:graphicData uri="http://schemas.openxmlformats.org/drawingml/2006/table">
            <a:tbl>
              <a:tblPr/>
              <a:tblGrid>
                <a:gridCol w="1366837">
                  <a:extLst>
                    <a:ext uri="{9D8B030D-6E8A-4147-A177-3AD203B41FA5}">
                      <a16:colId xmlns:a16="http://schemas.microsoft.com/office/drawing/2014/main" val="1753061745"/>
                    </a:ext>
                  </a:extLst>
                </a:gridCol>
                <a:gridCol w="5672138">
                  <a:extLst>
                    <a:ext uri="{9D8B030D-6E8A-4147-A177-3AD203B41FA5}">
                      <a16:colId xmlns:a16="http://schemas.microsoft.com/office/drawing/2014/main" val="2810612274"/>
                    </a:ext>
                  </a:extLst>
                </a:gridCol>
                <a:gridCol w="1198562">
                  <a:extLst>
                    <a:ext uri="{9D8B030D-6E8A-4147-A177-3AD203B41FA5}">
                      <a16:colId xmlns:a16="http://schemas.microsoft.com/office/drawing/2014/main" val="3872101471"/>
                    </a:ext>
                  </a:extLst>
                </a:gridCol>
                <a:gridCol w="2182813">
                  <a:extLst>
                    <a:ext uri="{9D8B030D-6E8A-4147-A177-3AD203B41FA5}">
                      <a16:colId xmlns:a16="http://schemas.microsoft.com/office/drawing/2014/main" val="2756061811"/>
                    </a:ext>
                  </a:extLst>
                </a:gridCol>
              </a:tblGrid>
              <a:tr h="565150">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 Name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Project Work Phase II</a:t>
                      </a:r>
                      <a:endParaRPr kumimoji="0" lang="en-IN" altLang="en-US" sz="20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Subject Code</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20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18CSP83</a:t>
                      </a:r>
                      <a:endParaRPr kumimoji="0" lang="en-IN" altLang="en-US" sz="2000" b="1" i="0" u="none" strike="noStrike" cap="none" normalizeH="0" baseline="0" dirty="0">
                        <a:ln>
                          <a:noFill/>
                        </a:ln>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79633592"/>
                  </a:ext>
                </a:extLst>
              </a:tr>
              <a:tr h="454025">
                <a:tc rowSpan="4">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Student Name</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cs typeface="Times New Roman" panose="02020603050405020304" pitchFamily="18" charset="0"/>
                        </a:rPr>
                        <a:t>AKHILADEVI M</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rowSpan="4">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USN</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l">
                        <a:lnSpc>
                          <a:spcPct val="115000"/>
                        </a:lnSpc>
                        <a:spcAft>
                          <a:spcPts val="1000"/>
                        </a:spcAft>
                      </a:pPr>
                      <a:r>
                        <a:rPr lang="en-US" sz="1600" b="1" dirty="0">
                          <a:effectLst/>
                          <a:latin typeface="Times New Roman" panose="02020603050405020304" pitchFamily="18" charset="0"/>
                          <a:cs typeface="Times New Roman" panose="02020603050405020304" pitchFamily="18" charset="0"/>
                        </a:rPr>
                        <a:t> 1GA18CS017</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1029336"/>
                  </a:ext>
                </a:extLst>
              </a:tr>
              <a:tr h="454025">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cs typeface="Times New Roman" panose="02020603050405020304" pitchFamily="18" charset="0"/>
                        </a:rPr>
                        <a:t>AMRUTHA M</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algn="l">
                        <a:lnSpc>
                          <a:spcPct val="115000"/>
                        </a:lnSpc>
                        <a:spcAft>
                          <a:spcPts val="1000"/>
                        </a:spcAft>
                      </a:pPr>
                      <a:r>
                        <a:rPr lang="en-US" sz="1600" b="1" dirty="0">
                          <a:effectLst/>
                          <a:latin typeface="Times New Roman" panose="02020603050405020304" pitchFamily="18" charset="0"/>
                          <a:cs typeface="Times New Roman" panose="02020603050405020304" pitchFamily="18" charset="0"/>
                        </a:rPr>
                        <a:t> 1GA18CS023</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9920807"/>
                  </a:ext>
                </a:extLst>
              </a:tr>
              <a:tr h="454025">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cs typeface="Times New Roman" panose="02020603050405020304" pitchFamily="18" charset="0"/>
                        </a:rPr>
                        <a:t>CHANDANASHREE K R</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algn="l">
                        <a:lnSpc>
                          <a:spcPct val="115000"/>
                        </a:lnSpc>
                        <a:spcAft>
                          <a:spcPts val="1000"/>
                        </a:spcAft>
                      </a:pPr>
                      <a:r>
                        <a:rPr lang="en-US" sz="1600" b="1" dirty="0">
                          <a:effectLst/>
                          <a:latin typeface="Times New Roman" panose="02020603050405020304" pitchFamily="18" charset="0"/>
                          <a:cs typeface="Times New Roman" panose="02020603050405020304" pitchFamily="18" charset="0"/>
                        </a:rPr>
                        <a:t> 1GA18CS045</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8772788"/>
                  </a:ext>
                </a:extLst>
              </a:tr>
              <a:tr h="454025">
                <a:tc vMerge="1">
                  <a:txBody>
                    <a:bodyPr/>
                    <a:lstStyle/>
                    <a:p>
                      <a:endParaRPr lang="en-US"/>
                    </a:p>
                  </a:txBody>
                  <a:tcPr/>
                </a:tc>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1600" b="1" dirty="0">
                          <a:effectLst/>
                          <a:latin typeface="Times New Roman" panose="02020603050405020304" pitchFamily="18" charset="0"/>
                          <a:cs typeface="Times New Roman" panose="02020603050405020304" pitchFamily="18" charset="0"/>
                        </a:rPr>
                        <a:t>AMRUTHA K</a:t>
                      </a:r>
                      <a:endParaRPr kumimoji="0" lang="en-IN" altLang="en-US" sz="1600" b="1"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vMerge="1">
                  <a:txBody>
                    <a:bodyPr/>
                    <a:lstStyle/>
                    <a:p>
                      <a:endParaRPr lang="en-US"/>
                    </a:p>
                  </a:txBody>
                  <a:tcPr/>
                </a:tc>
                <a:tc>
                  <a:txBody>
                    <a:bodyPr/>
                    <a:lstStyle/>
                    <a:p>
                      <a:pPr algn="l">
                        <a:lnSpc>
                          <a:spcPct val="115000"/>
                        </a:lnSpc>
                        <a:spcAft>
                          <a:spcPts val="1000"/>
                        </a:spcAft>
                      </a:pPr>
                      <a:r>
                        <a:rPr lang="en-US" sz="1600" b="1" dirty="0">
                          <a:effectLst/>
                          <a:latin typeface="Times New Roman" panose="02020603050405020304" pitchFamily="18" charset="0"/>
                          <a:cs typeface="Times New Roman" panose="02020603050405020304" pitchFamily="18" charset="0"/>
                        </a:rPr>
                        <a:t> 1GA18CS194</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86329980"/>
                  </a:ext>
                </a:extLst>
              </a:tr>
              <a:tr h="658813">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Domain</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algn="just">
                        <a:lnSpc>
                          <a:spcPct val="150000"/>
                        </a:lnSpc>
                        <a:spcAft>
                          <a:spcPts val="1000"/>
                        </a:spcAft>
                      </a:pPr>
                      <a:r>
                        <a:rPr lang="en-US" sz="1600" b="1" dirty="0">
                          <a:effectLst/>
                          <a:latin typeface="Times New Roman" panose="02020603050405020304" pitchFamily="18" charset="0"/>
                          <a:cs typeface="Times New Roman" panose="02020603050405020304" pitchFamily="18" charset="0"/>
                        </a:rPr>
                        <a:t> MACHINE LEARNING</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endParaRPr lang="en-IN"/>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endParaRPr lang="en-IN"/>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7781094"/>
                  </a:ext>
                </a:extLst>
              </a:tr>
              <a:tr h="658813">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Project Title</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gridSpan="3">
                  <a:txBody>
                    <a:bodyPr/>
                    <a:lstStyle/>
                    <a:p>
                      <a:pPr algn="just">
                        <a:lnSpc>
                          <a:spcPct val="150000"/>
                        </a:lnSpc>
                        <a:spcAft>
                          <a:spcPts val="1000"/>
                        </a:spcAft>
                      </a:pPr>
                      <a:r>
                        <a:rPr lang="en-US" sz="1600" b="1" dirty="0">
                          <a:effectLst/>
                          <a:latin typeface="Times New Roman" panose="02020603050405020304" pitchFamily="18" charset="0"/>
                          <a:cs typeface="Times New Roman" panose="02020603050405020304" pitchFamily="18" charset="0"/>
                        </a:rPr>
                        <a:t>“ROAD ACCIDENT ANALYSIS USING KNN MACHINE </a:t>
                      </a:r>
                      <a:r>
                        <a:rPr lang="en-IN" sz="1600" b="1" dirty="0">
                          <a:effectLst/>
                          <a:latin typeface="Times New Roman" panose="02020603050405020304" pitchFamily="18" charset="0"/>
                          <a:cs typeface="Times New Roman" panose="02020603050405020304" pitchFamily="18" charset="0"/>
                        </a:rPr>
                        <a:t>LEARNING ALGORITHM</a:t>
                      </a:r>
                      <a:r>
                        <a:rPr lang="en-US" sz="1600" b="1" dirty="0">
                          <a:effectLst/>
                          <a:latin typeface="Times New Roman" panose="02020603050405020304" pitchFamily="18" charset="0"/>
                          <a:cs typeface="Times New Roman" panose="02020603050405020304" pitchFamily="18" charset="0"/>
                        </a:rPr>
                        <a:t>”</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04051003"/>
                  </a:ext>
                </a:extLst>
              </a:tr>
              <a:tr h="565150">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 taken at</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gridSpan="3">
                  <a:txBody>
                    <a:bodyPr/>
                    <a:lstStyle/>
                    <a:p>
                      <a:pPr marR="3175" algn="l">
                        <a:lnSpc>
                          <a:spcPct val="150000"/>
                        </a:lnSpc>
                        <a:spcAft>
                          <a:spcPts val="1000"/>
                        </a:spcAft>
                      </a:pPr>
                      <a:r>
                        <a:rPr lang="en-US" sz="1600" b="1" dirty="0">
                          <a:effectLst/>
                          <a:latin typeface="Times New Roman" panose="02020603050405020304" pitchFamily="18" charset="0"/>
                          <a:cs typeface="Times New Roman" panose="02020603050405020304" pitchFamily="18" charset="0"/>
                        </a:rPr>
                        <a:t> GLOBAL ACADEMY OF TECHNOLOGY</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15626723"/>
                  </a:ext>
                </a:extLst>
              </a:tr>
              <a:tr h="565150">
                <a:tc>
                  <a: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marL="0" marR="0" lvl="0" indent="0" algn="l" defTabSz="914400" rtl="0" eaLnBrk="1" fontAlgn="base" latinLnBrk="0" hangingPunct="1">
                        <a:lnSpc>
                          <a:spcPct val="150000"/>
                        </a:lnSpc>
                        <a:spcBef>
                          <a:spcPct val="0"/>
                        </a:spcBef>
                        <a:spcAft>
                          <a:spcPts val="1000"/>
                        </a:spcAft>
                        <a:buClrTx/>
                        <a:buSzTx/>
                        <a:buFontTx/>
                        <a:buNone/>
                        <a:tabLst/>
                      </a:pPr>
                      <a:r>
                        <a:rPr kumimoji="0" lang="en-US" altLang="en-US" sz="1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Guide Name</a:t>
                      </a:r>
                      <a:endParaRPr kumimoji="0" lang="en-IN" altLang="en-US" sz="16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gridSpan="3">
                  <a:txBody>
                    <a:bodyPr/>
                    <a:lstStyle/>
                    <a:p>
                      <a:pPr marR="3175" algn="l">
                        <a:lnSpc>
                          <a:spcPct val="150000"/>
                        </a:lnSpc>
                        <a:spcAft>
                          <a:spcPts val="1000"/>
                        </a:spcAft>
                      </a:pPr>
                      <a:r>
                        <a:rPr lang="en-US" sz="1600" b="1" dirty="0">
                          <a:effectLst/>
                          <a:latin typeface="Times New Roman" panose="02020603050405020304" pitchFamily="18" charset="0"/>
                          <a:cs typeface="Times New Roman" panose="02020603050405020304" pitchFamily="18" charset="0"/>
                        </a:rPr>
                        <a:t>  Dr. ANITHA K</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350" marR="6350"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09979032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4D770D4D-54C1-41F0-84FD-E5BF7FB5CE66}"/>
              </a:ext>
            </a:extLst>
          </p:cNvPr>
          <p:cNvSpPr>
            <a:spLocks noGrp="1"/>
          </p:cNvSpPr>
          <p:nvPr>
            <p:ph type="title"/>
          </p:nvPr>
        </p:nvSpPr>
        <p:spPr>
          <a:xfrm>
            <a:off x="838200" y="365125"/>
            <a:ext cx="10515600" cy="703263"/>
          </a:xfrm>
        </p:spPr>
        <p:txBody>
          <a:bodyPr/>
          <a:lstStyle/>
          <a:p>
            <a:r>
              <a:rPr lang="en-IN" altLang="en-US" b="1" dirty="0">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3B2B680A-6C38-4013-8DEC-DCDB56AC90EE}"/>
              </a:ext>
            </a:extLst>
          </p:cNvPr>
          <p:cNvSpPr>
            <a:spLocks noGrp="1"/>
          </p:cNvSpPr>
          <p:nvPr>
            <p:ph idx="1"/>
          </p:nvPr>
        </p:nvSpPr>
        <p:spPr>
          <a:xfrm>
            <a:off x="838200" y="1247326"/>
            <a:ext cx="10515600" cy="5221288"/>
          </a:xfrm>
        </p:spPr>
        <p:txBody>
          <a:bodyPr rtlCol="0">
            <a:normAutofit/>
          </a:bodyPr>
          <a:lstStyle/>
          <a:p>
            <a:pPr fontAlgn="auto">
              <a:spcAft>
                <a:spcPts val="0"/>
              </a:spcAft>
              <a:defRPr/>
            </a:pPr>
            <a:r>
              <a:rPr lang="en-IN" dirty="0">
                <a:latin typeface="Times New Roman" panose="02020603050405020304" pitchFamily="18" charset="0"/>
                <a:cs typeface="Times New Roman" panose="02020603050405020304" pitchFamily="18" charset="0"/>
              </a:rPr>
              <a:t>Introduction</a:t>
            </a:r>
          </a:p>
          <a:p>
            <a:pPr fontAlgn="auto">
              <a:spcAft>
                <a:spcPts val="0"/>
              </a:spcAft>
              <a:defRPr/>
            </a:pPr>
            <a:r>
              <a:rPr lang="en-IN" dirty="0">
                <a:latin typeface="Times New Roman" panose="02020603050405020304" pitchFamily="18" charset="0"/>
                <a:cs typeface="Times New Roman" panose="02020603050405020304" pitchFamily="18" charset="0"/>
              </a:rPr>
              <a:t>Problem Statement</a:t>
            </a:r>
          </a:p>
          <a:p>
            <a:pPr fontAlgn="auto">
              <a:spcAft>
                <a:spcPts val="0"/>
              </a:spcAft>
              <a:defRPr/>
            </a:pPr>
            <a:r>
              <a:rPr lang="en-IN" dirty="0">
                <a:latin typeface="Times New Roman" panose="02020603050405020304" pitchFamily="18" charset="0"/>
                <a:cs typeface="Times New Roman" panose="02020603050405020304" pitchFamily="18" charset="0"/>
              </a:rPr>
              <a:t>Objectives</a:t>
            </a:r>
          </a:p>
          <a:p>
            <a:pPr fontAlgn="auto">
              <a:spcAft>
                <a:spcPts val="0"/>
              </a:spcAft>
              <a:defRPr/>
            </a:pPr>
            <a:r>
              <a:rPr lang="en-IN" dirty="0">
                <a:latin typeface="Times New Roman" panose="02020603050405020304" pitchFamily="18" charset="0"/>
                <a:cs typeface="Times New Roman" panose="02020603050405020304" pitchFamily="18" charset="0"/>
              </a:rPr>
              <a:t>Existing System</a:t>
            </a:r>
          </a:p>
          <a:p>
            <a:pPr fontAlgn="auto">
              <a:spcAft>
                <a:spcPts val="0"/>
              </a:spcAft>
              <a:defRPr/>
            </a:pPr>
            <a:r>
              <a:rPr lang="en-IN" dirty="0">
                <a:latin typeface="Times New Roman" panose="02020603050405020304" pitchFamily="18" charset="0"/>
                <a:cs typeface="Times New Roman" panose="02020603050405020304" pitchFamily="18" charset="0"/>
              </a:rPr>
              <a:t>Proposed System</a:t>
            </a:r>
          </a:p>
          <a:p>
            <a:pPr fontAlgn="auto">
              <a:spcAft>
                <a:spcPts val="0"/>
              </a:spcAft>
              <a:defRPr/>
            </a:pPr>
            <a:r>
              <a:rPr lang="en-IN" dirty="0">
                <a:latin typeface="Times New Roman" panose="02020603050405020304" pitchFamily="18" charset="0"/>
                <a:cs typeface="Times New Roman" panose="02020603050405020304" pitchFamily="18" charset="0"/>
              </a:rPr>
              <a:t>System Design</a:t>
            </a:r>
          </a:p>
          <a:p>
            <a:pPr fontAlgn="auto">
              <a:spcAft>
                <a:spcPts val="0"/>
              </a:spcAft>
              <a:defRPr/>
            </a:pPr>
            <a:r>
              <a:rPr lang="en-IN" dirty="0">
                <a:latin typeface="Times New Roman" panose="02020603050405020304" pitchFamily="18" charset="0"/>
                <a:cs typeface="Times New Roman" panose="02020603050405020304" pitchFamily="18" charset="0"/>
              </a:rPr>
              <a:t>High-Level Design </a:t>
            </a:r>
          </a:p>
          <a:p>
            <a:pPr fontAlgn="auto">
              <a:spcAft>
                <a:spcPts val="0"/>
              </a:spcAft>
              <a:defRPr/>
            </a:pPr>
            <a:r>
              <a:rPr lang="en-IN" dirty="0">
                <a:latin typeface="Times New Roman" panose="02020603050405020304" pitchFamily="18" charset="0"/>
                <a:cs typeface="Times New Roman" panose="02020603050405020304" pitchFamily="18" charset="0"/>
              </a:rPr>
              <a:t>Implementation Modules</a:t>
            </a:r>
          </a:p>
          <a:p>
            <a:pPr fontAlgn="auto">
              <a:spcAft>
                <a:spcPts val="0"/>
              </a:spcAft>
              <a:defRPr/>
            </a:pPr>
            <a:r>
              <a:rPr lang="en-IN" dirty="0">
                <a:latin typeface="Times New Roman" panose="02020603050405020304" pitchFamily="18" charset="0"/>
                <a:cs typeface="Times New Roman" panose="02020603050405020304" pitchFamily="18" charset="0"/>
              </a:rPr>
              <a:t>Conclusion</a:t>
            </a:r>
          </a:p>
          <a:p>
            <a:pPr fontAlgn="auto">
              <a:spcAft>
                <a:spcPts val="0"/>
              </a:spcAft>
              <a:defRPr/>
            </a:pPr>
            <a:r>
              <a:rPr lang="en-IN" dirty="0">
                <a:latin typeface="Times New Roman" panose="02020603050405020304" pitchFamily="18" charset="0"/>
                <a:cs typeface="Times New Roman" panose="02020603050405020304" pitchFamily="18" charset="0"/>
              </a:rPr>
              <a:t>References </a:t>
            </a:r>
            <a:endParaRPr lang="en-IN" sz="2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A58A65C4-C01F-4288-9ABE-F60137948D55}"/>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B5FD5540-4519-4A87-BC1F-BE314C4127B3}" type="slidenum">
              <a:rPr lang="en-IN" altLang="en-US">
                <a:solidFill>
                  <a:srgbClr val="898989"/>
                </a:solidFill>
              </a:rPr>
              <a:pPr/>
              <a:t>2</a:t>
            </a:fld>
            <a:endParaRPr lang="en-IN" altLang="en-US">
              <a:solidFill>
                <a:srgbClr val="898989"/>
              </a:solidFill>
            </a:endParaRPr>
          </a:p>
        </p:txBody>
      </p:sp>
      <p:sp>
        <p:nvSpPr>
          <p:cNvPr id="11" name="Footer Placeholder 10">
            <a:extLst>
              <a:ext uri="{FF2B5EF4-FFF2-40B4-BE49-F238E27FC236}">
                <a16:creationId xmlns:a16="http://schemas.microsoft.com/office/drawing/2014/main" id="{6FFA6828-B75A-4F9C-B6D3-F360D1467865}"/>
              </a:ext>
            </a:extLst>
          </p:cNvPr>
          <p:cNvSpPr>
            <a:spLocks noGrp="1"/>
          </p:cNvSpPr>
          <p:nvPr>
            <p:ph type="ftr" sz="quarter" idx="10"/>
          </p:nvPr>
        </p:nvSpPr>
        <p:spPr/>
        <p:txBody>
          <a:bodyPr/>
          <a:lstStyle/>
          <a:p>
            <a:pPr>
              <a:defRPr/>
            </a:pPr>
            <a:r>
              <a:rPr lang="en-US"/>
              <a:t>Dept of CSE,GAT                     2021-22                                                                                                           </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8A2842A6-2458-42CE-B956-C5AF33DB3E9C}"/>
              </a:ext>
            </a:extLst>
          </p:cNvPr>
          <p:cNvSpPr>
            <a:spLocks noGrp="1"/>
          </p:cNvSpPr>
          <p:nvPr>
            <p:ph type="title"/>
          </p:nvPr>
        </p:nvSpPr>
        <p:spPr/>
        <p:txBody>
          <a:bodyPr/>
          <a:lstStyle/>
          <a:p>
            <a:r>
              <a:rPr lang="en-IN" altLang="en-US" b="1" dirty="0">
                <a:latin typeface="Times New Roman" panose="02020603050405020304" pitchFamily="18" charset="0"/>
                <a:cs typeface="Times New Roman" panose="02020603050405020304" pitchFamily="18" charset="0"/>
              </a:rPr>
              <a:t>Introduction</a:t>
            </a:r>
          </a:p>
        </p:txBody>
      </p:sp>
      <p:sp>
        <p:nvSpPr>
          <p:cNvPr id="6147" name="Content Placeholder 2">
            <a:extLst>
              <a:ext uri="{FF2B5EF4-FFF2-40B4-BE49-F238E27FC236}">
                <a16:creationId xmlns:a16="http://schemas.microsoft.com/office/drawing/2014/main" id="{E58B38B8-E625-48EF-AFA6-6AB64922AFD9}"/>
              </a:ext>
            </a:extLst>
          </p:cNvPr>
          <p:cNvSpPr>
            <a:spLocks noGrp="1"/>
          </p:cNvSpPr>
          <p:nvPr>
            <p:ph idx="1"/>
          </p:nvPr>
        </p:nvSpPr>
        <p:spPr>
          <a:xfrm>
            <a:off x="838200" y="1437132"/>
            <a:ext cx="10515600" cy="4865700"/>
          </a:xfrm>
        </p:spPr>
        <p:txBody>
          <a:bodyPr/>
          <a:lstStyle/>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is the study of computer algorithms that can improve automatically through experience and by the use of data. It is seen as a part of artificial Intelligence. </a:t>
            </a:r>
          </a:p>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algorithms build a model based on sample data, known as “training data”, to make predictions or decisions without being explicitly programmed to do so. </a:t>
            </a:r>
          </a:p>
          <a:p>
            <a:pPr algn="just">
              <a:lnSpc>
                <a:spcPct val="15000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algorithms are used in a wide variety of applications, such as in medicine, email filtering, speech recognition, and computer vision.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7E504A6B-ED39-4DEE-A244-01412FCBC8A7}"/>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88932AD7-75E8-4031-89A9-A864346EDD5E}" type="slidenum">
              <a:rPr lang="en-IN" altLang="en-US">
                <a:solidFill>
                  <a:srgbClr val="898989"/>
                </a:solidFill>
              </a:rPr>
              <a:pPr/>
              <a:t>3</a:t>
            </a:fld>
            <a:endParaRPr lang="en-IN" altLang="en-US">
              <a:solidFill>
                <a:srgbClr val="898989"/>
              </a:solidFill>
            </a:endParaRPr>
          </a:p>
        </p:txBody>
      </p:sp>
      <p:sp>
        <p:nvSpPr>
          <p:cNvPr id="12" name="Footer Placeholder 11">
            <a:extLst>
              <a:ext uri="{FF2B5EF4-FFF2-40B4-BE49-F238E27FC236}">
                <a16:creationId xmlns:a16="http://schemas.microsoft.com/office/drawing/2014/main" id="{CB511168-25A2-4741-B057-1267CFDF11D6}"/>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BDA6BF2-0170-4479-9703-525B3423F99E}"/>
              </a:ext>
            </a:extLst>
          </p:cNvPr>
          <p:cNvSpPr>
            <a:spLocks noGrp="1"/>
          </p:cNvSpPr>
          <p:nvPr>
            <p:ph type="title"/>
          </p:nvPr>
        </p:nvSpPr>
        <p:spPr/>
        <p:txBody>
          <a:bodyPr/>
          <a:lstStyle/>
          <a:p>
            <a:r>
              <a:rPr lang="en-IN" altLang="en-US" b="1"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D50B7882-024E-44C8-BB39-0FDA6AA8CB65}"/>
              </a:ext>
            </a:extLst>
          </p:cNvPr>
          <p:cNvSpPr>
            <a:spLocks noGrp="1"/>
          </p:cNvSpPr>
          <p:nvPr>
            <p:ph idx="1"/>
          </p:nvPr>
        </p:nvSpPr>
        <p:spPr/>
        <p:txBody>
          <a:bodyPr rtlCol="0">
            <a:normAutofit/>
          </a:bodyPr>
          <a:lstStyle/>
          <a:p>
            <a:pPr algn="just" fontAlgn="auto">
              <a:lnSpc>
                <a:spcPct val="150000"/>
              </a:lnSpc>
              <a:spcAft>
                <a:spcPts val="0"/>
              </a:spcAft>
              <a:defRPr/>
            </a:pPr>
            <a:r>
              <a:rPr lang="en-US" sz="2400" dirty="0">
                <a:latin typeface="Times New Roman" panose="02020603050405020304" pitchFamily="18" charset="0"/>
                <a:cs typeface="Times New Roman" panose="02020603050405020304" pitchFamily="18" charset="0"/>
              </a:rPr>
              <a:t>Road condition monitoring is a challenging worldwide problem in the field of transportation. Poor road surface conditions create a risk of damage to vehicles and increase the chances of traffic accidents. To minimize accidents, KNN Machine Learning Algorithms are used to predict and analyze the road accidents.</a:t>
            </a:r>
            <a:endParaRPr lang="en-IN" sz="2400" dirty="0">
              <a:latin typeface="Times New Roman" panose="02020603050405020304" pitchFamily="18" charset="0"/>
              <a:cs typeface="Times New Roman" panose="02020603050405020304" pitchFamily="18" charset="0"/>
            </a:endParaRPr>
          </a:p>
          <a:p>
            <a:pPr fontAlgn="auto">
              <a:spcAft>
                <a:spcPts val="0"/>
              </a:spcAft>
              <a:defRPr/>
            </a:pPr>
            <a:endParaRPr lang="en-IN" dirty="0"/>
          </a:p>
          <a:p>
            <a:pPr marL="0" indent="0" fontAlgn="auto">
              <a:spcAft>
                <a:spcPts val="0"/>
              </a:spcAft>
              <a:buFont typeface="Arial" panose="020B0604020202020204" pitchFamily="34" charset="0"/>
              <a:buNone/>
              <a:defRPr/>
            </a:pPr>
            <a:endParaRPr lang="en-IN" dirty="0"/>
          </a:p>
        </p:txBody>
      </p:sp>
      <p:sp>
        <p:nvSpPr>
          <p:cNvPr id="9" name="Slide Number Placeholder 8">
            <a:extLst>
              <a:ext uri="{FF2B5EF4-FFF2-40B4-BE49-F238E27FC236}">
                <a16:creationId xmlns:a16="http://schemas.microsoft.com/office/drawing/2014/main" id="{4022920F-3D6B-4072-A9A8-AB2C9505DD1F}"/>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C629EAA-1A66-46C7-8CCE-31F50577522B}" type="slidenum">
              <a:rPr lang="en-IN" altLang="en-US">
                <a:solidFill>
                  <a:srgbClr val="898989"/>
                </a:solidFill>
              </a:rPr>
              <a:pPr/>
              <a:t>4</a:t>
            </a:fld>
            <a:endParaRPr lang="en-IN" altLang="en-US">
              <a:solidFill>
                <a:srgbClr val="898989"/>
              </a:solidFill>
            </a:endParaRPr>
          </a:p>
        </p:txBody>
      </p:sp>
      <p:sp>
        <p:nvSpPr>
          <p:cNvPr id="10" name="Footer Placeholder 9">
            <a:extLst>
              <a:ext uri="{FF2B5EF4-FFF2-40B4-BE49-F238E27FC236}">
                <a16:creationId xmlns:a16="http://schemas.microsoft.com/office/drawing/2014/main" id="{643F6DC9-01B5-4E06-BACE-BA33FAA559CB}"/>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469FDDD-5736-48EC-9005-0048383A648E}"/>
              </a:ext>
            </a:extLst>
          </p:cNvPr>
          <p:cNvSpPr>
            <a:spLocks noGrp="1"/>
          </p:cNvSpPr>
          <p:nvPr>
            <p:ph type="title"/>
          </p:nvPr>
        </p:nvSpPr>
        <p:spPr/>
        <p:txBody>
          <a:bodyPr/>
          <a:lstStyle/>
          <a:p>
            <a:r>
              <a:rPr lang="en-IN" altLang="en-US" b="1" dirty="0">
                <a:latin typeface="Times New Roman" panose="02020603050405020304" pitchFamily="18" charset="0"/>
                <a:cs typeface="Times New Roman" panose="02020603050405020304" pitchFamily="18" charset="0"/>
              </a:rPr>
              <a:t>Objectives</a:t>
            </a:r>
            <a:r>
              <a:rPr lang="en-IN" altLang="en-US" b="1" dirty="0"/>
              <a:t> </a:t>
            </a:r>
          </a:p>
        </p:txBody>
      </p:sp>
      <p:sp>
        <p:nvSpPr>
          <p:cNvPr id="8195" name="Content Placeholder 2">
            <a:extLst>
              <a:ext uri="{FF2B5EF4-FFF2-40B4-BE49-F238E27FC236}">
                <a16:creationId xmlns:a16="http://schemas.microsoft.com/office/drawing/2014/main" id="{E27CF51A-2DB6-4262-B2B3-A868B7A4478D}"/>
              </a:ext>
            </a:extLst>
          </p:cNvPr>
          <p:cNvSpPr>
            <a:spLocks noGrp="1"/>
          </p:cNvSpPr>
          <p:nvPr>
            <p:ph idx="1"/>
          </p:nvPr>
        </p:nvSpPr>
        <p:spPr/>
        <p:txBody>
          <a:bodyPr/>
          <a:lstStyle/>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design and develop the model which will be cost-effective, simple, and determine the accuracy of accidents using the KNN Algorithm.</a:t>
            </a:r>
          </a:p>
          <a:p>
            <a:pPr marL="457200" indent="-4572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analyze the previously occurred accidents in the locality which will help us to determine the most accident-prone area.</a:t>
            </a:r>
          </a:p>
          <a:p>
            <a:pPr marL="457200" indent="-457200" algn="just">
              <a:buFont typeface="Arial" panose="020B0604020202020204" pitchFamily="34" charset="0"/>
              <a:buChar char="•"/>
            </a:pPr>
            <a:endParaRPr lang="en-IN" sz="2400" b="0" i="0" dirty="0">
              <a:solidFill>
                <a:srgbClr val="000000"/>
              </a:solidFill>
              <a:effectLst/>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make predictions based on constraints like weather, Light conditions, road structure, etc</a:t>
            </a:r>
            <a:r>
              <a:rPr lang="en-US"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E0A92178-EDDD-422D-9C3A-D1ED4052CD20}"/>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62273891-FC09-4C56-A21E-C468E68F0198}" type="slidenum">
              <a:rPr lang="en-IN" altLang="en-US">
                <a:solidFill>
                  <a:srgbClr val="898989"/>
                </a:solidFill>
              </a:rPr>
              <a:pPr/>
              <a:t>5</a:t>
            </a:fld>
            <a:endParaRPr lang="en-IN" altLang="en-US">
              <a:solidFill>
                <a:srgbClr val="898989"/>
              </a:solidFill>
            </a:endParaRPr>
          </a:p>
        </p:txBody>
      </p:sp>
      <p:sp>
        <p:nvSpPr>
          <p:cNvPr id="10" name="Footer Placeholder 9">
            <a:extLst>
              <a:ext uri="{FF2B5EF4-FFF2-40B4-BE49-F238E27FC236}">
                <a16:creationId xmlns:a16="http://schemas.microsoft.com/office/drawing/2014/main" id="{4CBE9510-9E12-41A5-B572-0C638F7C32A1}"/>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A5BAF37-266C-45F4-B727-4A5208CF93DB}"/>
              </a:ext>
            </a:extLst>
          </p:cNvPr>
          <p:cNvSpPr>
            <a:spLocks noGrp="1"/>
          </p:cNvSpPr>
          <p:nvPr>
            <p:ph type="title"/>
          </p:nvPr>
        </p:nvSpPr>
        <p:spPr>
          <a:xfrm>
            <a:off x="838200" y="212724"/>
            <a:ext cx="10515600" cy="1325563"/>
          </a:xfrm>
        </p:spPr>
        <p:txBody>
          <a:bodyPr/>
          <a:lstStyle/>
          <a:p>
            <a:r>
              <a:rPr lang="en-IN" altLang="en-US" b="1" dirty="0">
                <a:latin typeface="Times New Roman" panose="02020603050405020304" pitchFamily="18" charset="0"/>
                <a:cs typeface="Times New Roman" panose="02020603050405020304" pitchFamily="18" charset="0"/>
              </a:rPr>
              <a:t>Existing System</a:t>
            </a:r>
          </a:p>
        </p:txBody>
      </p:sp>
      <p:sp>
        <p:nvSpPr>
          <p:cNvPr id="9219" name="Content Placeholder 2">
            <a:extLst>
              <a:ext uri="{FF2B5EF4-FFF2-40B4-BE49-F238E27FC236}">
                <a16:creationId xmlns:a16="http://schemas.microsoft.com/office/drawing/2014/main" id="{C6739F40-3A44-48ED-B40F-F07D75537DA8}"/>
              </a:ext>
            </a:extLst>
          </p:cNvPr>
          <p:cNvSpPr>
            <a:spLocks noGrp="1"/>
          </p:cNvSpPr>
          <p:nvPr>
            <p:ph idx="1"/>
          </p:nvPr>
        </p:nvSpPr>
        <p:spPr>
          <a:xfrm>
            <a:off x="838200" y="1379309"/>
            <a:ext cx="10515600" cy="5353051"/>
          </a:xfrm>
        </p:spPr>
        <p:txBody>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1. </a:t>
            </a:r>
            <a:r>
              <a:rPr lang="en-US" altLang="en-US" sz="2400" dirty="0" err="1">
                <a:latin typeface="Times New Roman" panose="02020603050405020304" pitchFamily="18" charset="0"/>
                <a:cs typeface="Times New Roman" panose="02020603050405020304" pitchFamily="18" charset="0"/>
              </a:rPr>
              <a:t>Sachin</a:t>
            </a:r>
            <a:r>
              <a:rPr lang="en-US" altLang="en-US" sz="2400" dirty="0">
                <a:latin typeface="Times New Roman" panose="02020603050405020304" pitchFamily="18" charset="0"/>
                <a:cs typeface="Times New Roman" panose="02020603050405020304" pitchFamily="18" charset="0"/>
              </a:rPr>
              <a:t> Kumar: Used data mining techniques to identify the locations where high-frequency accidents occurred and then analyzed them to identify the factors that have an effect on road accidents at that locations. </a:t>
            </a:r>
          </a:p>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2. </a:t>
            </a:r>
            <a:r>
              <a:rPr lang="en-US" altLang="en-US" sz="2400" dirty="0" err="1">
                <a:latin typeface="Times New Roman" panose="02020603050405020304" pitchFamily="18" charset="0"/>
                <a:cs typeface="Times New Roman" panose="02020603050405020304" pitchFamily="18" charset="0"/>
              </a:rPr>
              <a:t>S.Shanthi</a:t>
            </a:r>
            <a:r>
              <a:rPr lang="en-US" altLang="en-US" sz="2400" dirty="0">
                <a:latin typeface="Times New Roman" panose="02020603050405020304" pitchFamily="18" charset="0"/>
                <a:cs typeface="Times New Roman" panose="02020603050405020304" pitchFamily="18" charset="0"/>
              </a:rPr>
              <a:t>: Proposed data mining classification technology based on gender classification, in which </a:t>
            </a:r>
            <a:r>
              <a:rPr lang="en-US" altLang="en-US" sz="2400" dirty="0" err="1">
                <a:latin typeface="Times New Roman" panose="02020603050405020304" pitchFamily="18" charset="0"/>
                <a:cs typeface="Times New Roman" panose="02020603050405020304" pitchFamily="18" charset="0"/>
              </a:rPr>
              <a:t>RndTree</a:t>
            </a:r>
            <a:r>
              <a:rPr lang="en-US" altLang="en-US" sz="2400" dirty="0">
                <a:latin typeface="Times New Roman" panose="02020603050405020304" pitchFamily="18" charset="0"/>
                <a:cs typeface="Times New Roman" panose="02020603050405020304" pitchFamily="18" charset="0"/>
              </a:rPr>
              <a:t> and C4.S use AdaBoost Meta classifier to provide high-precision results.</a:t>
            </a:r>
          </a:p>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3. </a:t>
            </a:r>
            <a:r>
              <a:rPr lang="en-US" altLang="en-US" sz="2400" dirty="0" err="1">
                <a:latin typeface="Times New Roman" panose="02020603050405020304" pitchFamily="18" charset="0"/>
                <a:cs typeface="Times New Roman" panose="02020603050405020304" pitchFamily="18" charset="0"/>
              </a:rPr>
              <a:t>Lukuman</a:t>
            </a:r>
            <a:r>
              <a:rPr lang="en-US" altLang="en-US" sz="2400" dirty="0">
                <a:latin typeface="Times New Roman" panose="02020603050405020304" pitchFamily="18" charset="0"/>
                <a:cs typeface="Times New Roman" panose="02020603050405020304" pitchFamily="18" charset="0"/>
              </a:rPr>
              <a:t> Wahab, </a:t>
            </a:r>
            <a:r>
              <a:rPr lang="en-US" altLang="en-US" sz="2400" dirty="0" err="1">
                <a:latin typeface="Times New Roman" panose="02020603050405020304" pitchFamily="18" charset="0"/>
                <a:cs typeface="Times New Roman" panose="02020603050405020304" pitchFamily="18" charset="0"/>
              </a:rPr>
              <a:t>Haobin</a:t>
            </a:r>
            <a:r>
              <a:rPr lang="en-US" altLang="en-US" sz="2400" dirty="0">
                <a:latin typeface="Times New Roman" panose="02020603050405020304" pitchFamily="18" charset="0"/>
                <a:cs typeface="Times New Roman" panose="02020603050405020304" pitchFamily="18" charset="0"/>
              </a:rPr>
              <a:t> Jiang: </a:t>
            </a:r>
            <a:r>
              <a:rPr lang="en-US" sz="2400" dirty="0">
                <a:effectLst/>
                <a:latin typeface="Times New Roman" panose="02020603050405020304" pitchFamily="18" charset="0"/>
                <a:ea typeface="Symbol" panose="05050102010706020507" pitchFamily="18" charset="2"/>
                <a:cs typeface="Times New Roman" panose="02020603050405020304" pitchFamily="18" charset="0"/>
              </a:rPr>
              <a:t>In this research machine learning based algorithms is proposed to predict</a:t>
            </a:r>
            <a:r>
              <a:rPr lang="en-US" sz="2400"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400" dirty="0">
                <a:effectLst/>
                <a:latin typeface="Times New Roman" panose="02020603050405020304" pitchFamily="18" charset="0"/>
                <a:ea typeface="Symbol" panose="05050102010706020507" pitchFamily="18" charset="2"/>
                <a:cs typeface="Times New Roman" panose="02020603050405020304" pitchFamily="18" charset="0"/>
              </a:rPr>
              <a:t>motorcycle</a:t>
            </a:r>
            <a:r>
              <a:rPr lang="en-US" sz="2400" spc="-30"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400" dirty="0">
                <a:effectLst/>
                <a:latin typeface="Times New Roman" panose="02020603050405020304" pitchFamily="18" charset="0"/>
                <a:ea typeface="Symbol" panose="05050102010706020507" pitchFamily="18" charset="2"/>
                <a:cs typeface="Times New Roman" panose="02020603050405020304" pitchFamily="18" charset="0"/>
              </a:rPr>
              <a:t>crash</a:t>
            </a:r>
            <a:r>
              <a:rPr lang="en-US" sz="2400" spc="-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400" dirty="0">
                <a:effectLst/>
                <a:latin typeface="Times New Roman" panose="02020603050405020304" pitchFamily="18" charset="0"/>
                <a:ea typeface="Symbol" panose="05050102010706020507" pitchFamily="18" charset="2"/>
                <a:cs typeface="Times New Roman" panose="02020603050405020304" pitchFamily="18" charset="0"/>
              </a:rPr>
              <a:t>severity.</a:t>
            </a:r>
            <a:endParaRPr lang="en-IN" sz="2400" dirty="0">
              <a:effectLst/>
              <a:latin typeface="Times New Roman" panose="02020603050405020304" pitchFamily="18" charset="0"/>
              <a:ea typeface="Symbol" panose="05050102010706020507" pitchFamily="18" charset="2"/>
              <a:cs typeface="Times New Roman" panose="02020603050405020304" pitchFamily="18" charset="0"/>
            </a:endParaRPr>
          </a:p>
          <a:p>
            <a:pPr marL="0" indent="0">
              <a:buNone/>
            </a:pPr>
            <a:r>
              <a:rPr lang="en-US" altLang="en-US" sz="2400" dirty="0">
                <a:latin typeface="Times New Roman" panose="02020603050405020304" pitchFamily="18" charset="0"/>
                <a:cs typeface="Times New Roman" panose="02020603050405020304" pitchFamily="18" charset="0"/>
              </a:rPr>
              <a:t>	</a:t>
            </a:r>
            <a:endParaRPr lang="en-IN" altLang="en-US" sz="24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3E931E46-27F5-49C9-80A4-15A31433751A}"/>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E43DD09-0E0F-4E24-ADC5-C8E8ADB52600}" type="slidenum">
              <a:rPr lang="en-IN" altLang="en-US">
                <a:solidFill>
                  <a:srgbClr val="898989"/>
                </a:solidFill>
              </a:rPr>
              <a:pPr/>
              <a:t>6</a:t>
            </a:fld>
            <a:endParaRPr lang="en-IN" altLang="en-US">
              <a:solidFill>
                <a:srgbClr val="898989"/>
              </a:solidFill>
            </a:endParaRPr>
          </a:p>
        </p:txBody>
      </p:sp>
      <p:sp>
        <p:nvSpPr>
          <p:cNvPr id="10" name="Footer Placeholder 9">
            <a:extLst>
              <a:ext uri="{FF2B5EF4-FFF2-40B4-BE49-F238E27FC236}">
                <a16:creationId xmlns:a16="http://schemas.microsoft.com/office/drawing/2014/main" id="{52E78C1F-AC8E-4150-AE17-7ADCB9975EEB}"/>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CCEE46-889C-6C75-A0C2-51161748612F}"/>
              </a:ext>
            </a:extLst>
          </p:cNvPr>
          <p:cNvSpPr>
            <a:spLocks noGrp="1"/>
          </p:cNvSpPr>
          <p:nvPr>
            <p:ph idx="1"/>
          </p:nvPr>
        </p:nvSpPr>
        <p:spPr>
          <a:xfrm>
            <a:off x="827314" y="380995"/>
            <a:ext cx="10515600" cy="5812067"/>
          </a:xfrm>
        </p:spPr>
        <p:txBody>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4. Tessa K. Anderson: Proposed a method of identifying high-density accident hotspots using machine learning algorithms such as neural networks, support vector machines, and decision tree.</a:t>
            </a:r>
          </a:p>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5.</a:t>
            </a:r>
            <a:r>
              <a:rPr lang="sv-SE" altLang="en-US" sz="2400" dirty="0">
                <a:latin typeface="Times New Roman" panose="02020603050405020304" pitchFamily="18" charset="0"/>
                <a:cs typeface="Times New Roman" panose="02020603050405020304" pitchFamily="18" charset="0"/>
              </a:rPr>
              <a:t> Vipul Rana, Hemant Joshi, Deepak Parmar: </a:t>
            </a:r>
            <a:r>
              <a:rPr lang="en-US" altLang="en-US" sz="2400" dirty="0">
                <a:latin typeface="Times New Roman" panose="02020603050405020304" pitchFamily="18" charset="0"/>
                <a:cs typeface="Times New Roman" panose="02020603050405020304" pitchFamily="18" charset="0"/>
              </a:rPr>
              <a:t>In predicting traffic accidents data mining techniques and machine learning algorithms were used.</a:t>
            </a:r>
          </a:p>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6. IJIRCCE-</a:t>
            </a:r>
            <a:r>
              <a:rPr lang="en-US" altLang="en-US" sz="2400" dirty="0" err="1">
                <a:latin typeface="Times New Roman" panose="02020603050405020304" pitchFamily="18" charset="0"/>
                <a:cs typeface="Times New Roman" panose="02020603050405020304" pitchFamily="18" charset="0"/>
              </a:rPr>
              <a:t>Samila</a:t>
            </a:r>
            <a:r>
              <a:rPr lang="en-US" altLang="en-US" sz="2400" dirty="0">
                <a:latin typeface="Times New Roman" panose="02020603050405020304" pitchFamily="18" charset="0"/>
                <a:cs typeface="Times New Roman" panose="02020603050405020304" pitchFamily="18" charset="0"/>
              </a:rPr>
              <a:t> Kumar, M </a:t>
            </a:r>
            <a:r>
              <a:rPr lang="en-US" altLang="en-US" sz="2400" dirty="0" err="1">
                <a:latin typeface="Times New Roman" panose="02020603050405020304" pitchFamily="18" charset="0"/>
                <a:cs typeface="Times New Roman" panose="02020603050405020304" pitchFamily="18" charset="0"/>
              </a:rPr>
              <a:t>Prashanthi</a:t>
            </a:r>
            <a:r>
              <a:rPr lang="en-US" altLang="en-US" sz="2400" dirty="0">
                <a:latin typeface="Times New Roman" panose="02020603050405020304" pitchFamily="18" charset="0"/>
                <a:cs typeface="Times New Roman" panose="02020603050405020304" pitchFamily="18" charset="0"/>
              </a:rPr>
              <a:t>: For road accident prediction data mining technique and machine learning such as random forest is used.</a:t>
            </a:r>
          </a:p>
        </p:txBody>
      </p:sp>
      <p:sp>
        <p:nvSpPr>
          <p:cNvPr id="4" name="Footer Placeholder 3">
            <a:extLst>
              <a:ext uri="{FF2B5EF4-FFF2-40B4-BE49-F238E27FC236}">
                <a16:creationId xmlns:a16="http://schemas.microsoft.com/office/drawing/2014/main" id="{3858517B-9FE2-45F6-1082-F3B39EFC187C}"/>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265A3007-2D25-92B1-E24C-781C36ACC827}"/>
              </a:ext>
            </a:extLst>
          </p:cNvPr>
          <p:cNvSpPr>
            <a:spLocks noGrp="1"/>
          </p:cNvSpPr>
          <p:nvPr>
            <p:ph type="sldNum" sz="quarter" idx="11"/>
          </p:nvPr>
        </p:nvSpPr>
        <p:spPr/>
        <p:txBody>
          <a:bodyPr/>
          <a:lstStyle/>
          <a:p>
            <a:fld id="{25C42BF0-F0BA-4BEC-BFEF-185B471DC7CC}" type="slidenum">
              <a:rPr lang="en-IN" altLang="en-US" smtClean="0"/>
              <a:pPr/>
              <a:t>7</a:t>
            </a:fld>
            <a:endParaRPr lang="en-IN" altLang="en-US"/>
          </a:p>
        </p:txBody>
      </p:sp>
    </p:spTree>
    <p:extLst>
      <p:ext uri="{BB962C8B-B14F-4D97-AF65-F5344CB8AC3E}">
        <p14:creationId xmlns:p14="http://schemas.microsoft.com/office/powerpoint/2010/main" val="136477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22810BA8-DB09-49A6-AC25-352A1C06DB21}"/>
              </a:ext>
            </a:extLst>
          </p:cNvPr>
          <p:cNvSpPr>
            <a:spLocks noGrp="1"/>
          </p:cNvSpPr>
          <p:nvPr>
            <p:ph type="title"/>
          </p:nvPr>
        </p:nvSpPr>
        <p:spPr>
          <a:xfrm>
            <a:off x="838200" y="180065"/>
            <a:ext cx="10515600" cy="1325563"/>
          </a:xfrm>
        </p:spPr>
        <p:txBody>
          <a:bodyPr/>
          <a:lstStyle/>
          <a:p>
            <a:r>
              <a:rPr lang="en-IN" altLang="en-US" b="1" dirty="0">
                <a:latin typeface="Times New Roman" panose="02020603050405020304" pitchFamily="18" charset="0"/>
                <a:cs typeface="Times New Roman" panose="02020603050405020304" pitchFamily="18" charset="0"/>
              </a:rPr>
              <a:t>Proposed System</a:t>
            </a:r>
          </a:p>
        </p:txBody>
      </p:sp>
      <p:sp>
        <p:nvSpPr>
          <p:cNvPr id="10243" name="Content Placeholder 2">
            <a:extLst>
              <a:ext uri="{FF2B5EF4-FFF2-40B4-BE49-F238E27FC236}">
                <a16:creationId xmlns:a16="http://schemas.microsoft.com/office/drawing/2014/main" id="{C2ECE567-E932-406A-A5C7-DE45AD69B23E}"/>
              </a:ext>
            </a:extLst>
          </p:cNvPr>
          <p:cNvSpPr>
            <a:spLocks noGrp="1"/>
          </p:cNvSpPr>
          <p:nvPr>
            <p:ph idx="1"/>
          </p:nvPr>
        </p:nvSpPr>
        <p:spPr>
          <a:xfrm>
            <a:off x="838200" y="1487783"/>
            <a:ext cx="10515600" cy="4868568"/>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Models are created using accident data records, which can help to understand the characteristics of many features like latitude, longitude, roadway conditions, weather conditions and so on. </a:t>
            </a:r>
          </a:p>
          <a:p>
            <a:pPr algn="just">
              <a:lnSpc>
                <a:spcPct val="150000"/>
              </a:lnSpc>
            </a:pPr>
            <a:r>
              <a:rPr lang="en-US" sz="2400" dirty="0">
                <a:latin typeface="Times New Roman" panose="02020603050405020304" pitchFamily="18" charset="0"/>
                <a:cs typeface="Times New Roman" panose="02020603050405020304" pitchFamily="18" charset="0"/>
              </a:rPr>
              <a:t>Machine learning will help to train the model. </a:t>
            </a:r>
          </a:p>
          <a:p>
            <a:pPr algn="just">
              <a:lnSpc>
                <a:spcPct val="150000"/>
              </a:lnSpc>
            </a:pPr>
            <a:r>
              <a:rPr lang="en-US" sz="2400" dirty="0">
                <a:latin typeface="Times New Roman" panose="02020603050405020304" pitchFamily="18" charset="0"/>
                <a:cs typeface="Times New Roman" panose="02020603050405020304" pitchFamily="18" charset="0"/>
              </a:rPr>
              <a:t>The model is trained by using a KNN after training helps to predict and </a:t>
            </a:r>
            <a:r>
              <a:rPr lang="en-US" sz="2400" dirty="0" err="1">
                <a:latin typeface="Times New Roman" panose="02020603050405020304" pitchFamily="18" charset="0"/>
                <a:cs typeface="Times New Roman" panose="02020603050405020304" pitchFamily="18" charset="0"/>
              </a:rPr>
              <a:t>analyse</a:t>
            </a:r>
            <a:r>
              <a:rPr lang="en-US" sz="2400" dirty="0">
                <a:latin typeface="Times New Roman" panose="02020603050405020304" pitchFamily="18" charset="0"/>
                <a:cs typeface="Times New Roman" panose="02020603050405020304" pitchFamily="18" charset="0"/>
              </a:rPr>
              <a:t> the accuracy.</a:t>
            </a:r>
          </a:p>
          <a:p>
            <a:pPr algn="just">
              <a:lnSpc>
                <a:spcPct val="150000"/>
              </a:lnSpc>
            </a:pPr>
            <a:r>
              <a:rPr lang="en-US" sz="2400" dirty="0">
                <a:latin typeface="Times New Roman" panose="02020603050405020304" pitchFamily="18" charset="0"/>
                <a:cs typeface="Times New Roman" panose="02020603050405020304" pitchFamily="18" charset="0"/>
              </a:rPr>
              <a:t>The model is performed to identify statistically significant factors which can be able to analyze the probabilities of crashes and injuries.</a:t>
            </a:r>
          </a:p>
        </p:txBody>
      </p:sp>
      <p:sp>
        <p:nvSpPr>
          <p:cNvPr id="8" name="Slide Number Placeholder 7">
            <a:extLst>
              <a:ext uri="{FF2B5EF4-FFF2-40B4-BE49-F238E27FC236}">
                <a16:creationId xmlns:a16="http://schemas.microsoft.com/office/drawing/2014/main" id="{5E8B263F-3743-4871-9143-0ECCAF369523}"/>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310CA63-1B0E-4FFC-AB09-B0F7FE43B60A}" type="slidenum">
              <a:rPr lang="en-IN" altLang="en-US">
                <a:solidFill>
                  <a:srgbClr val="898989"/>
                </a:solidFill>
              </a:rPr>
              <a:pPr/>
              <a:t>8</a:t>
            </a:fld>
            <a:endParaRPr lang="en-IN" altLang="en-US">
              <a:solidFill>
                <a:srgbClr val="898989"/>
              </a:solidFill>
            </a:endParaRPr>
          </a:p>
        </p:txBody>
      </p:sp>
      <p:sp>
        <p:nvSpPr>
          <p:cNvPr id="9" name="Footer Placeholder 8">
            <a:extLst>
              <a:ext uri="{FF2B5EF4-FFF2-40B4-BE49-F238E27FC236}">
                <a16:creationId xmlns:a16="http://schemas.microsoft.com/office/drawing/2014/main" id="{8D7A8B27-C01F-4100-82DA-82E0D943D37E}"/>
              </a:ext>
            </a:extLst>
          </p:cNvPr>
          <p:cNvSpPr>
            <a:spLocks noGrp="1"/>
          </p:cNvSpPr>
          <p:nvPr>
            <p:ph type="ftr" sz="quarter" idx="10"/>
          </p:nvPr>
        </p:nvSpPr>
        <p:spPr/>
        <p:txBody>
          <a:bodyPr/>
          <a:lstStyle/>
          <a:p>
            <a:pPr>
              <a:defRPr/>
            </a:pPr>
            <a:r>
              <a:rPr lang="en-US" dirty="0"/>
              <a:t>Dept of CSE,GAT                     2021-22                                                                                                           </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31B0DA52-C490-457E-B1C3-EFAD747385F1}"/>
              </a:ext>
            </a:extLst>
          </p:cNvPr>
          <p:cNvSpPr>
            <a:spLocks noGrp="1"/>
          </p:cNvSpPr>
          <p:nvPr>
            <p:ph type="title"/>
          </p:nvPr>
        </p:nvSpPr>
        <p:spPr>
          <a:xfrm>
            <a:off x="881743" y="223605"/>
            <a:ext cx="10515600" cy="1325563"/>
          </a:xfrm>
        </p:spPr>
        <p:txBody>
          <a:bodyPr/>
          <a:lstStyle/>
          <a:p>
            <a:r>
              <a:rPr lang="en-IN" altLang="en-US" b="1" dirty="0">
                <a:latin typeface="Times New Roman" panose="02020603050405020304" pitchFamily="18" charset="0"/>
                <a:cs typeface="Times New Roman" panose="02020603050405020304" pitchFamily="18" charset="0"/>
              </a:rPr>
              <a:t>System Design</a:t>
            </a:r>
          </a:p>
        </p:txBody>
      </p:sp>
      <p:sp>
        <p:nvSpPr>
          <p:cNvPr id="8" name="Slide Number Placeholder 7">
            <a:extLst>
              <a:ext uri="{FF2B5EF4-FFF2-40B4-BE49-F238E27FC236}">
                <a16:creationId xmlns:a16="http://schemas.microsoft.com/office/drawing/2014/main" id="{8E84DF96-8F23-4C33-B2DB-22041926D741}"/>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10A70D1-B0A5-47B6-9555-83E267891370}" type="slidenum">
              <a:rPr lang="en-IN" altLang="en-US">
                <a:solidFill>
                  <a:srgbClr val="898989"/>
                </a:solidFill>
                <a:latin typeface="Times New Roman" panose="02020603050405020304" pitchFamily="18" charset="0"/>
                <a:cs typeface="Times New Roman" panose="02020603050405020304" pitchFamily="18" charset="0"/>
              </a:rPr>
              <a:pPr/>
              <a:t>9</a:t>
            </a:fld>
            <a:endParaRPr lang="en-IN" altLang="en-US">
              <a:solidFill>
                <a:srgbClr val="898989"/>
              </a:solidFill>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4F07B2A9-7E37-459D-B6CA-3EE221E02532}"/>
              </a:ext>
            </a:extLst>
          </p:cNvPr>
          <p:cNvSpPr>
            <a:spLocks noGrp="1"/>
          </p:cNvSpPr>
          <p:nvPr>
            <p:ph type="ftr" sz="quarter" idx="10"/>
          </p:nvPr>
        </p:nvSpPr>
        <p:spPr/>
        <p:txBody>
          <a:bodyPr/>
          <a:lstStyle/>
          <a:p>
            <a:pPr>
              <a:defRPr/>
            </a:pPr>
            <a:r>
              <a:rPr lang="en-US" dirty="0">
                <a:latin typeface="Times New Roman" panose="02020603050405020304" pitchFamily="18" charset="0"/>
                <a:cs typeface="Times New Roman" panose="02020603050405020304" pitchFamily="18" charset="0"/>
              </a:rPr>
              <a:t>Dept of CSE,GAT                     2020-21                                                                                                           </a:t>
            </a:r>
            <a:endParaRPr lang="en-IN" dirty="0">
              <a:latin typeface="Times New Roman" panose="02020603050405020304" pitchFamily="18" charset="0"/>
              <a:cs typeface="Times New Roman" panose="02020603050405020304" pitchFamily="18" charset="0"/>
            </a:endParaRPr>
          </a:p>
        </p:txBody>
      </p:sp>
      <p:sp>
        <p:nvSpPr>
          <p:cNvPr id="4" name="Rectangle: Rounded Corners 3">
            <a:extLst>
              <a:ext uri="{FF2B5EF4-FFF2-40B4-BE49-F238E27FC236}">
                <a16:creationId xmlns:a16="http://schemas.microsoft.com/office/drawing/2014/main" id="{2F872412-50E9-4010-9DBE-40A5F82B9143}"/>
              </a:ext>
            </a:extLst>
          </p:cNvPr>
          <p:cNvSpPr/>
          <p:nvPr/>
        </p:nvSpPr>
        <p:spPr>
          <a:xfrm>
            <a:off x="7772401" y="864618"/>
            <a:ext cx="2002972" cy="108392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1.Decision Tree</a:t>
            </a:r>
          </a:p>
          <a:p>
            <a:pPr algn="ctr"/>
            <a:r>
              <a:rPr lang="en-IN" dirty="0">
                <a:solidFill>
                  <a:schemeClr val="tx1"/>
                </a:solidFill>
                <a:latin typeface="Times New Roman" panose="02020603050405020304" pitchFamily="18" charset="0"/>
                <a:cs typeface="Times New Roman" panose="02020603050405020304" pitchFamily="18" charset="0"/>
              </a:rPr>
              <a:t>2.KNN</a:t>
            </a:r>
          </a:p>
          <a:p>
            <a:pPr algn="ctr"/>
            <a:r>
              <a:rPr lang="en-IN" dirty="0">
                <a:solidFill>
                  <a:schemeClr val="tx1"/>
                </a:solidFill>
                <a:latin typeface="Times New Roman" panose="02020603050405020304" pitchFamily="18" charset="0"/>
                <a:cs typeface="Times New Roman" panose="02020603050405020304" pitchFamily="18" charset="0"/>
              </a:rPr>
              <a:t>3.Regression Algorithm </a:t>
            </a:r>
          </a:p>
        </p:txBody>
      </p:sp>
      <p:sp>
        <p:nvSpPr>
          <p:cNvPr id="5" name="Rectangle: Rounded Corners 4">
            <a:extLst>
              <a:ext uri="{FF2B5EF4-FFF2-40B4-BE49-F238E27FC236}">
                <a16:creationId xmlns:a16="http://schemas.microsoft.com/office/drawing/2014/main" id="{6F91C79A-C666-4F36-A58D-051DF5127BAE}"/>
              </a:ext>
            </a:extLst>
          </p:cNvPr>
          <p:cNvSpPr/>
          <p:nvPr/>
        </p:nvSpPr>
        <p:spPr>
          <a:xfrm>
            <a:off x="7772404" y="2166257"/>
            <a:ext cx="2002972" cy="629447"/>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Machine Learning Algorithms </a:t>
            </a:r>
          </a:p>
        </p:txBody>
      </p:sp>
      <p:sp>
        <p:nvSpPr>
          <p:cNvPr id="6" name="Rectangle 5">
            <a:extLst>
              <a:ext uri="{FF2B5EF4-FFF2-40B4-BE49-F238E27FC236}">
                <a16:creationId xmlns:a16="http://schemas.microsoft.com/office/drawing/2014/main" id="{AB48023C-B5CD-4B35-A2F3-24BFB9BD9B93}"/>
              </a:ext>
            </a:extLst>
          </p:cNvPr>
          <p:cNvSpPr/>
          <p:nvPr/>
        </p:nvSpPr>
        <p:spPr>
          <a:xfrm>
            <a:off x="7451271" y="3005702"/>
            <a:ext cx="2618015" cy="158466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BB33CF6A-28BE-4200-A624-D85CBC5E6DA7}"/>
              </a:ext>
            </a:extLst>
          </p:cNvPr>
          <p:cNvSpPr/>
          <p:nvPr/>
        </p:nvSpPr>
        <p:spPr>
          <a:xfrm>
            <a:off x="7750630" y="3073509"/>
            <a:ext cx="2024743" cy="605858"/>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Trained Data</a:t>
            </a:r>
          </a:p>
        </p:txBody>
      </p:sp>
      <p:sp>
        <p:nvSpPr>
          <p:cNvPr id="10" name="Rectangle: Rounded Corners 9">
            <a:extLst>
              <a:ext uri="{FF2B5EF4-FFF2-40B4-BE49-F238E27FC236}">
                <a16:creationId xmlns:a16="http://schemas.microsoft.com/office/drawing/2014/main" id="{A5B25477-D309-412A-9C86-4072F98A488E}"/>
              </a:ext>
            </a:extLst>
          </p:cNvPr>
          <p:cNvSpPr/>
          <p:nvPr/>
        </p:nvSpPr>
        <p:spPr>
          <a:xfrm>
            <a:off x="7750630" y="3733798"/>
            <a:ext cx="2024744" cy="805543"/>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classification rules based on algorithms</a:t>
            </a:r>
          </a:p>
        </p:txBody>
      </p:sp>
      <p:sp>
        <p:nvSpPr>
          <p:cNvPr id="11" name="Rectangle: Rounded Corners 10">
            <a:extLst>
              <a:ext uri="{FF2B5EF4-FFF2-40B4-BE49-F238E27FC236}">
                <a16:creationId xmlns:a16="http://schemas.microsoft.com/office/drawing/2014/main" id="{32FB372E-CB45-48FA-A2CF-E06E681A9B6E}"/>
              </a:ext>
            </a:extLst>
          </p:cNvPr>
          <p:cNvSpPr/>
          <p:nvPr/>
        </p:nvSpPr>
        <p:spPr>
          <a:xfrm>
            <a:off x="7750629" y="4948347"/>
            <a:ext cx="2024744" cy="662781"/>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Predicted accident survey</a:t>
            </a:r>
          </a:p>
        </p:txBody>
      </p:sp>
      <p:sp>
        <p:nvSpPr>
          <p:cNvPr id="12" name="Rectangle: Rounded Corners 11">
            <a:extLst>
              <a:ext uri="{FF2B5EF4-FFF2-40B4-BE49-F238E27FC236}">
                <a16:creationId xmlns:a16="http://schemas.microsoft.com/office/drawing/2014/main" id="{9516555F-8548-43A7-9B4A-8BD5C4EE1D06}"/>
              </a:ext>
            </a:extLst>
          </p:cNvPr>
          <p:cNvSpPr/>
          <p:nvPr/>
        </p:nvSpPr>
        <p:spPr>
          <a:xfrm>
            <a:off x="4408711" y="4890812"/>
            <a:ext cx="2090061" cy="765401"/>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Fatal/Simple Injury/Motor Collision</a:t>
            </a:r>
          </a:p>
        </p:txBody>
      </p:sp>
      <p:sp>
        <p:nvSpPr>
          <p:cNvPr id="13" name="Rectangle: Rounded Corners 12">
            <a:extLst>
              <a:ext uri="{FF2B5EF4-FFF2-40B4-BE49-F238E27FC236}">
                <a16:creationId xmlns:a16="http://schemas.microsoft.com/office/drawing/2014/main" id="{D40C6E29-C51F-4089-887E-87C560797642}"/>
              </a:ext>
            </a:extLst>
          </p:cNvPr>
          <p:cNvSpPr/>
          <p:nvPr/>
        </p:nvSpPr>
        <p:spPr>
          <a:xfrm>
            <a:off x="4408712" y="3363684"/>
            <a:ext cx="2099856" cy="62048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Test Data</a:t>
            </a:r>
          </a:p>
        </p:txBody>
      </p:sp>
      <p:sp>
        <p:nvSpPr>
          <p:cNvPr id="14" name="Rectangle: Rounded Corners 13">
            <a:extLst>
              <a:ext uri="{FF2B5EF4-FFF2-40B4-BE49-F238E27FC236}">
                <a16:creationId xmlns:a16="http://schemas.microsoft.com/office/drawing/2014/main" id="{9E5CC45B-5649-45ED-A8D5-835DA2AAD97F}"/>
              </a:ext>
            </a:extLst>
          </p:cNvPr>
          <p:cNvSpPr/>
          <p:nvPr/>
        </p:nvSpPr>
        <p:spPr>
          <a:xfrm>
            <a:off x="4408713" y="2166257"/>
            <a:ext cx="2100944" cy="566055"/>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Processing</a:t>
            </a:r>
          </a:p>
        </p:txBody>
      </p:sp>
      <p:sp>
        <p:nvSpPr>
          <p:cNvPr id="15" name="Rectangle: Rounded Corners 14">
            <a:extLst>
              <a:ext uri="{FF2B5EF4-FFF2-40B4-BE49-F238E27FC236}">
                <a16:creationId xmlns:a16="http://schemas.microsoft.com/office/drawing/2014/main" id="{7E14D9ED-6B37-440E-9105-34FDD040060D}"/>
              </a:ext>
            </a:extLst>
          </p:cNvPr>
          <p:cNvSpPr/>
          <p:nvPr/>
        </p:nvSpPr>
        <p:spPr>
          <a:xfrm>
            <a:off x="4397829" y="1422285"/>
            <a:ext cx="2100943" cy="450056"/>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collection</a:t>
            </a:r>
          </a:p>
        </p:txBody>
      </p:sp>
      <p:sp>
        <p:nvSpPr>
          <p:cNvPr id="16" name="Rectangle: Rounded Corners 15">
            <a:extLst>
              <a:ext uri="{FF2B5EF4-FFF2-40B4-BE49-F238E27FC236}">
                <a16:creationId xmlns:a16="http://schemas.microsoft.com/office/drawing/2014/main" id="{824CAA8B-A0C7-4210-9406-F9A28A8862D0}"/>
              </a:ext>
            </a:extLst>
          </p:cNvPr>
          <p:cNvSpPr/>
          <p:nvPr/>
        </p:nvSpPr>
        <p:spPr>
          <a:xfrm>
            <a:off x="1404258" y="2090055"/>
            <a:ext cx="2471057" cy="1654629"/>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1.Data Cleaning</a:t>
            </a:r>
          </a:p>
          <a:p>
            <a:pPr algn="ctr"/>
            <a:r>
              <a:rPr lang="en-IN" dirty="0">
                <a:solidFill>
                  <a:schemeClr val="tx1"/>
                </a:solidFill>
                <a:latin typeface="Times New Roman" panose="02020603050405020304" pitchFamily="18" charset="0"/>
                <a:cs typeface="Times New Roman" panose="02020603050405020304" pitchFamily="18" charset="0"/>
              </a:rPr>
              <a:t>2.Feature Selection</a:t>
            </a:r>
          </a:p>
          <a:p>
            <a:pPr algn="ctr"/>
            <a:r>
              <a:rPr lang="en-IN" dirty="0">
                <a:solidFill>
                  <a:schemeClr val="tx1"/>
                </a:solidFill>
                <a:latin typeface="Times New Roman" panose="02020603050405020304" pitchFamily="18" charset="0"/>
                <a:cs typeface="Times New Roman" panose="02020603050405020304" pitchFamily="18" charset="0"/>
              </a:rPr>
              <a:t>3.Model Evaluation </a:t>
            </a:r>
          </a:p>
        </p:txBody>
      </p:sp>
      <p:sp>
        <p:nvSpPr>
          <p:cNvPr id="17" name="Arrow: Right 16">
            <a:extLst>
              <a:ext uri="{FF2B5EF4-FFF2-40B4-BE49-F238E27FC236}">
                <a16:creationId xmlns:a16="http://schemas.microsoft.com/office/drawing/2014/main" id="{46B88659-4420-4425-ACFA-8D3168101144}"/>
              </a:ext>
            </a:extLst>
          </p:cNvPr>
          <p:cNvSpPr/>
          <p:nvPr/>
        </p:nvSpPr>
        <p:spPr>
          <a:xfrm rot="5400000">
            <a:off x="8612471" y="1963453"/>
            <a:ext cx="246631" cy="206827"/>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8" name="Arrow: Down 17">
            <a:extLst>
              <a:ext uri="{FF2B5EF4-FFF2-40B4-BE49-F238E27FC236}">
                <a16:creationId xmlns:a16="http://schemas.microsoft.com/office/drawing/2014/main" id="{F04DF3DF-5299-427E-8C1C-D68D2FEDD3DB}"/>
              </a:ext>
            </a:extLst>
          </p:cNvPr>
          <p:cNvSpPr/>
          <p:nvPr/>
        </p:nvSpPr>
        <p:spPr>
          <a:xfrm>
            <a:off x="8654142" y="2804096"/>
            <a:ext cx="206827" cy="190724"/>
          </a:xfrm>
          <a:prstGeom prst="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3" name="Arrow: Down 22">
            <a:extLst>
              <a:ext uri="{FF2B5EF4-FFF2-40B4-BE49-F238E27FC236}">
                <a16:creationId xmlns:a16="http://schemas.microsoft.com/office/drawing/2014/main" id="{DF7DA5BB-4817-4177-9B7D-1F0A439CB4CA}"/>
              </a:ext>
            </a:extLst>
          </p:cNvPr>
          <p:cNvSpPr/>
          <p:nvPr/>
        </p:nvSpPr>
        <p:spPr>
          <a:xfrm>
            <a:off x="8632373" y="4598759"/>
            <a:ext cx="206827" cy="349588"/>
          </a:xfrm>
          <a:prstGeom prst="down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1" name="Arrow: Right 20">
            <a:extLst>
              <a:ext uri="{FF2B5EF4-FFF2-40B4-BE49-F238E27FC236}">
                <a16:creationId xmlns:a16="http://schemas.microsoft.com/office/drawing/2014/main" id="{9A118331-8187-4DE3-9ABF-C7502027A184}"/>
              </a:ext>
            </a:extLst>
          </p:cNvPr>
          <p:cNvSpPr/>
          <p:nvPr/>
        </p:nvSpPr>
        <p:spPr>
          <a:xfrm>
            <a:off x="6508568" y="5141046"/>
            <a:ext cx="1233355" cy="29814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5" name="Arrow: Right 24">
            <a:extLst>
              <a:ext uri="{FF2B5EF4-FFF2-40B4-BE49-F238E27FC236}">
                <a16:creationId xmlns:a16="http://schemas.microsoft.com/office/drawing/2014/main" id="{66C60583-7D42-481B-AE5F-B612079F4CFE}"/>
              </a:ext>
            </a:extLst>
          </p:cNvPr>
          <p:cNvSpPr/>
          <p:nvPr/>
        </p:nvSpPr>
        <p:spPr>
          <a:xfrm>
            <a:off x="6508568" y="3531383"/>
            <a:ext cx="949234" cy="29814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6" name="Arrow: Right 25">
            <a:extLst>
              <a:ext uri="{FF2B5EF4-FFF2-40B4-BE49-F238E27FC236}">
                <a16:creationId xmlns:a16="http://schemas.microsoft.com/office/drawing/2014/main" id="{CA4E3671-86DF-411E-8588-0AEAFB69F20E}"/>
              </a:ext>
            </a:extLst>
          </p:cNvPr>
          <p:cNvSpPr/>
          <p:nvPr/>
        </p:nvSpPr>
        <p:spPr>
          <a:xfrm>
            <a:off x="6508568" y="2307769"/>
            <a:ext cx="1242061" cy="295074"/>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7" name="Arrow: Right 26">
            <a:extLst>
              <a:ext uri="{FF2B5EF4-FFF2-40B4-BE49-F238E27FC236}">
                <a16:creationId xmlns:a16="http://schemas.microsoft.com/office/drawing/2014/main" id="{2D064EA9-DFD1-40C6-BC15-88AD82BF59CB}"/>
              </a:ext>
            </a:extLst>
          </p:cNvPr>
          <p:cNvSpPr/>
          <p:nvPr/>
        </p:nvSpPr>
        <p:spPr>
          <a:xfrm rot="5400000">
            <a:off x="5366657" y="1915885"/>
            <a:ext cx="293916" cy="206828"/>
          </a:xfrm>
          <a:prstGeom prst="righ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2" name="Arrow: Curved Left 21">
            <a:extLst>
              <a:ext uri="{FF2B5EF4-FFF2-40B4-BE49-F238E27FC236}">
                <a16:creationId xmlns:a16="http://schemas.microsoft.com/office/drawing/2014/main" id="{A7B80021-9B4F-41F8-A771-D1447669932A}"/>
              </a:ext>
            </a:extLst>
          </p:cNvPr>
          <p:cNvSpPr/>
          <p:nvPr/>
        </p:nvSpPr>
        <p:spPr>
          <a:xfrm rot="4036429">
            <a:off x="4073572" y="2764971"/>
            <a:ext cx="446315" cy="696685"/>
          </a:xfrm>
          <a:prstGeom prst="curvedLeftArrow">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3032D78-4521-43E7-A8DD-0C0C8D5D334A}"/>
              </a:ext>
            </a:extLst>
          </p:cNvPr>
          <p:cNvSpPr txBox="1"/>
          <p:nvPr/>
        </p:nvSpPr>
        <p:spPr>
          <a:xfrm>
            <a:off x="3766463" y="5906689"/>
            <a:ext cx="5094506"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1: System Design of Road Accident Analysis</a:t>
            </a:r>
          </a:p>
        </p:txBody>
      </p:sp>
    </p:spTree>
    <p:extLst>
      <p:ext uri="{BB962C8B-B14F-4D97-AF65-F5344CB8AC3E}">
        <p14:creationId xmlns:p14="http://schemas.microsoft.com/office/powerpoint/2010/main" val="2547247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9870"/>
            <a:ext cx="10515600" cy="1325563"/>
          </a:xfrm>
        </p:spPr>
        <p:txBody>
          <a:bodyPr/>
          <a:lstStyle/>
          <a:p>
            <a:r>
              <a:rPr lang="en-IN" b="1" dirty="0">
                <a:latin typeface="Times New Roman" panose="02020603050405020304" pitchFamily="18" charset="0"/>
                <a:cs typeface="Times New Roman" panose="02020603050405020304" pitchFamily="18" charset="0"/>
              </a:rPr>
              <a:t>High-level design</a:t>
            </a:r>
            <a:br>
              <a:rPr lang="en-IN" dirty="0">
                <a:latin typeface="Times New Roman" panose="02020603050405020304" pitchFamily="18" charset="0"/>
                <a:cs typeface="Times New Roman" panose="02020603050405020304" pitchFamily="18" charset="0"/>
              </a:rPr>
            </a:br>
            <a:r>
              <a:rPr lang="en-IN" sz="3400" dirty="0">
                <a:latin typeface="Times New Roman" panose="02020603050405020304" pitchFamily="18" charset="0"/>
                <a:cs typeface="Times New Roman" panose="02020603050405020304" pitchFamily="18" charset="0"/>
              </a:rPr>
              <a:t>Data Flow Diagram – Level 0</a:t>
            </a:r>
          </a:p>
        </p:txBody>
      </p:sp>
      <p:sp>
        <p:nvSpPr>
          <p:cNvPr id="4" name="Footer Placeholder 3"/>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p:txBody>
      </p:sp>
      <p:sp>
        <p:nvSpPr>
          <p:cNvPr id="7" name="Oval 6">
            <a:extLst>
              <a:ext uri="{FF2B5EF4-FFF2-40B4-BE49-F238E27FC236}">
                <a16:creationId xmlns:a16="http://schemas.microsoft.com/office/drawing/2014/main" id="{02D4053D-C986-4C68-B5AA-612EA1BCBABB}"/>
              </a:ext>
            </a:extLst>
          </p:cNvPr>
          <p:cNvSpPr/>
          <p:nvPr/>
        </p:nvSpPr>
        <p:spPr>
          <a:xfrm>
            <a:off x="5012871" y="1555522"/>
            <a:ext cx="2144486" cy="53453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Start</a:t>
            </a:r>
          </a:p>
        </p:txBody>
      </p:sp>
      <p:sp>
        <p:nvSpPr>
          <p:cNvPr id="8" name="Rectangle 7">
            <a:extLst>
              <a:ext uri="{FF2B5EF4-FFF2-40B4-BE49-F238E27FC236}">
                <a16:creationId xmlns:a16="http://schemas.microsoft.com/office/drawing/2014/main" id="{63E090A6-5368-4F1C-8F9E-84BBD1E54DBA}"/>
              </a:ext>
            </a:extLst>
          </p:cNvPr>
          <p:cNvSpPr/>
          <p:nvPr/>
        </p:nvSpPr>
        <p:spPr>
          <a:xfrm>
            <a:off x="5012871" y="2341360"/>
            <a:ext cx="2144486" cy="73931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Collection </a:t>
            </a:r>
          </a:p>
        </p:txBody>
      </p:sp>
      <p:sp>
        <p:nvSpPr>
          <p:cNvPr id="9" name="Rectangle 8">
            <a:extLst>
              <a:ext uri="{FF2B5EF4-FFF2-40B4-BE49-F238E27FC236}">
                <a16:creationId xmlns:a16="http://schemas.microsoft.com/office/drawing/2014/main" id="{EB90A591-AEEF-419A-B421-2DF953B738A2}"/>
              </a:ext>
            </a:extLst>
          </p:cNvPr>
          <p:cNvSpPr/>
          <p:nvPr/>
        </p:nvSpPr>
        <p:spPr>
          <a:xfrm>
            <a:off x="5012871" y="3429001"/>
            <a:ext cx="2144486" cy="58784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Cleaning</a:t>
            </a:r>
          </a:p>
        </p:txBody>
      </p:sp>
      <p:sp>
        <p:nvSpPr>
          <p:cNvPr id="10" name="Rectangle 9">
            <a:extLst>
              <a:ext uri="{FF2B5EF4-FFF2-40B4-BE49-F238E27FC236}">
                <a16:creationId xmlns:a16="http://schemas.microsoft.com/office/drawing/2014/main" id="{D11D161B-45A6-4B0D-AD0B-49A868D28781}"/>
              </a:ext>
            </a:extLst>
          </p:cNvPr>
          <p:cNvSpPr/>
          <p:nvPr/>
        </p:nvSpPr>
        <p:spPr>
          <a:xfrm>
            <a:off x="5012871" y="4365166"/>
            <a:ext cx="2144486" cy="5007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Analysing</a:t>
            </a:r>
          </a:p>
        </p:txBody>
      </p:sp>
      <p:sp>
        <p:nvSpPr>
          <p:cNvPr id="11" name="Oval 10">
            <a:extLst>
              <a:ext uri="{FF2B5EF4-FFF2-40B4-BE49-F238E27FC236}">
                <a16:creationId xmlns:a16="http://schemas.microsoft.com/office/drawing/2014/main" id="{ED5D8D40-44E8-46C2-AA1D-93C03CC8F3F4}"/>
              </a:ext>
            </a:extLst>
          </p:cNvPr>
          <p:cNvSpPr/>
          <p:nvPr/>
        </p:nvSpPr>
        <p:spPr>
          <a:xfrm>
            <a:off x="5012871" y="5214239"/>
            <a:ext cx="2144486" cy="64136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Stop</a:t>
            </a:r>
          </a:p>
        </p:txBody>
      </p:sp>
      <p:cxnSp>
        <p:nvCxnSpPr>
          <p:cNvPr id="13" name="Straight Arrow Connector 12">
            <a:extLst>
              <a:ext uri="{FF2B5EF4-FFF2-40B4-BE49-F238E27FC236}">
                <a16:creationId xmlns:a16="http://schemas.microsoft.com/office/drawing/2014/main" id="{DD3A09D1-1844-4238-A945-6E263A059227}"/>
              </a:ext>
            </a:extLst>
          </p:cNvPr>
          <p:cNvCxnSpPr>
            <a:cxnSpLocks/>
            <a:stCxn id="7" idx="4"/>
            <a:endCxn id="8" idx="0"/>
          </p:cNvCxnSpPr>
          <p:nvPr/>
        </p:nvCxnSpPr>
        <p:spPr>
          <a:xfrm>
            <a:off x="6085114" y="2090057"/>
            <a:ext cx="0" cy="25130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9DD67848-FDF7-43AA-86C4-75CCBAE9CFFD}"/>
              </a:ext>
            </a:extLst>
          </p:cNvPr>
          <p:cNvCxnSpPr>
            <a:cxnSpLocks/>
            <a:stCxn id="8" idx="2"/>
            <a:endCxn id="9" idx="0"/>
          </p:cNvCxnSpPr>
          <p:nvPr/>
        </p:nvCxnSpPr>
        <p:spPr>
          <a:xfrm>
            <a:off x="6085114" y="3080676"/>
            <a:ext cx="0" cy="34832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FC908FCD-6ED9-4E38-9A0E-65F533348E43}"/>
              </a:ext>
            </a:extLst>
          </p:cNvPr>
          <p:cNvCxnSpPr>
            <a:cxnSpLocks/>
            <a:stCxn id="9" idx="2"/>
            <a:endCxn id="10" idx="0"/>
          </p:cNvCxnSpPr>
          <p:nvPr/>
        </p:nvCxnSpPr>
        <p:spPr>
          <a:xfrm>
            <a:off x="6085114" y="4016841"/>
            <a:ext cx="0" cy="34832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71EBE1A1-8CE1-4035-8EDC-F860B95BD294}"/>
              </a:ext>
            </a:extLst>
          </p:cNvPr>
          <p:cNvCxnSpPr>
            <a:cxnSpLocks/>
            <a:stCxn id="10" idx="2"/>
            <a:endCxn id="11" idx="0"/>
          </p:cNvCxnSpPr>
          <p:nvPr/>
        </p:nvCxnSpPr>
        <p:spPr>
          <a:xfrm>
            <a:off x="6085114" y="4865914"/>
            <a:ext cx="0" cy="34832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8580F88E-D9FE-4FDD-A729-2DCBEE2951B5}"/>
              </a:ext>
            </a:extLst>
          </p:cNvPr>
          <p:cNvSpPr txBox="1"/>
          <p:nvPr/>
        </p:nvSpPr>
        <p:spPr>
          <a:xfrm>
            <a:off x="3222171" y="5921310"/>
            <a:ext cx="6347498"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2: Level 0 Data Flow Diagram of Road Accident Analysis</a:t>
            </a:r>
          </a:p>
        </p:txBody>
      </p:sp>
      <p:sp>
        <p:nvSpPr>
          <p:cNvPr id="15" name="Footer Placeholder 8">
            <a:extLst>
              <a:ext uri="{FF2B5EF4-FFF2-40B4-BE49-F238E27FC236}">
                <a16:creationId xmlns:a16="http://schemas.microsoft.com/office/drawing/2014/main" id="{6B528BA2-377E-4C11-84E1-8202DEE09BB6}"/>
              </a:ext>
            </a:extLst>
          </p:cNvPr>
          <p:cNvSpPr>
            <a:spLocks noGrp="1"/>
          </p:cNvSpPr>
          <p:nvPr>
            <p:ph type="ftr" sz="quarter" idx="10"/>
          </p:nvPr>
        </p:nvSpPr>
        <p:spPr>
          <a:xfrm>
            <a:off x="4038600" y="6356350"/>
            <a:ext cx="4114800" cy="365125"/>
          </a:xfrm>
        </p:spPr>
        <p:txBody>
          <a:bodyPr/>
          <a:lstStyle/>
          <a:p>
            <a:pPr>
              <a:defRPr/>
            </a:pPr>
            <a:r>
              <a:rPr lang="en-US" dirty="0">
                <a:latin typeface="Times New Roman" panose="02020603050405020304" pitchFamily="18" charset="0"/>
                <a:cs typeface="Times New Roman" panose="02020603050405020304" pitchFamily="18" charset="0"/>
              </a:rPr>
              <a:t>Dept of CSE,GAT                     2020-21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1335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8037"/>
            <a:ext cx="10515600" cy="1325563"/>
          </a:xfrm>
        </p:spPr>
        <p:txBody>
          <a:bodyPr>
            <a:normAutofit/>
          </a:bodyPr>
          <a:lstStyle/>
          <a:p>
            <a:r>
              <a:rPr lang="en-IN" sz="4000" dirty="0">
                <a:latin typeface="Times New Roman" panose="02020603050405020304" pitchFamily="18" charset="0"/>
                <a:cs typeface="Times New Roman" panose="02020603050405020304" pitchFamily="18" charset="0"/>
              </a:rPr>
              <a:t>Data Flow Diagram – Level 1</a:t>
            </a:r>
          </a:p>
        </p:txBody>
      </p:sp>
      <p:sp>
        <p:nvSpPr>
          <p:cNvPr id="5" name="Slide Number Placeholder 4"/>
          <p:cNvSpPr>
            <a:spLocks noGrp="1"/>
          </p:cNvSpPr>
          <p:nvPr>
            <p:ph type="sldNum" sz="quarter" idx="12"/>
          </p:nvPr>
        </p:nvSpPr>
        <p:spPr>
          <a:xfrm>
            <a:off x="9024108" y="6356350"/>
            <a:ext cx="2329692"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11</a:t>
            </a:r>
            <a:endParaRPr lang="en-IN"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E307610-2CC6-408D-8B3A-4790A903F022}"/>
              </a:ext>
            </a:extLst>
          </p:cNvPr>
          <p:cNvSpPr/>
          <p:nvPr/>
        </p:nvSpPr>
        <p:spPr>
          <a:xfrm>
            <a:off x="3494314" y="3896935"/>
            <a:ext cx="2249259" cy="111570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Train the model to get high accuracy</a:t>
            </a:r>
          </a:p>
        </p:txBody>
      </p:sp>
      <p:sp>
        <p:nvSpPr>
          <p:cNvPr id="12" name="Rectangle 11">
            <a:extLst>
              <a:ext uri="{FF2B5EF4-FFF2-40B4-BE49-F238E27FC236}">
                <a16:creationId xmlns:a16="http://schemas.microsoft.com/office/drawing/2014/main" id="{3017B483-23E2-4FB5-B0F3-A7F946294C47}"/>
              </a:ext>
            </a:extLst>
          </p:cNvPr>
          <p:cNvSpPr/>
          <p:nvPr/>
        </p:nvSpPr>
        <p:spPr>
          <a:xfrm>
            <a:off x="6640284" y="1796143"/>
            <a:ext cx="2710543" cy="11191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pre-processing and Feature Selection with Graphs</a:t>
            </a:r>
          </a:p>
        </p:txBody>
      </p:sp>
      <p:sp>
        <p:nvSpPr>
          <p:cNvPr id="13" name="Rectangle 12">
            <a:extLst>
              <a:ext uri="{FF2B5EF4-FFF2-40B4-BE49-F238E27FC236}">
                <a16:creationId xmlns:a16="http://schemas.microsoft.com/office/drawing/2014/main" id="{DC0DAD21-1E55-4E0D-B0A4-069177943A10}"/>
              </a:ext>
            </a:extLst>
          </p:cNvPr>
          <p:cNvSpPr/>
          <p:nvPr/>
        </p:nvSpPr>
        <p:spPr>
          <a:xfrm>
            <a:off x="9884232" y="1808153"/>
            <a:ext cx="1349828" cy="11191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Cleaning</a:t>
            </a:r>
          </a:p>
        </p:txBody>
      </p:sp>
      <p:sp>
        <p:nvSpPr>
          <p:cNvPr id="14" name="Rectangle 13">
            <a:extLst>
              <a:ext uri="{FF2B5EF4-FFF2-40B4-BE49-F238E27FC236}">
                <a16:creationId xmlns:a16="http://schemas.microsoft.com/office/drawing/2014/main" id="{4A17D8A7-2D60-4808-9ADA-36F16DDFDCAF}"/>
              </a:ext>
            </a:extLst>
          </p:cNvPr>
          <p:cNvSpPr/>
          <p:nvPr/>
        </p:nvSpPr>
        <p:spPr>
          <a:xfrm>
            <a:off x="8828317" y="3896935"/>
            <a:ext cx="2405743" cy="111911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Select the model by performing different Algorithms on the Dataset.</a:t>
            </a:r>
          </a:p>
        </p:txBody>
      </p:sp>
      <p:sp>
        <p:nvSpPr>
          <p:cNvPr id="15" name="Oval 14">
            <a:extLst>
              <a:ext uri="{FF2B5EF4-FFF2-40B4-BE49-F238E27FC236}">
                <a16:creationId xmlns:a16="http://schemas.microsoft.com/office/drawing/2014/main" id="{5323EECD-DD1C-42FA-8153-BAA34B7C3E7B}"/>
              </a:ext>
            </a:extLst>
          </p:cNvPr>
          <p:cNvSpPr/>
          <p:nvPr/>
        </p:nvSpPr>
        <p:spPr>
          <a:xfrm>
            <a:off x="1986692" y="5285186"/>
            <a:ext cx="1643743" cy="9366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Stop</a:t>
            </a:r>
          </a:p>
        </p:txBody>
      </p:sp>
      <p:sp>
        <p:nvSpPr>
          <p:cNvPr id="16" name="Rectangle 15">
            <a:extLst>
              <a:ext uri="{FF2B5EF4-FFF2-40B4-BE49-F238E27FC236}">
                <a16:creationId xmlns:a16="http://schemas.microsoft.com/office/drawing/2014/main" id="{671E2F34-C414-4051-B0A5-DB2F096009C8}"/>
              </a:ext>
            </a:extLst>
          </p:cNvPr>
          <p:cNvSpPr/>
          <p:nvPr/>
        </p:nvSpPr>
        <p:spPr>
          <a:xfrm>
            <a:off x="6322559" y="3900338"/>
            <a:ext cx="1981200" cy="111570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Analyzing which algorithm is the best.</a:t>
            </a:r>
          </a:p>
        </p:txBody>
      </p:sp>
      <p:sp>
        <p:nvSpPr>
          <p:cNvPr id="17" name="Oval 16">
            <a:extLst>
              <a:ext uri="{FF2B5EF4-FFF2-40B4-BE49-F238E27FC236}">
                <a16:creationId xmlns:a16="http://schemas.microsoft.com/office/drawing/2014/main" id="{02C8FE11-F7B4-4492-8EC5-D69C164D86F6}"/>
              </a:ext>
            </a:extLst>
          </p:cNvPr>
          <p:cNvSpPr/>
          <p:nvPr/>
        </p:nvSpPr>
        <p:spPr>
          <a:xfrm>
            <a:off x="838200" y="1833087"/>
            <a:ext cx="1643743" cy="106264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Start</a:t>
            </a:r>
          </a:p>
        </p:txBody>
      </p:sp>
      <p:sp>
        <p:nvSpPr>
          <p:cNvPr id="18" name="Rectangle 17">
            <a:extLst>
              <a:ext uri="{FF2B5EF4-FFF2-40B4-BE49-F238E27FC236}">
                <a16:creationId xmlns:a16="http://schemas.microsoft.com/office/drawing/2014/main" id="{DE65F37E-10A9-40CC-BF1F-3BC7BA809A59}"/>
              </a:ext>
            </a:extLst>
          </p:cNvPr>
          <p:cNvSpPr/>
          <p:nvPr/>
        </p:nvSpPr>
        <p:spPr>
          <a:xfrm>
            <a:off x="2887436" y="1796143"/>
            <a:ext cx="1349828" cy="114930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Select the Dataset</a:t>
            </a:r>
          </a:p>
        </p:txBody>
      </p:sp>
      <p:sp>
        <p:nvSpPr>
          <p:cNvPr id="20" name="Rectangle 19">
            <a:extLst>
              <a:ext uri="{FF2B5EF4-FFF2-40B4-BE49-F238E27FC236}">
                <a16:creationId xmlns:a16="http://schemas.microsoft.com/office/drawing/2014/main" id="{B1A011F7-A8E9-48C7-BB6C-E485B5E3450A}"/>
              </a:ext>
            </a:extLst>
          </p:cNvPr>
          <p:cNvSpPr/>
          <p:nvPr/>
        </p:nvSpPr>
        <p:spPr>
          <a:xfrm>
            <a:off x="4752974" y="1802535"/>
            <a:ext cx="1349828" cy="113729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Data collection</a:t>
            </a:r>
          </a:p>
        </p:txBody>
      </p:sp>
      <p:cxnSp>
        <p:nvCxnSpPr>
          <p:cNvPr id="25" name="Straight Arrow Connector 24">
            <a:extLst>
              <a:ext uri="{FF2B5EF4-FFF2-40B4-BE49-F238E27FC236}">
                <a16:creationId xmlns:a16="http://schemas.microsoft.com/office/drawing/2014/main" id="{B02AFAA3-4CA4-4936-A33C-6E96BCD7A87C}"/>
              </a:ext>
            </a:extLst>
          </p:cNvPr>
          <p:cNvCxnSpPr>
            <a:cxnSpLocks/>
          </p:cNvCxnSpPr>
          <p:nvPr/>
        </p:nvCxnSpPr>
        <p:spPr>
          <a:xfrm>
            <a:off x="2481943" y="2295215"/>
            <a:ext cx="405493" cy="639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E514AC35-882B-4C29-B833-FC42F9D386E3}"/>
              </a:ext>
            </a:extLst>
          </p:cNvPr>
          <p:cNvCxnSpPr>
            <a:cxnSpLocks/>
          </p:cNvCxnSpPr>
          <p:nvPr/>
        </p:nvCxnSpPr>
        <p:spPr>
          <a:xfrm>
            <a:off x="9350827" y="2292405"/>
            <a:ext cx="533405" cy="1201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3E4DCD39-86B9-43E7-A160-3813BCB8EF56}"/>
              </a:ext>
            </a:extLst>
          </p:cNvPr>
          <p:cNvCxnSpPr>
            <a:stCxn id="13" idx="2"/>
          </p:cNvCxnSpPr>
          <p:nvPr/>
        </p:nvCxnSpPr>
        <p:spPr>
          <a:xfrm>
            <a:off x="10559146" y="2927263"/>
            <a:ext cx="0" cy="98168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AC3A8EC6-8553-4132-AD27-3EF4179EDA4F}"/>
              </a:ext>
            </a:extLst>
          </p:cNvPr>
          <p:cNvCxnSpPr>
            <a:cxnSpLocks/>
          </p:cNvCxnSpPr>
          <p:nvPr/>
        </p:nvCxnSpPr>
        <p:spPr>
          <a:xfrm flipH="1">
            <a:off x="8303759" y="4438191"/>
            <a:ext cx="524560" cy="2204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C71D4D56-D23F-4F59-AE2C-DB21523BA134}"/>
              </a:ext>
            </a:extLst>
          </p:cNvPr>
          <p:cNvCxnSpPr>
            <a:cxnSpLocks/>
          </p:cNvCxnSpPr>
          <p:nvPr/>
        </p:nvCxnSpPr>
        <p:spPr>
          <a:xfrm flipH="1">
            <a:off x="5743573" y="4449212"/>
            <a:ext cx="578986"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D063ABBB-0564-4EA3-A229-9D9DEE3E31EC}"/>
              </a:ext>
            </a:extLst>
          </p:cNvPr>
          <p:cNvCxnSpPr>
            <a:cxnSpLocks/>
          </p:cNvCxnSpPr>
          <p:nvPr/>
        </p:nvCxnSpPr>
        <p:spPr>
          <a:xfrm>
            <a:off x="4237264" y="2298410"/>
            <a:ext cx="51571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B864E6D8-97CA-43B0-83FB-C29CEC87E61E}"/>
              </a:ext>
            </a:extLst>
          </p:cNvPr>
          <p:cNvCxnSpPr>
            <a:cxnSpLocks/>
          </p:cNvCxnSpPr>
          <p:nvPr/>
        </p:nvCxnSpPr>
        <p:spPr>
          <a:xfrm>
            <a:off x="6103766" y="2298410"/>
            <a:ext cx="53651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0BA22133-FD2C-4C29-B2F6-C59DE136CB7A}"/>
              </a:ext>
            </a:extLst>
          </p:cNvPr>
          <p:cNvCxnSpPr>
            <a:cxnSpLocks/>
          </p:cNvCxnSpPr>
          <p:nvPr/>
        </p:nvCxnSpPr>
        <p:spPr>
          <a:xfrm flipH="1" flipV="1">
            <a:off x="2809353" y="4438191"/>
            <a:ext cx="696685" cy="16598"/>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88DDE5EE-6C9E-46F5-8C34-CEEFF0A76A0E}"/>
              </a:ext>
            </a:extLst>
          </p:cNvPr>
          <p:cNvCxnSpPr>
            <a:cxnSpLocks/>
          </p:cNvCxnSpPr>
          <p:nvPr/>
        </p:nvCxnSpPr>
        <p:spPr>
          <a:xfrm>
            <a:off x="2808514" y="4438191"/>
            <a:ext cx="0" cy="8254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A8CCBEC8-D203-4787-82ED-59E41CB90433}"/>
              </a:ext>
            </a:extLst>
          </p:cNvPr>
          <p:cNvSpPr txBox="1"/>
          <p:nvPr/>
        </p:nvSpPr>
        <p:spPr>
          <a:xfrm>
            <a:off x="3820885" y="5830950"/>
            <a:ext cx="6568591"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3: Level 1 Data Flow Diagram of Road Accident Analysis</a:t>
            </a:r>
          </a:p>
        </p:txBody>
      </p:sp>
      <p:sp>
        <p:nvSpPr>
          <p:cNvPr id="27" name="Footer Placeholder 8">
            <a:extLst>
              <a:ext uri="{FF2B5EF4-FFF2-40B4-BE49-F238E27FC236}">
                <a16:creationId xmlns:a16="http://schemas.microsoft.com/office/drawing/2014/main" id="{A92208A9-C386-43A7-8E6F-55B92A649975}"/>
              </a:ext>
            </a:extLst>
          </p:cNvPr>
          <p:cNvSpPr>
            <a:spLocks noGrp="1"/>
          </p:cNvSpPr>
          <p:nvPr>
            <p:ph type="ftr" sz="quarter" idx="10"/>
          </p:nvPr>
        </p:nvSpPr>
        <p:spPr>
          <a:xfrm>
            <a:off x="4038600" y="6356350"/>
            <a:ext cx="4114800" cy="365125"/>
          </a:xfrm>
        </p:spPr>
        <p:txBody>
          <a:bodyPr/>
          <a:lstStyle/>
          <a:p>
            <a:pPr>
              <a:defRPr/>
            </a:pPr>
            <a:r>
              <a:rPr lang="en-US" dirty="0">
                <a:latin typeface="Times New Roman" panose="02020603050405020304" pitchFamily="18" charset="0"/>
                <a:cs typeface="Times New Roman" panose="02020603050405020304" pitchFamily="18" charset="0"/>
              </a:rPr>
              <a:t>Dept of CSE,GAT                     2020-21 </a:t>
            </a:r>
            <a:fld id="{2663D2DC-5F12-406D-9BC7-0C4E2707489C}" type="slidenum">
              <a:rPr lang="en-IN" smtClean="0"/>
              <a:pPr>
                <a:defRPr/>
              </a:pPr>
              <a:t>11</a:t>
            </a:fld>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4662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95"/>
            <a:ext cx="10515600" cy="1244272"/>
          </a:xfrm>
        </p:spPr>
        <p:txBody>
          <a:bodyPr>
            <a:normAutofit/>
          </a:bodyPr>
          <a:lstStyle/>
          <a:p>
            <a:r>
              <a:rPr lang="en-US" sz="4000" b="1" dirty="0">
                <a:latin typeface="Times New Roman" panose="02020603050405020304" pitchFamily="18" charset="0"/>
                <a:cs typeface="Times New Roman" panose="02020603050405020304" pitchFamily="18" charset="0"/>
              </a:rPr>
              <a:t>Class Diagram</a:t>
            </a:r>
          </a:p>
        </p:txBody>
      </p:sp>
      <p:sp>
        <p:nvSpPr>
          <p:cNvPr id="4" name="Footer Placeholder 3"/>
          <p:cNvSpPr>
            <a:spLocks noGrp="1"/>
          </p:cNvSpPr>
          <p:nvPr>
            <p:ph type="ftr" sz="quarter" idx="10"/>
          </p:nvPr>
        </p:nvSpPr>
        <p:spPr/>
        <p:txBody>
          <a:bodyPr/>
          <a:lstStyle/>
          <a:p>
            <a:pPr>
              <a:defRPr/>
            </a:pPr>
            <a:r>
              <a:rPr lang="en-US">
                <a:latin typeface="Times New Roman" panose="02020603050405020304" pitchFamily="18" charset="0"/>
                <a:cs typeface="Times New Roman" panose="02020603050405020304" pitchFamily="18" charset="0"/>
              </a:rPr>
              <a:t>Dept of CSE,GAT                     2020-21                                                                                                           </a:t>
            </a:r>
            <a:endParaRPr lang="en-IN">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1"/>
          </p:nvPr>
        </p:nvSpPr>
        <p:spPr>
          <a:xfrm>
            <a:off x="9176653" y="6356350"/>
            <a:ext cx="2177147" cy="365125"/>
          </a:xfrm>
        </p:spPr>
        <p:txBody>
          <a:bodyPr/>
          <a:lstStyle/>
          <a:p>
            <a:fld id="{25C42BF0-F0BA-4BEC-BFEF-185B471DC7CC}" type="slidenum">
              <a:rPr lang="en-IN" altLang="en-US" smtClean="0">
                <a:latin typeface="Times New Roman" panose="02020603050405020304" pitchFamily="18" charset="0"/>
                <a:cs typeface="Times New Roman" panose="02020603050405020304" pitchFamily="18" charset="0"/>
              </a:rPr>
              <a:pPr/>
              <a:t>12</a:t>
            </a:fld>
            <a:endParaRPr lang="en-IN" altLang="en-US"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76EA36B7-BBDD-4EB5-823B-B4C98E54A313}"/>
              </a:ext>
            </a:extLst>
          </p:cNvPr>
          <p:cNvSpPr/>
          <p:nvPr/>
        </p:nvSpPr>
        <p:spPr>
          <a:xfrm>
            <a:off x="740226" y="979714"/>
            <a:ext cx="2079171" cy="322217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96AD8A70-E452-482E-84C3-2DEFBA85B2C2}"/>
              </a:ext>
            </a:extLst>
          </p:cNvPr>
          <p:cNvSpPr/>
          <p:nvPr/>
        </p:nvSpPr>
        <p:spPr>
          <a:xfrm>
            <a:off x="7445833" y="3320146"/>
            <a:ext cx="1752600" cy="252548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072DF27D-25B7-46BD-9389-77D09030BA9A}"/>
              </a:ext>
            </a:extLst>
          </p:cNvPr>
          <p:cNvSpPr/>
          <p:nvPr/>
        </p:nvSpPr>
        <p:spPr>
          <a:xfrm>
            <a:off x="9361712" y="1099458"/>
            <a:ext cx="2079158" cy="29500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7618D04E-5440-4BAD-BB91-B6DC37B6584F}"/>
              </a:ext>
            </a:extLst>
          </p:cNvPr>
          <p:cNvSpPr/>
          <p:nvPr/>
        </p:nvSpPr>
        <p:spPr>
          <a:xfrm>
            <a:off x="5508169" y="3929743"/>
            <a:ext cx="1698166" cy="223157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00401D1A-3495-451F-B0A1-78F1BEE75AC8}"/>
              </a:ext>
            </a:extLst>
          </p:cNvPr>
          <p:cNvCxnSpPr/>
          <p:nvPr/>
        </p:nvCxnSpPr>
        <p:spPr>
          <a:xfrm>
            <a:off x="740226" y="1426029"/>
            <a:ext cx="2079171" cy="0"/>
          </a:xfrm>
          <a:prstGeom prst="line">
            <a:avLst/>
          </a:prstGeom>
          <a:ln w="19050"/>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7D09615D-AC82-4EB7-9CDA-365D659F28D8}"/>
              </a:ext>
            </a:extLst>
          </p:cNvPr>
          <p:cNvSpPr txBox="1"/>
          <p:nvPr/>
        </p:nvSpPr>
        <p:spPr>
          <a:xfrm>
            <a:off x="740226" y="1012372"/>
            <a:ext cx="2079171"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PERSON</a:t>
            </a:r>
          </a:p>
        </p:txBody>
      </p:sp>
      <p:sp>
        <p:nvSpPr>
          <p:cNvPr id="13" name="TextBox 12">
            <a:extLst>
              <a:ext uri="{FF2B5EF4-FFF2-40B4-BE49-F238E27FC236}">
                <a16:creationId xmlns:a16="http://schemas.microsoft.com/office/drawing/2014/main" id="{24E219A6-F61D-41DE-A2B3-71CEAE70F210}"/>
              </a:ext>
            </a:extLst>
          </p:cNvPr>
          <p:cNvSpPr txBox="1"/>
          <p:nvPr/>
        </p:nvSpPr>
        <p:spPr>
          <a:xfrm>
            <a:off x="838198" y="1456998"/>
            <a:ext cx="1839686" cy="1754326"/>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License_Id</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Person_Name</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Date_of_Birth</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Gender</a:t>
            </a:r>
          </a:p>
          <a:p>
            <a:r>
              <a:rPr lang="en-IN" dirty="0">
                <a:latin typeface="Times New Roman" panose="02020603050405020304" pitchFamily="18" charset="0"/>
                <a:cs typeface="Times New Roman" panose="02020603050405020304" pitchFamily="18" charset="0"/>
              </a:rPr>
              <a:t>Religion</a:t>
            </a:r>
          </a:p>
          <a:p>
            <a:r>
              <a:rPr lang="en-IN" dirty="0">
                <a:latin typeface="Times New Roman" panose="02020603050405020304" pitchFamily="18" charset="0"/>
                <a:cs typeface="Times New Roman" panose="02020603050405020304" pitchFamily="18" charset="0"/>
              </a:rPr>
              <a:t>Job</a:t>
            </a:r>
          </a:p>
        </p:txBody>
      </p:sp>
      <p:sp>
        <p:nvSpPr>
          <p:cNvPr id="14" name="TextBox 13">
            <a:extLst>
              <a:ext uri="{FF2B5EF4-FFF2-40B4-BE49-F238E27FC236}">
                <a16:creationId xmlns:a16="http://schemas.microsoft.com/office/drawing/2014/main" id="{476F363B-FFA2-41C1-B962-8C29E45209F6}"/>
              </a:ext>
            </a:extLst>
          </p:cNvPr>
          <p:cNvSpPr txBox="1"/>
          <p:nvPr/>
        </p:nvSpPr>
        <p:spPr>
          <a:xfrm>
            <a:off x="740225" y="3799116"/>
            <a:ext cx="2079171" cy="369332"/>
          </a:xfrm>
          <a:prstGeom prst="rect">
            <a:avLst/>
          </a:prstGeom>
          <a:noFill/>
        </p:spPr>
        <p:txBody>
          <a:bodyPr wrap="square" rtlCol="0">
            <a:spAutoFit/>
          </a:bodyPr>
          <a:lstStyle/>
          <a:p>
            <a:pPr algn="ctr"/>
            <a:r>
              <a:rPr lang="en-IN" dirty="0" err="1">
                <a:latin typeface="Times New Roman" panose="02020603050405020304" pitchFamily="18" charset="0"/>
                <a:cs typeface="Times New Roman" panose="02020603050405020304" pitchFamily="18" charset="0"/>
              </a:rPr>
              <a:t>Calculate_Age</a:t>
            </a:r>
            <a:r>
              <a:rPr lang="en-IN" dirty="0">
                <a:latin typeface="Times New Roman" panose="02020603050405020304" pitchFamily="18" charset="0"/>
                <a:cs typeface="Times New Roman" panose="02020603050405020304" pitchFamily="18" charset="0"/>
              </a:rPr>
              <a:t>()</a:t>
            </a:r>
          </a:p>
        </p:txBody>
      </p:sp>
      <p:cxnSp>
        <p:nvCxnSpPr>
          <p:cNvPr id="15" name="Straight Connector 14">
            <a:extLst>
              <a:ext uri="{FF2B5EF4-FFF2-40B4-BE49-F238E27FC236}">
                <a16:creationId xmlns:a16="http://schemas.microsoft.com/office/drawing/2014/main" id="{87662978-A298-4908-AEAD-7D6E92001064}"/>
              </a:ext>
            </a:extLst>
          </p:cNvPr>
          <p:cNvCxnSpPr/>
          <p:nvPr/>
        </p:nvCxnSpPr>
        <p:spPr>
          <a:xfrm>
            <a:off x="729342" y="3744689"/>
            <a:ext cx="207917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CC3D0E08-C534-472A-900C-E9DE1CFF6CF5}"/>
              </a:ext>
            </a:extLst>
          </p:cNvPr>
          <p:cNvCxnSpPr/>
          <p:nvPr/>
        </p:nvCxnSpPr>
        <p:spPr>
          <a:xfrm>
            <a:off x="9361699" y="1578432"/>
            <a:ext cx="2079171" cy="0"/>
          </a:xfrm>
          <a:prstGeom prst="line">
            <a:avLst/>
          </a:prstGeom>
          <a:ln w="19050"/>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533C12CC-3899-4877-ADE3-FBF5263DA471}"/>
              </a:ext>
            </a:extLst>
          </p:cNvPr>
          <p:cNvSpPr txBox="1"/>
          <p:nvPr/>
        </p:nvSpPr>
        <p:spPr>
          <a:xfrm>
            <a:off x="9361703" y="1164772"/>
            <a:ext cx="2079171"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VEHICLE</a:t>
            </a:r>
          </a:p>
        </p:txBody>
      </p:sp>
      <p:cxnSp>
        <p:nvCxnSpPr>
          <p:cNvPr id="18" name="Straight Connector 17">
            <a:extLst>
              <a:ext uri="{FF2B5EF4-FFF2-40B4-BE49-F238E27FC236}">
                <a16:creationId xmlns:a16="http://schemas.microsoft.com/office/drawing/2014/main" id="{E0437100-F0F8-4782-8513-B50849778206}"/>
              </a:ext>
            </a:extLst>
          </p:cNvPr>
          <p:cNvCxnSpPr/>
          <p:nvPr/>
        </p:nvCxnSpPr>
        <p:spPr>
          <a:xfrm>
            <a:off x="9372582" y="3537860"/>
            <a:ext cx="2079171" cy="0"/>
          </a:xfrm>
          <a:prstGeom prst="line">
            <a:avLst/>
          </a:prstGeom>
          <a:ln w="19050"/>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392C5FC4-5C3D-4959-A560-D18FCAF26A96}"/>
              </a:ext>
            </a:extLst>
          </p:cNvPr>
          <p:cNvSpPr txBox="1"/>
          <p:nvPr/>
        </p:nvSpPr>
        <p:spPr>
          <a:xfrm>
            <a:off x="9361700" y="1663825"/>
            <a:ext cx="2079157" cy="923330"/>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Veh_Plate_Number</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Vehicle_Type</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Vehicle_Mode</a:t>
            </a:r>
            <a:r>
              <a:rPr lang="en-IN" dirty="0">
                <a:latin typeface="Times New Roman" panose="02020603050405020304" pitchFamily="18" charset="0"/>
                <a:cs typeface="Times New Roman" panose="02020603050405020304" pitchFamily="18" charset="0"/>
              </a:rPr>
              <a:t> year</a:t>
            </a:r>
          </a:p>
        </p:txBody>
      </p:sp>
      <p:cxnSp>
        <p:nvCxnSpPr>
          <p:cNvPr id="21" name="Straight Connector 20">
            <a:extLst>
              <a:ext uri="{FF2B5EF4-FFF2-40B4-BE49-F238E27FC236}">
                <a16:creationId xmlns:a16="http://schemas.microsoft.com/office/drawing/2014/main" id="{A664D151-F036-409F-803F-71923742FA86}"/>
              </a:ext>
            </a:extLst>
          </p:cNvPr>
          <p:cNvCxnSpPr>
            <a:cxnSpLocks/>
          </p:cNvCxnSpPr>
          <p:nvPr/>
        </p:nvCxnSpPr>
        <p:spPr>
          <a:xfrm>
            <a:off x="7445833" y="3744689"/>
            <a:ext cx="1752600" cy="0"/>
          </a:xfrm>
          <a:prstGeom prst="line">
            <a:avLst/>
          </a:prstGeom>
          <a:ln w="19050"/>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C9A1FF8E-B470-44DE-9ECE-DB0BFC6D4947}"/>
              </a:ext>
            </a:extLst>
          </p:cNvPr>
          <p:cNvSpPr txBox="1"/>
          <p:nvPr/>
        </p:nvSpPr>
        <p:spPr>
          <a:xfrm>
            <a:off x="7238999" y="3352805"/>
            <a:ext cx="2079171"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ACCIDENT</a:t>
            </a:r>
          </a:p>
        </p:txBody>
      </p:sp>
      <p:sp>
        <p:nvSpPr>
          <p:cNvPr id="24" name="TextBox 23">
            <a:extLst>
              <a:ext uri="{FF2B5EF4-FFF2-40B4-BE49-F238E27FC236}">
                <a16:creationId xmlns:a16="http://schemas.microsoft.com/office/drawing/2014/main" id="{3F6FCA8F-2A3C-4277-9269-EEA2134414DE}"/>
              </a:ext>
            </a:extLst>
          </p:cNvPr>
          <p:cNvSpPr txBox="1"/>
          <p:nvPr/>
        </p:nvSpPr>
        <p:spPr>
          <a:xfrm>
            <a:off x="7467604" y="3744689"/>
            <a:ext cx="1578429" cy="1200329"/>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Accident_Id</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Date/Time</a:t>
            </a:r>
          </a:p>
          <a:p>
            <a:r>
              <a:rPr lang="en-IN" dirty="0">
                <a:latin typeface="Times New Roman" panose="02020603050405020304" pitchFamily="18" charset="0"/>
                <a:cs typeface="Times New Roman" panose="02020603050405020304" pitchFamily="18" charset="0"/>
              </a:rPr>
              <a:t>Location</a:t>
            </a:r>
          </a:p>
          <a:p>
            <a:r>
              <a:rPr lang="en-IN" dirty="0">
                <a:latin typeface="Times New Roman" panose="02020603050405020304" pitchFamily="18" charset="0"/>
                <a:cs typeface="Times New Roman" panose="02020603050405020304" pitchFamily="18" charset="0"/>
              </a:rPr>
              <a:t>Cause</a:t>
            </a:r>
          </a:p>
        </p:txBody>
      </p:sp>
      <p:cxnSp>
        <p:nvCxnSpPr>
          <p:cNvPr id="26" name="Straight Connector 25">
            <a:extLst>
              <a:ext uri="{FF2B5EF4-FFF2-40B4-BE49-F238E27FC236}">
                <a16:creationId xmlns:a16="http://schemas.microsoft.com/office/drawing/2014/main" id="{90C6F4DA-97EF-4472-9BCB-BE6A463AA647}"/>
              </a:ext>
            </a:extLst>
          </p:cNvPr>
          <p:cNvCxnSpPr>
            <a:cxnSpLocks/>
          </p:cNvCxnSpPr>
          <p:nvPr/>
        </p:nvCxnSpPr>
        <p:spPr>
          <a:xfrm>
            <a:off x="5508169" y="4349298"/>
            <a:ext cx="1698166" cy="0"/>
          </a:xfrm>
          <a:prstGeom prst="line">
            <a:avLst/>
          </a:prstGeom>
          <a:ln w="19050"/>
        </p:spPr>
        <p:style>
          <a:lnRef idx="1">
            <a:schemeClr val="dk1"/>
          </a:lnRef>
          <a:fillRef idx="0">
            <a:schemeClr val="dk1"/>
          </a:fillRef>
          <a:effectRef idx="0">
            <a:schemeClr val="dk1"/>
          </a:effectRef>
          <a:fontRef idx="minor">
            <a:schemeClr val="tx1"/>
          </a:fontRef>
        </p:style>
      </p:cxnSp>
      <p:sp>
        <p:nvSpPr>
          <p:cNvPr id="28" name="TextBox 27">
            <a:extLst>
              <a:ext uri="{FF2B5EF4-FFF2-40B4-BE49-F238E27FC236}">
                <a16:creationId xmlns:a16="http://schemas.microsoft.com/office/drawing/2014/main" id="{62D10064-A257-42FE-9E1B-2E02BE073419}"/>
              </a:ext>
            </a:extLst>
          </p:cNvPr>
          <p:cNvSpPr txBox="1"/>
          <p:nvPr/>
        </p:nvSpPr>
        <p:spPr>
          <a:xfrm>
            <a:off x="5323106" y="3951518"/>
            <a:ext cx="2079171"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POLICE</a:t>
            </a:r>
          </a:p>
        </p:txBody>
      </p:sp>
      <p:sp>
        <p:nvSpPr>
          <p:cNvPr id="29" name="TextBox 28">
            <a:extLst>
              <a:ext uri="{FF2B5EF4-FFF2-40B4-BE49-F238E27FC236}">
                <a16:creationId xmlns:a16="http://schemas.microsoft.com/office/drawing/2014/main" id="{23B5E20A-765F-4BF3-8660-56E28534A095}"/>
              </a:ext>
            </a:extLst>
          </p:cNvPr>
          <p:cNvSpPr txBox="1"/>
          <p:nvPr/>
        </p:nvSpPr>
        <p:spPr>
          <a:xfrm>
            <a:off x="5584369" y="4407029"/>
            <a:ext cx="1534886" cy="923330"/>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Police_Id</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Police_Name</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Police_Area</a:t>
            </a:r>
            <a:endParaRPr lang="en-IN" dirty="0">
              <a:latin typeface="Times New Roman" panose="02020603050405020304" pitchFamily="18" charset="0"/>
              <a:cs typeface="Times New Roman" panose="02020603050405020304" pitchFamily="18" charset="0"/>
            </a:endParaRPr>
          </a:p>
        </p:txBody>
      </p:sp>
      <p:sp>
        <p:nvSpPr>
          <p:cNvPr id="30" name="Rectangle 29">
            <a:extLst>
              <a:ext uri="{FF2B5EF4-FFF2-40B4-BE49-F238E27FC236}">
                <a16:creationId xmlns:a16="http://schemas.microsoft.com/office/drawing/2014/main" id="{9F81966E-E32C-4BBB-9530-BCB5F73016E4}"/>
              </a:ext>
            </a:extLst>
          </p:cNvPr>
          <p:cNvSpPr/>
          <p:nvPr/>
        </p:nvSpPr>
        <p:spPr>
          <a:xfrm>
            <a:off x="3156855" y="3004457"/>
            <a:ext cx="1926753" cy="279762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AB55A739-E7D3-4DF4-B3EF-9E672C47554C}"/>
              </a:ext>
            </a:extLst>
          </p:cNvPr>
          <p:cNvSpPr txBox="1"/>
          <p:nvPr/>
        </p:nvSpPr>
        <p:spPr>
          <a:xfrm>
            <a:off x="3091533" y="3037114"/>
            <a:ext cx="2079171"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INSURANCE</a:t>
            </a:r>
          </a:p>
        </p:txBody>
      </p:sp>
      <p:cxnSp>
        <p:nvCxnSpPr>
          <p:cNvPr id="32" name="Straight Connector 31">
            <a:extLst>
              <a:ext uri="{FF2B5EF4-FFF2-40B4-BE49-F238E27FC236}">
                <a16:creationId xmlns:a16="http://schemas.microsoft.com/office/drawing/2014/main" id="{0FD74B5D-41CA-4E3E-8006-63D42AA64467}"/>
              </a:ext>
            </a:extLst>
          </p:cNvPr>
          <p:cNvCxnSpPr>
            <a:cxnSpLocks/>
          </p:cNvCxnSpPr>
          <p:nvPr/>
        </p:nvCxnSpPr>
        <p:spPr>
          <a:xfrm>
            <a:off x="3145967" y="3429002"/>
            <a:ext cx="1937641" cy="0"/>
          </a:xfrm>
          <a:prstGeom prst="line">
            <a:avLst/>
          </a:prstGeom>
          <a:ln w="19050"/>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68FC2DA7-4D4F-4FDE-ADDE-2EA51659E3EA}"/>
              </a:ext>
            </a:extLst>
          </p:cNvPr>
          <p:cNvSpPr txBox="1"/>
          <p:nvPr/>
        </p:nvSpPr>
        <p:spPr>
          <a:xfrm>
            <a:off x="3222172" y="3449082"/>
            <a:ext cx="1534886" cy="923330"/>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Insurance_Id</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Bank_Name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Amount</a:t>
            </a:r>
          </a:p>
        </p:txBody>
      </p:sp>
      <p:cxnSp>
        <p:nvCxnSpPr>
          <p:cNvPr id="36" name="Straight Connector 35">
            <a:extLst>
              <a:ext uri="{FF2B5EF4-FFF2-40B4-BE49-F238E27FC236}">
                <a16:creationId xmlns:a16="http://schemas.microsoft.com/office/drawing/2014/main" id="{CEC311C7-7E8F-454C-A172-04E7C0DD36A5}"/>
              </a:ext>
            </a:extLst>
          </p:cNvPr>
          <p:cNvCxnSpPr>
            <a:cxnSpLocks/>
          </p:cNvCxnSpPr>
          <p:nvPr/>
        </p:nvCxnSpPr>
        <p:spPr>
          <a:xfrm>
            <a:off x="2808513" y="1687287"/>
            <a:ext cx="6553187" cy="2775"/>
          </a:xfrm>
          <a:prstGeom prst="line">
            <a:avLst/>
          </a:prstGeom>
          <a:ln w="19050"/>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D9B22CB1-B262-4F39-8362-4D5B4C5103F0}"/>
              </a:ext>
            </a:extLst>
          </p:cNvPr>
          <p:cNvCxnSpPr/>
          <p:nvPr/>
        </p:nvCxnSpPr>
        <p:spPr>
          <a:xfrm>
            <a:off x="8256818" y="1687287"/>
            <a:ext cx="0" cy="1632856"/>
          </a:xfrm>
          <a:prstGeom prst="line">
            <a:avLst/>
          </a:prstGeom>
          <a:ln w="19050">
            <a:prstDash val="sysDash"/>
          </a:ln>
        </p:spPr>
        <p:style>
          <a:lnRef idx="1">
            <a:schemeClr val="dk1"/>
          </a:lnRef>
          <a:fillRef idx="0">
            <a:schemeClr val="dk1"/>
          </a:fillRef>
          <a:effectRef idx="0">
            <a:schemeClr val="dk1"/>
          </a:effectRef>
          <a:fontRef idx="minor">
            <a:schemeClr val="tx1"/>
          </a:fontRef>
        </p:style>
      </p:cxnSp>
      <p:cxnSp>
        <p:nvCxnSpPr>
          <p:cNvPr id="53" name="Connector: Elbow 52">
            <a:extLst>
              <a:ext uri="{FF2B5EF4-FFF2-40B4-BE49-F238E27FC236}">
                <a16:creationId xmlns:a16="http://schemas.microsoft.com/office/drawing/2014/main" id="{4CAF40F1-D92F-4863-8662-63156C138DDB}"/>
              </a:ext>
            </a:extLst>
          </p:cNvPr>
          <p:cNvCxnSpPr>
            <a:cxnSpLocks/>
          </p:cNvCxnSpPr>
          <p:nvPr/>
        </p:nvCxnSpPr>
        <p:spPr>
          <a:xfrm>
            <a:off x="2808513" y="2797628"/>
            <a:ext cx="1322606" cy="206828"/>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316FF558-648D-4FE1-9F12-3C7C7316318F}"/>
              </a:ext>
            </a:extLst>
          </p:cNvPr>
          <p:cNvCxnSpPr>
            <a:cxnSpLocks/>
          </p:cNvCxnSpPr>
          <p:nvPr/>
        </p:nvCxnSpPr>
        <p:spPr>
          <a:xfrm flipH="1">
            <a:off x="6229353" y="3537471"/>
            <a:ext cx="1238251"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FE61E86B-FAD4-41CE-B7A5-E541CC2B3F69}"/>
              </a:ext>
            </a:extLst>
          </p:cNvPr>
          <p:cNvCxnSpPr/>
          <p:nvPr/>
        </p:nvCxnSpPr>
        <p:spPr>
          <a:xfrm>
            <a:off x="6226626" y="3537471"/>
            <a:ext cx="0" cy="392272"/>
          </a:xfrm>
          <a:prstGeom prst="line">
            <a:avLst/>
          </a:prstGeom>
          <a:ln w="19050"/>
        </p:spPr>
        <p:style>
          <a:lnRef idx="1">
            <a:schemeClr val="dk1"/>
          </a:lnRef>
          <a:fillRef idx="0">
            <a:schemeClr val="dk1"/>
          </a:fillRef>
          <a:effectRef idx="0">
            <a:schemeClr val="dk1"/>
          </a:effectRef>
          <a:fontRef idx="minor">
            <a:schemeClr val="tx1"/>
          </a:fontRef>
        </p:style>
      </p:cxnSp>
      <p:sp>
        <p:nvSpPr>
          <p:cNvPr id="72" name="TextBox 71">
            <a:extLst>
              <a:ext uri="{FF2B5EF4-FFF2-40B4-BE49-F238E27FC236}">
                <a16:creationId xmlns:a16="http://schemas.microsoft.com/office/drawing/2014/main" id="{96D7467B-FC72-4B25-9CE7-0587EC358DE6}"/>
              </a:ext>
            </a:extLst>
          </p:cNvPr>
          <p:cNvSpPr txBox="1"/>
          <p:nvPr/>
        </p:nvSpPr>
        <p:spPr>
          <a:xfrm>
            <a:off x="2884699" y="1258537"/>
            <a:ext cx="84363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0..*</a:t>
            </a:r>
          </a:p>
        </p:txBody>
      </p:sp>
      <p:sp>
        <p:nvSpPr>
          <p:cNvPr id="73" name="TextBox 72">
            <a:extLst>
              <a:ext uri="{FF2B5EF4-FFF2-40B4-BE49-F238E27FC236}">
                <a16:creationId xmlns:a16="http://schemas.microsoft.com/office/drawing/2014/main" id="{807B86AF-3327-4324-B9E6-60805F590335}"/>
              </a:ext>
            </a:extLst>
          </p:cNvPr>
          <p:cNvSpPr txBox="1"/>
          <p:nvPr/>
        </p:nvSpPr>
        <p:spPr>
          <a:xfrm>
            <a:off x="8436411" y="1236764"/>
            <a:ext cx="84363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0..*</a:t>
            </a:r>
          </a:p>
        </p:txBody>
      </p:sp>
      <p:sp>
        <p:nvSpPr>
          <p:cNvPr id="74" name="TextBox 73">
            <a:extLst>
              <a:ext uri="{FF2B5EF4-FFF2-40B4-BE49-F238E27FC236}">
                <a16:creationId xmlns:a16="http://schemas.microsoft.com/office/drawing/2014/main" id="{7F78A1AA-C00C-491E-A4DC-C5CB484E34FD}"/>
              </a:ext>
            </a:extLst>
          </p:cNvPr>
          <p:cNvSpPr txBox="1"/>
          <p:nvPr/>
        </p:nvSpPr>
        <p:spPr>
          <a:xfrm>
            <a:off x="2852042" y="2390648"/>
            <a:ext cx="84363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0..*</a:t>
            </a:r>
          </a:p>
        </p:txBody>
      </p:sp>
      <p:sp>
        <p:nvSpPr>
          <p:cNvPr id="75" name="TextBox 74">
            <a:extLst>
              <a:ext uri="{FF2B5EF4-FFF2-40B4-BE49-F238E27FC236}">
                <a16:creationId xmlns:a16="http://schemas.microsoft.com/office/drawing/2014/main" id="{9D1DE7AC-A080-42D7-B3F2-61B9C3200CE9}"/>
              </a:ext>
            </a:extLst>
          </p:cNvPr>
          <p:cNvSpPr txBox="1"/>
          <p:nvPr/>
        </p:nvSpPr>
        <p:spPr>
          <a:xfrm>
            <a:off x="4158328" y="2630136"/>
            <a:ext cx="84363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1..1</a:t>
            </a:r>
          </a:p>
        </p:txBody>
      </p:sp>
      <p:sp>
        <p:nvSpPr>
          <p:cNvPr id="76" name="TextBox 75">
            <a:extLst>
              <a:ext uri="{FF2B5EF4-FFF2-40B4-BE49-F238E27FC236}">
                <a16:creationId xmlns:a16="http://schemas.microsoft.com/office/drawing/2014/main" id="{3114F5DD-40CE-43AA-AE53-29BC017985C8}"/>
              </a:ext>
            </a:extLst>
          </p:cNvPr>
          <p:cNvSpPr txBox="1"/>
          <p:nvPr/>
        </p:nvSpPr>
        <p:spPr>
          <a:xfrm>
            <a:off x="5671441" y="3544534"/>
            <a:ext cx="843637"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1..1</a:t>
            </a:r>
          </a:p>
        </p:txBody>
      </p:sp>
      <p:sp>
        <p:nvSpPr>
          <p:cNvPr id="38" name="TextBox 37">
            <a:extLst>
              <a:ext uri="{FF2B5EF4-FFF2-40B4-BE49-F238E27FC236}">
                <a16:creationId xmlns:a16="http://schemas.microsoft.com/office/drawing/2014/main" id="{EAB9543C-94BA-4C12-94F3-E55775834E5F}"/>
              </a:ext>
            </a:extLst>
          </p:cNvPr>
          <p:cNvSpPr txBox="1"/>
          <p:nvPr/>
        </p:nvSpPr>
        <p:spPr>
          <a:xfrm>
            <a:off x="3624941" y="6084596"/>
            <a:ext cx="592182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4: Class Diagram of Road Accident Analysis</a:t>
            </a:r>
          </a:p>
        </p:txBody>
      </p:sp>
    </p:spTree>
    <p:extLst>
      <p:ext uri="{BB962C8B-B14F-4D97-AF65-F5344CB8AC3E}">
        <p14:creationId xmlns:p14="http://schemas.microsoft.com/office/powerpoint/2010/main" val="3753507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34"/>
            <a:ext cx="10515600" cy="1194020"/>
          </a:xfrm>
        </p:spPr>
        <p:txBody>
          <a:bodyPr>
            <a:normAutofit/>
          </a:bodyPr>
          <a:lstStyle/>
          <a:p>
            <a:r>
              <a:rPr lang="en-US" sz="4000" b="1" dirty="0">
                <a:latin typeface="Times New Roman" panose="02020603050405020304" pitchFamily="18" charset="0"/>
                <a:cs typeface="Times New Roman" panose="02020603050405020304" pitchFamily="18" charset="0"/>
              </a:rPr>
              <a:t>Use Case Diagram</a:t>
            </a:r>
          </a:p>
        </p:txBody>
      </p:sp>
      <p:sp>
        <p:nvSpPr>
          <p:cNvPr id="4" name="Footer Placeholder 3"/>
          <p:cNvSpPr>
            <a:spLocks noGrp="1"/>
          </p:cNvSpPr>
          <p:nvPr>
            <p:ph type="ftr" sz="quarter" idx="10"/>
          </p:nvPr>
        </p:nvSpPr>
        <p:spPr>
          <a:xfrm>
            <a:off x="4038600" y="6486987"/>
            <a:ext cx="4114800" cy="365125"/>
          </a:xfrm>
        </p:spPr>
        <p:txBody>
          <a:bodyPr/>
          <a:lstStyle/>
          <a:p>
            <a:pPr>
              <a:defRPr/>
            </a:pPr>
            <a:r>
              <a:rPr lang="en-US" dirty="0">
                <a:latin typeface="Times New Roman" panose="02020603050405020304" pitchFamily="18" charset="0"/>
                <a:cs typeface="Times New Roman" panose="02020603050405020304" pitchFamily="18" charset="0"/>
              </a:rPr>
              <a:t>Dept of CSE,GAT                     2020-21                                                                                                           </a:t>
            </a:r>
            <a:endParaRPr lang="en-IN"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1"/>
          </p:nvPr>
        </p:nvSpPr>
        <p:spPr>
          <a:xfrm>
            <a:off x="9100454" y="6486987"/>
            <a:ext cx="2253346" cy="365125"/>
          </a:xfrm>
        </p:spPr>
        <p:txBody>
          <a:bodyPr/>
          <a:lstStyle/>
          <a:p>
            <a:fld id="{25C42BF0-F0BA-4BEC-BFEF-185B471DC7CC}" type="slidenum">
              <a:rPr lang="en-IN" altLang="en-US" smtClean="0">
                <a:latin typeface="Times New Roman" panose="02020603050405020304" pitchFamily="18" charset="0"/>
                <a:cs typeface="Times New Roman" panose="02020603050405020304" pitchFamily="18" charset="0"/>
              </a:rPr>
              <a:pPr/>
              <a:t>13</a:t>
            </a:fld>
            <a:endParaRPr lang="en-IN" altLang="en-US" dirty="0">
              <a:latin typeface="Times New Roman" panose="02020603050405020304" pitchFamily="18" charset="0"/>
              <a:cs typeface="Times New Roman" panose="02020603050405020304" pitchFamily="18" charset="0"/>
            </a:endParaRPr>
          </a:p>
        </p:txBody>
      </p:sp>
      <p:pic>
        <p:nvPicPr>
          <p:cNvPr id="20" name="Picture 19" descr="A picture containing diagram&#10;&#10;Description automatically generated">
            <a:extLst>
              <a:ext uri="{FF2B5EF4-FFF2-40B4-BE49-F238E27FC236}">
                <a16:creationId xmlns:a16="http://schemas.microsoft.com/office/drawing/2014/main" id="{00F13738-F010-4231-9956-9330530D974C}"/>
              </a:ext>
            </a:extLst>
          </p:cNvPr>
          <p:cNvPicPr>
            <a:picLocks noChangeAspect="1"/>
          </p:cNvPicPr>
          <p:nvPr/>
        </p:nvPicPr>
        <p:blipFill rotWithShape="1">
          <a:blip r:embed="rId2">
            <a:extLst>
              <a:ext uri="{28A0092B-C50C-407E-A947-70E740481C1C}">
                <a14:useLocalDpi xmlns:a14="http://schemas.microsoft.com/office/drawing/2010/main" val="0"/>
              </a:ext>
            </a:extLst>
          </a:blip>
          <a:srcRect l="44005" t="43916" r="43037" b="26473"/>
          <a:stretch/>
        </p:blipFill>
        <p:spPr>
          <a:xfrm>
            <a:off x="1665515" y="3261256"/>
            <a:ext cx="457816" cy="1046210"/>
          </a:xfrm>
          <a:prstGeom prst="rect">
            <a:avLst/>
          </a:prstGeom>
        </p:spPr>
      </p:pic>
      <p:sp>
        <p:nvSpPr>
          <p:cNvPr id="21" name="Oval 20">
            <a:extLst>
              <a:ext uri="{FF2B5EF4-FFF2-40B4-BE49-F238E27FC236}">
                <a16:creationId xmlns:a16="http://schemas.microsoft.com/office/drawing/2014/main" id="{EDBE0931-9E10-4632-B1EB-A2A1828F9438}"/>
              </a:ext>
            </a:extLst>
          </p:cNvPr>
          <p:cNvSpPr/>
          <p:nvPr/>
        </p:nvSpPr>
        <p:spPr>
          <a:xfrm>
            <a:off x="4295775" y="1006933"/>
            <a:ext cx="4114799" cy="598715"/>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Report Accident to police</a:t>
            </a:r>
          </a:p>
        </p:txBody>
      </p:sp>
      <p:sp>
        <p:nvSpPr>
          <p:cNvPr id="22" name="Oval 21">
            <a:extLst>
              <a:ext uri="{FF2B5EF4-FFF2-40B4-BE49-F238E27FC236}">
                <a16:creationId xmlns:a16="http://schemas.microsoft.com/office/drawing/2014/main" id="{8905DF99-D221-4DC0-80B9-BC8F9D0DB261}"/>
              </a:ext>
            </a:extLst>
          </p:cNvPr>
          <p:cNvSpPr/>
          <p:nvPr/>
        </p:nvSpPr>
        <p:spPr>
          <a:xfrm>
            <a:off x="4295774" y="1732080"/>
            <a:ext cx="4114800" cy="52002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Police examine the accident area</a:t>
            </a:r>
          </a:p>
        </p:txBody>
      </p:sp>
      <p:sp>
        <p:nvSpPr>
          <p:cNvPr id="23" name="Oval 22">
            <a:extLst>
              <a:ext uri="{FF2B5EF4-FFF2-40B4-BE49-F238E27FC236}">
                <a16:creationId xmlns:a16="http://schemas.microsoft.com/office/drawing/2014/main" id="{71523C5F-C571-4A2D-996F-6E1FD529DD9C}"/>
              </a:ext>
            </a:extLst>
          </p:cNvPr>
          <p:cNvSpPr/>
          <p:nvPr/>
        </p:nvSpPr>
        <p:spPr>
          <a:xfrm>
            <a:off x="4295774" y="2367195"/>
            <a:ext cx="4114800" cy="52002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Report accident to insurance agent</a:t>
            </a:r>
          </a:p>
        </p:txBody>
      </p:sp>
      <p:sp>
        <p:nvSpPr>
          <p:cNvPr id="25" name="Oval 24">
            <a:extLst>
              <a:ext uri="{FF2B5EF4-FFF2-40B4-BE49-F238E27FC236}">
                <a16:creationId xmlns:a16="http://schemas.microsoft.com/office/drawing/2014/main" id="{A019CF45-11B3-4CD5-89E1-BA95F673ADEC}"/>
              </a:ext>
            </a:extLst>
          </p:cNvPr>
          <p:cNvSpPr/>
          <p:nvPr/>
        </p:nvSpPr>
        <p:spPr>
          <a:xfrm>
            <a:off x="4295774" y="2998565"/>
            <a:ext cx="4114800" cy="52002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Insurance agent generates the report</a:t>
            </a:r>
          </a:p>
        </p:txBody>
      </p:sp>
      <p:sp>
        <p:nvSpPr>
          <p:cNvPr id="26" name="Oval 25">
            <a:extLst>
              <a:ext uri="{FF2B5EF4-FFF2-40B4-BE49-F238E27FC236}">
                <a16:creationId xmlns:a16="http://schemas.microsoft.com/office/drawing/2014/main" id="{20BDE674-E3AC-418C-8A16-4003C4D9E23C}"/>
              </a:ext>
            </a:extLst>
          </p:cNvPr>
          <p:cNvSpPr/>
          <p:nvPr/>
        </p:nvSpPr>
        <p:spPr>
          <a:xfrm>
            <a:off x="4295774" y="3634920"/>
            <a:ext cx="4114800" cy="52002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Give personal details</a:t>
            </a:r>
          </a:p>
        </p:txBody>
      </p:sp>
      <p:sp>
        <p:nvSpPr>
          <p:cNvPr id="27" name="Oval 26">
            <a:extLst>
              <a:ext uri="{FF2B5EF4-FFF2-40B4-BE49-F238E27FC236}">
                <a16:creationId xmlns:a16="http://schemas.microsoft.com/office/drawing/2014/main" id="{B0375817-33F6-4EC0-817D-7A928F2A734E}"/>
              </a:ext>
            </a:extLst>
          </p:cNvPr>
          <p:cNvSpPr/>
          <p:nvPr/>
        </p:nvSpPr>
        <p:spPr>
          <a:xfrm>
            <a:off x="4295774" y="4261310"/>
            <a:ext cx="4114800" cy="52002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Give external details such as time of accident</a:t>
            </a:r>
          </a:p>
        </p:txBody>
      </p:sp>
      <p:sp>
        <p:nvSpPr>
          <p:cNvPr id="28" name="Oval 27">
            <a:extLst>
              <a:ext uri="{FF2B5EF4-FFF2-40B4-BE49-F238E27FC236}">
                <a16:creationId xmlns:a16="http://schemas.microsoft.com/office/drawing/2014/main" id="{0A19C624-88BA-4C3D-BC2A-49DC419B687D}"/>
              </a:ext>
            </a:extLst>
          </p:cNvPr>
          <p:cNvSpPr/>
          <p:nvPr/>
        </p:nvSpPr>
        <p:spPr>
          <a:xfrm>
            <a:off x="4295774" y="4892678"/>
            <a:ext cx="4114800" cy="90260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Use the details as train/test set on the algorithms to predict future accidents</a:t>
            </a:r>
          </a:p>
        </p:txBody>
      </p:sp>
      <p:sp>
        <p:nvSpPr>
          <p:cNvPr id="29" name="Oval 28">
            <a:extLst>
              <a:ext uri="{FF2B5EF4-FFF2-40B4-BE49-F238E27FC236}">
                <a16:creationId xmlns:a16="http://schemas.microsoft.com/office/drawing/2014/main" id="{71C5DF04-8E61-4D7D-98C4-A24F960575F7}"/>
              </a:ext>
            </a:extLst>
          </p:cNvPr>
          <p:cNvSpPr/>
          <p:nvPr/>
        </p:nvSpPr>
        <p:spPr>
          <a:xfrm>
            <a:off x="4295774" y="5872391"/>
            <a:ext cx="4114800" cy="61643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Times New Roman" panose="02020603050405020304" pitchFamily="18" charset="0"/>
                <a:cs typeface="Times New Roman" panose="02020603050405020304" pitchFamily="18" charset="0"/>
              </a:rPr>
              <a:t>Alert travellers regarding probability of an accident</a:t>
            </a:r>
          </a:p>
        </p:txBody>
      </p:sp>
      <p:pic>
        <p:nvPicPr>
          <p:cNvPr id="30" name="Picture 29" descr="A picture containing diagram&#10;&#10;Description automatically generated">
            <a:extLst>
              <a:ext uri="{FF2B5EF4-FFF2-40B4-BE49-F238E27FC236}">
                <a16:creationId xmlns:a16="http://schemas.microsoft.com/office/drawing/2014/main" id="{DC47CF80-F7B2-4354-A749-4C27035EF0BF}"/>
              </a:ext>
            </a:extLst>
          </p:cNvPr>
          <p:cNvPicPr>
            <a:picLocks noChangeAspect="1"/>
          </p:cNvPicPr>
          <p:nvPr/>
        </p:nvPicPr>
        <p:blipFill rotWithShape="1">
          <a:blip r:embed="rId2">
            <a:extLst>
              <a:ext uri="{28A0092B-C50C-407E-A947-70E740481C1C}">
                <a14:useLocalDpi xmlns:a14="http://schemas.microsoft.com/office/drawing/2010/main" val="0"/>
              </a:ext>
            </a:extLst>
          </a:blip>
          <a:srcRect l="44005" t="43916" r="43037" b="26473"/>
          <a:stretch/>
        </p:blipFill>
        <p:spPr>
          <a:xfrm>
            <a:off x="10176912" y="1552786"/>
            <a:ext cx="406106" cy="928041"/>
          </a:xfrm>
          <a:prstGeom prst="rect">
            <a:avLst/>
          </a:prstGeom>
        </p:spPr>
      </p:pic>
      <p:pic>
        <p:nvPicPr>
          <p:cNvPr id="31" name="Picture 30" descr="A picture containing diagram&#10;&#10;Description automatically generated">
            <a:extLst>
              <a:ext uri="{FF2B5EF4-FFF2-40B4-BE49-F238E27FC236}">
                <a16:creationId xmlns:a16="http://schemas.microsoft.com/office/drawing/2014/main" id="{34A251B1-AD9F-4932-B94F-B104D618CFF7}"/>
              </a:ext>
            </a:extLst>
          </p:cNvPr>
          <p:cNvPicPr>
            <a:picLocks noChangeAspect="1"/>
          </p:cNvPicPr>
          <p:nvPr/>
        </p:nvPicPr>
        <p:blipFill rotWithShape="1">
          <a:blip r:embed="rId2">
            <a:extLst>
              <a:ext uri="{28A0092B-C50C-407E-A947-70E740481C1C}">
                <a14:useLocalDpi xmlns:a14="http://schemas.microsoft.com/office/drawing/2010/main" val="0"/>
              </a:ext>
            </a:extLst>
          </a:blip>
          <a:srcRect l="44005" t="43916" r="43037" b="26473"/>
          <a:stretch/>
        </p:blipFill>
        <p:spPr>
          <a:xfrm>
            <a:off x="10198681" y="3261255"/>
            <a:ext cx="437619" cy="1000055"/>
          </a:xfrm>
          <a:prstGeom prst="rect">
            <a:avLst/>
          </a:prstGeom>
        </p:spPr>
      </p:pic>
      <p:pic>
        <p:nvPicPr>
          <p:cNvPr id="32" name="Picture 31" descr="A picture containing diagram&#10;&#10;Description automatically generated">
            <a:extLst>
              <a:ext uri="{FF2B5EF4-FFF2-40B4-BE49-F238E27FC236}">
                <a16:creationId xmlns:a16="http://schemas.microsoft.com/office/drawing/2014/main" id="{3F8B900A-DEF5-403A-BDD2-E6168911B526}"/>
              </a:ext>
            </a:extLst>
          </p:cNvPr>
          <p:cNvPicPr>
            <a:picLocks noChangeAspect="1"/>
          </p:cNvPicPr>
          <p:nvPr/>
        </p:nvPicPr>
        <p:blipFill rotWithShape="1">
          <a:blip r:embed="rId2">
            <a:extLst>
              <a:ext uri="{28A0092B-C50C-407E-A947-70E740481C1C}">
                <a14:useLocalDpi xmlns:a14="http://schemas.microsoft.com/office/drawing/2010/main" val="0"/>
              </a:ext>
            </a:extLst>
          </a:blip>
          <a:srcRect l="44005" t="43916" r="43037" b="26473"/>
          <a:stretch/>
        </p:blipFill>
        <p:spPr>
          <a:xfrm>
            <a:off x="10220455" y="5014450"/>
            <a:ext cx="437619" cy="1000055"/>
          </a:xfrm>
          <a:prstGeom prst="rect">
            <a:avLst/>
          </a:prstGeom>
        </p:spPr>
      </p:pic>
      <p:cxnSp>
        <p:nvCxnSpPr>
          <p:cNvPr id="38" name="Straight Arrow Connector 37">
            <a:extLst>
              <a:ext uri="{FF2B5EF4-FFF2-40B4-BE49-F238E27FC236}">
                <a16:creationId xmlns:a16="http://schemas.microsoft.com/office/drawing/2014/main" id="{6036B8FC-48A2-4426-A5C7-7DA236DC1653}"/>
              </a:ext>
            </a:extLst>
          </p:cNvPr>
          <p:cNvCxnSpPr>
            <a:cxnSpLocks/>
            <a:stCxn id="20" idx="3"/>
            <a:endCxn id="21" idx="2"/>
          </p:cNvCxnSpPr>
          <p:nvPr/>
        </p:nvCxnSpPr>
        <p:spPr>
          <a:xfrm flipV="1">
            <a:off x="2123331" y="1306291"/>
            <a:ext cx="2172444" cy="247807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a:extLst>
              <a:ext uri="{FF2B5EF4-FFF2-40B4-BE49-F238E27FC236}">
                <a16:creationId xmlns:a16="http://schemas.microsoft.com/office/drawing/2014/main" id="{CFACB2B9-53A3-4CEF-BEF5-F82BF73CE472}"/>
              </a:ext>
            </a:extLst>
          </p:cNvPr>
          <p:cNvCxnSpPr>
            <a:cxnSpLocks/>
            <a:stCxn id="22" idx="2"/>
            <a:endCxn id="20" idx="3"/>
          </p:cNvCxnSpPr>
          <p:nvPr/>
        </p:nvCxnSpPr>
        <p:spPr>
          <a:xfrm flipH="1">
            <a:off x="2123331" y="1992090"/>
            <a:ext cx="2172443" cy="17922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20CB0BBC-A9CD-49D5-8BBC-F0DFCD1D0B00}"/>
              </a:ext>
            </a:extLst>
          </p:cNvPr>
          <p:cNvCxnSpPr>
            <a:cxnSpLocks/>
            <a:stCxn id="20" idx="3"/>
            <a:endCxn id="23" idx="2"/>
          </p:cNvCxnSpPr>
          <p:nvPr/>
        </p:nvCxnSpPr>
        <p:spPr>
          <a:xfrm flipV="1">
            <a:off x="2123331" y="2627205"/>
            <a:ext cx="2172443" cy="115715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9377C768-3D03-4AFE-85ED-F81C4D2A42BD}"/>
              </a:ext>
            </a:extLst>
          </p:cNvPr>
          <p:cNvCxnSpPr>
            <a:cxnSpLocks/>
            <a:stCxn id="25" idx="2"/>
            <a:endCxn id="20" idx="3"/>
          </p:cNvCxnSpPr>
          <p:nvPr/>
        </p:nvCxnSpPr>
        <p:spPr>
          <a:xfrm flipH="1">
            <a:off x="2123331" y="3258575"/>
            <a:ext cx="2172443" cy="52578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F613C551-4E0D-44CE-8589-5309A7C4DC0E}"/>
              </a:ext>
            </a:extLst>
          </p:cNvPr>
          <p:cNvCxnSpPr>
            <a:cxnSpLocks/>
            <a:stCxn id="20" idx="3"/>
            <a:endCxn id="26" idx="2"/>
          </p:cNvCxnSpPr>
          <p:nvPr/>
        </p:nvCxnSpPr>
        <p:spPr>
          <a:xfrm>
            <a:off x="2123331" y="3784361"/>
            <a:ext cx="2172443" cy="1105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3C1CA72B-93D5-4506-8DB9-0089D9DC9E31}"/>
              </a:ext>
            </a:extLst>
          </p:cNvPr>
          <p:cNvCxnSpPr>
            <a:cxnSpLocks/>
            <a:stCxn id="28" idx="2"/>
            <a:endCxn id="20" idx="3"/>
          </p:cNvCxnSpPr>
          <p:nvPr/>
        </p:nvCxnSpPr>
        <p:spPr>
          <a:xfrm flipH="1" flipV="1">
            <a:off x="2123331" y="3784361"/>
            <a:ext cx="2172443" cy="155961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A0A4B1BB-5413-4850-887C-99FB3AEC8052}"/>
              </a:ext>
            </a:extLst>
          </p:cNvPr>
          <p:cNvCxnSpPr>
            <a:cxnSpLocks/>
            <a:stCxn id="29" idx="2"/>
            <a:endCxn id="20" idx="3"/>
          </p:cNvCxnSpPr>
          <p:nvPr/>
        </p:nvCxnSpPr>
        <p:spPr>
          <a:xfrm flipH="1" flipV="1">
            <a:off x="2123331" y="3784361"/>
            <a:ext cx="2172443" cy="239624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0813062F-48C4-4AAF-A5E3-7B38AB4A3924}"/>
              </a:ext>
            </a:extLst>
          </p:cNvPr>
          <p:cNvCxnSpPr>
            <a:cxnSpLocks/>
            <a:stCxn id="20" idx="3"/>
            <a:endCxn id="27" idx="2"/>
          </p:cNvCxnSpPr>
          <p:nvPr/>
        </p:nvCxnSpPr>
        <p:spPr>
          <a:xfrm>
            <a:off x="2123331" y="3784361"/>
            <a:ext cx="2172443" cy="73695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BFD1A585-5F1C-447A-9321-20108ED84343}"/>
              </a:ext>
            </a:extLst>
          </p:cNvPr>
          <p:cNvCxnSpPr>
            <a:cxnSpLocks/>
            <a:stCxn id="21" idx="6"/>
            <a:endCxn id="30" idx="1"/>
          </p:cNvCxnSpPr>
          <p:nvPr/>
        </p:nvCxnSpPr>
        <p:spPr>
          <a:xfrm>
            <a:off x="8410574" y="1306291"/>
            <a:ext cx="1766338" cy="71051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0" name="Straight Arrow Connector 59">
            <a:extLst>
              <a:ext uri="{FF2B5EF4-FFF2-40B4-BE49-F238E27FC236}">
                <a16:creationId xmlns:a16="http://schemas.microsoft.com/office/drawing/2014/main" id="{341CEB8F-87D3-4CA8-91C9-57075F836A13}"/>
              </a:ext>
            </a:extLst>
          </p:cNvPr>
          <p:cNvCxnSpPr>
            <a:cxnSpLocks/>
            <a:stCxn id="30" idx="1"/>
            <a:endCxn id="22" idx="6"/>
          </p:cNvCxnSpPr>
          <p:nvPr/>
        </p:nvCxnSpPr>
        <p:spPr>
          <a:xfrm flipH="1" flipV="1">
            <a:off x="8410574" y="1992090"/>
            <a:ext cx="1766338" cy="2471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CB7A53ED-C2D6-4F69-B029-BE9FADCE332B}"/>
              </a:ext>
            </a:extLst>
          </p:cNvPr>
          <p:cNvCxnSpPr>
            <a:cxnSpLocks/>
            <a:stCxn id="23" idx="6"/>
            <a:endCxn id="31" idx="1"/>
          </p:cNvCxnSpPr>
          <p:nvPr/>
        </p:nvCxnSpPr>
        <p:spPr>
          <a:xfrm>
            <a:off x="8410574" y="2627205"/>
            <a:ext cx="1788107" cy="113407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792" name="Straight Arrow Connector 33791">
            <a:extLst>
              <a:ext uri="{FF2B5EF4-FFF2-40B4-BE49-F238E27FC236}">
                <a16:creationId xmlns:a16="http://schemas.microsoft.com/office/drawing/2014/main" id="{D6FB13DC-12E0-4C5E-8CC2-7FBD003416A7}"/>
              </a:ext>
            </a:extLst>
          </p:cNvPr>
          <p:cNvCxnSpPr>
            <a:cxnSpLocks/>
            <a:stCxn id="31" idx="1"/>
            <a:endCxn id="25" idx="6"/>
          </p:cNvCxnSpPr>
          <p:nvPr/>
        </p:nvCxnSpPr>
        <p:spPr>
          <a:xfrm flipH="1" flipV="1">
            <a:off x="8410574" y="3258575"/>
            <a:ext cx="1788107" cy="50270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795" name="Straight Arrow Connector 33794">
            <a:extLst>
              <a:ext uri="{FF2B5EF4-FFF2-40B4-BE49-F238E27FC236}">
                <a16:creationId xmlns:a16="http://schemas.microsoft.com/office/drawing/2014/main" id="{03935F43-1505-498A-89EB-1E65C31AB81A}"/>
              </a:ext>
            </a:extLst>
          </p:cNvPr>
          <p:cNvCxnSpPr>
            <a:cxnSpLocks/>
            <a:stCxn id="26" idx="6"/>
            <a:endCxn id="32" idx="1"/>
          </p:cNvCxnSpPr>
          <p:nvPr/>
        </p:nvCxnSpPr>
        <p:spPr>
          <a:xfrm>
            <a:off x="8410574" y="3894930"/>
            <a:ext cx="1809881" cy="161954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797" name="Straight Arrow Connector 33796">
            <a:extLst>
              <a:ext uri="{FF2B5EF4-FFF2-40B4-BE49-F238E27FC236}">
                <a16:creationId xmlns:a16="http://schemas.microsoft.com/office/drawing/2014/main" id="{B65245A9-680D-4030-BBF2-BCB76D102913}"/>
              </a:ext>
            </a:extLst>
          </p:cNvPr>
          <p:cNvCxnSpPr>
            <a:cxnSpLocks/>
            <a:stCxn id="27" idx="6"/>
            <a:endCxn id="32" idx="1"/>
          </p:cNvCxnSpPr>
          <p:nvPr/>
        </p:nvCxnSpPr>
        <p:spPr>
          <a:xfrm>
            <a:off x="8410574" y="4521320"/>
            <a:ext cx="1809881" cy="99315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799" name="Straight Arrow Connector 33798">
            <a:extLst>
              <a:ext uri="{FF2B5EF4-FFF2-40B4-BE49-F238E27FC236}">
                <a16:creationId xmlns:a16="http://schemas.microsoft.com/office/drawing/2014/main" id="{AAD91E0C-F6D5-4CA9-99DD-542FEBDE5FA6}"/>
              </a:ext>
            </a:extLst>
          </p:cNvPr>
          <p:cNvCxnSpPr>
            <a:cxnSpLocks/>
            <a:stCxn id="32" idx="1"/>
            <a:endCxn id="28" idx="6"/>
          </p:cNvCxnSpPr>
          <p:nvPr/>
        </p:nvCxnSpPr>
        <p:spPr>
          <a:xfrm flipH="1" flipV="1">
            <a:off x="8410574" y="5343980"/>
            <a:ext cx="1809881" cy="17049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801" name="Straight Arrow Connector 33800">
            <a:extLst>
              <a:ext uri="{FF2B5EF4-FFF2-40B4-BE49-F238E27FC236}">
                <a16:creationId xmlns:a16="http://schemas.microsoft.com/office/drawing/2014/main" id="{433996A3-BE9A-429F-8B18-A2EC8B2C786E}"/>
              </a:ext>
            </a:extLst>
          </p:cNvPr>
          <p:cNvCxnSpPr>
            <a:cxnSpLocks/>
            <a:stCxn id="32" idx="1"/>
            <a:endCxn id="29" idx="6"/>
          </p:cNvCxnSpPr>
          <p:nvPr/>
        </p:nvCxnSpPr>
        <p:spPr>
          <a:xfrm flipH="1">
            <a:off x="8410574" y="5514478"/>
            <a:ext cx="1809881" cy="66612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3802" name="TextBox 33801">
            <a:extLst>
              <a:ext uri="{FF2B5EF4-FFF2-40B4-BE49-F238E27FC236}">
                <a16:creationId xmlns:a16="http://schemas.microsoft.com/office/drawing/2014/main" id="{DC4E40A1-F24D-4116-B77B-93D5B20D3D0D}"/>
              </a:ext>
            </a:extLst>
          </p:cNvPr>
          <p:cNvSpPr txBox="1"/>
          <p:nvPr/>
        </p:nvSpPr>
        <p:spPr>
          <a:xfrm>
            <a:off x="85970" y="3629415"/>
            <a:ext cx="1808453"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Vehicle Owner</a:t>
            </a:r>
          </a:p>
        </p:txBody>
      </p:sp>
      <p:sp>
        <p:nvSpPr>
          <p:cNvPr id="75" name="TextBox 74">
            <a:extLst>
              <a:ext uri="{FF2B5EF4-FFF2-40B4-BE49-F238E27FC236}">
                <a16:creationId xmlns:a16="http://schemas.microsoft.com/office/drawing/2014/main" id="{5E3A952F-98AC-4260-8E03-0DC6E5990932}"/>
              </a:ext>
            </a:extLst>
          </p:cNvPr>
          <p:cNvSpPr txBox="1"/>
          <p:nvPr/>
        </p:nvSpPr>
        <p:spPr>
          <a:xfrm>
            <a:off x="10615674" y="5353421"/>
            <a:ext cx="1547005"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System Admin</a:t>
            </a:r>
          </a:p>
        </p:txBody>
      </p:sp>
      <p:sp>
        <p:nvSpPr>
          <p:cNvPr id="76" name="TextBox 75">
            <a:extLst>
              <a:ext uri="{FF2B5EF4-FFF2-40B4-BE49-F238E27FC236}">
                <a16:creationId xmlns:a16="http://schemas.microsoft.com/office/drawing/2014/main" id="{B9A18FF2-DB58-4C9F-A2AA-89B9D1D5CA4D}"/>
              </a:ext>
            </a:extLst>
          </p:cNvPr>
          <p:cNvSpPr txBox="1"/>
          <p:nvPr/>
        </p:nvSpPr>
        <p:spPr>
          <a:xfrm>
            <a:off x="10636300" y="3424743"/>
            <a:ext cx="1144436"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Insurance Agent</a:t>
            </a:r>
          </a:p>
        </p:txBody>
      </p:sp>
      <p:sp>
        <p:nvSpPr>
          <p:cNvPr id="77" name="TextBox 76">
            <a:extLst>
              <a:ext uri="{FF2B5EF4-FFF2-40B4-BE49-F238E27FC236}">
                <a16:creationId xmlns:a16="http://schemas.microsoft.com/office/drawing/2014/main" id="{5879DBAA-E07D-4293-97B2-F1AD281C080F}"/>
              </a:ext>
            </a:extLst>
          </p:cNvPr>
          <p:cNvSpPr txBox="1"/>
          <p:nvPr/>
        </p:nvSpPr>
        <p:spPr>
          <a:xfrm>
            <a:off x="10615675" y="1849813"/>
            <a:ext cx="1547005"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Police Officer</a:t>
            </a:r>
          </a:p>
        </p:txBody>
      </p:sp>
      <p:sp>
        <p:nvSpPr>
          <p:cNvPr id="37" name="TextBox 36">
            <a:extLst>
              <a:ext uri="{FF2B5EF4-FFF2-40B4-BE49-F238E27FC236}">
                <a16:creationId xmlns:a16="http://schemas.microsoft.com/office/drawing/2014/main" id="{A444379D-2A44-4B47-817C-2A9974A4258B}"/>
              </a:ext>
            </a:extLst>
          </p:cNvPr>
          <p:cNvSpPr txBox="1"/>
          <p:nvPr/>
        </p:nvSpPr>
        <p:spPr>
          <a:xfrm>
            <a:off x="531048" y="5867085"/>
            <a:ext cx="3176833"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5: Use Case Diagram of Road Accident Analysis</a:t>
            </a:r>
          </a:p>
        </p:txBody>
      </p:sp>
    </p:spTree>
    <p:extLst>
      <p:ext uri="{BB962C8B-B14F-4D97-AF65-F5344CB8AC3E}">
        <p14:creationId xmlns:p14="http://schemas.microsoft.com/office/powerpoint/2010/main" val="369535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FC50D57E-185B-4DE5-9BA6-59E98B3C5732}"/>
              </a:ext>
            </a:extLst>
          </p:cNvPr>
          <p:cNvSpPr>
            <a:spLocks noGrp="1"/>
          </p:cNvSpPr>
          <p:nvPr>
            <p:ph type="title"/>
          </p:nvPr>
        </p:nvSpPr>
        <p:spPr/>
        <p:txBody>
          <a:bodyPr/>
          <a:lstStyle/>
          <a:p>
            <a:r>
              <a:rPr lang="en-IN" altLang="en-US" b="1" dirty="0">
                <a:latin typeface="Times New Roman" panose="02020603050405020304" pitchFamily="18" charset="0"/>
                <a:cs typeface="Times New Roman" panose="02020603050405020304" pitchFamily="18" charset="0"/>
              </a:rPr>
              <a:t>Implementation Modules</a:t>
            </a:r>
          </a:p>
        </p:txBody>
      </p:sp>
      <p:sp>
        <p:nvSpPr>
          <p:cNvPr id="13315" name="Content Placeholder 2">
            <a:extLst>
              <a:ext uri="{FF2B5EF4-FFF2-40B4-BE49-F238E27FC236}">
                <a16:creationId xmlns:a16="http://schemas.microsoft.com/office/drawing/2014/main" id="{1FA1DF8C-E9BB-4D90-B97F-994E16B8CF68}"/>
              </a:ext>
            </a:extLst>
          </p:cNvPr>
          <p:cNvSpPr>
            <a:spLocks noGrp="1"/>
          </p:cNvSpPr>
          <p:nvPr>
            <p:ph idx="1"/>
          </p:nvPr>
        </p:nvSpPr>
        <p:spPr/>
        <p:txBody>
          <a:bodyPr/>
          <a:lstStyle/>
          <a:p>
            <a:r>
              <a:rPr lang="en-IN" sz="2400" dirty="0">
                <a:latin typeface="Times New Roman" panose="02020603050405020304" pitchFamily="18" charset="0"/>
                <a:cs typeface="Times New Roman" panose="02020603050405020304" pitchFamily="18" charset="0"/>
              </a:rPr>
              <a:t>Module 1: Data Acquisition.</a:t>
            </a:r>
          </a:p>
          <a:p>
            <a:pPr marL="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Module 2: Data Pre-Processing.</a:t>
            </a:r>
          </a:p>
          <a:p>
            <a:pPr marL="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Module 3: Machine Learning Training.</a:t>
            </a:r>
          </a:p>
          <a:p>
            <a:pPr marL="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Module 4: Model Evaluation.</a:t>
            </a:r>
          </a:p>
          <a:p>
            <a:pPr marL="0" indent="0">
              <a:buNone/>
            </a:pPr>
            <a:endParaRPr lang="en-IN" altLang="en-US" sz="2400" dirty="0"/>
          </a:p>
        </p:txBody>
      </p:sp>
      <p:sp>
        <p:nvSpPr>
          <p:cNvPr id="8" name="Slide Number Placeholder 7">
            <a:extLst>
              <a:ext uri="{FF2B5EF4-FFF2-40B4-BE49-F238E27FC236}">
                <a16:creationId xmlns:a16="http://schemas.microsoft.com/office/drawing/2014/main" id="{2EB2BDB9-6073-4FCA-A3B6-AE7EB4984228}"/>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0F56FF76-BAA7-43E7-AE2D-6E3361BA642C}" type="slidenum">
              <a:rPr lang="en-IN" altLang="en-US">
                <a:solidFill>
                  <a:srgbClr val="898989"/>
                </a:solidFill>
              </a:rPr>
              <a:pPr/>
              <a:t>14</a:t>
            </a:fld>
            <a:endParaRPr lang="en-IN" altLang="en-US">
              <a:solidFill>
                <a:srgbClr val="898989"/>
              </a:solidFill>
            </a:endParaRPr>
          </a:p>
        </p:txBody>
      </p:sp>
      <p:sp>
        <p:nvSpPr>
          <p:cNvPr id="9" name="Footer Placeholder 8">
            <a:extLst>
              <a:ext uri="{FF2B5EF4-FFF2-40B4-BE49-F238E27FC236}">
                <a16:creationId xmlns:a16="http://schemas.microsoft.com/office/drawing/2014/main" id="{266E2347-2A19-4455-AD10-4AC97BD8C3C3}"/>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B5EA7C8-28DF-4FC5-AD8F-80DD44694092}"/>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Data Acquisition</a:t>
            </a:r>
            <a:endParaRPr lang="en-US" altLang="en-US" b="1" dirty="0"/>
          </a:p>
        </p:txBody>
      </p:sp>
      <p:sp>
        <p:nvSpPr>
          <p:cNvPr id="14339" name="Content Placeholder 2">
            <a:extLst>
              <a:ext uri="{FF2B5EF4-FFF2-40B4-BE49-F238E27FC236}">
                <a16:creationId xmlns:a16="http://schemas.microsoft.com/office/drawing/2014/main" id="{AE36D43C-A859-4EA7-8FA0-33C5659593F9}"/>
              </a:ext>
            </a:extLst>
          </p:cNvPr>
          <p:cNvSpPr>
            <a:spLocks noGrp="1"/>
          </p:cNvSpPr>
          <p:nvPr>
            <p:ph idx="1"/>
          </p:nvPr>
        </p:nvSpPr>
        <p:spPr/>
        <p:txBody>
          <a:bodyPr/>
          <a:lstStyle/>
          <a:p>
            <a:pPr algn="just">
              <a:lnSpc>
                <a:spcPct val="150000"/>
              </a:lnSpc>
            </a:pPr>
            <a:r>
              <a:rPr lang="en-US" sz="2400" b="0" i="0" dirty="0">
                <a:effectLst/>
                <a:latin typeface="Times New Roman" panose="02020603050405020304" pitchFamily="18" charset="0"/>
                <a:cs typeface="Times New Roman" panose="02020603050405020304" pitchFamily="18" charset="0"/>
              </a:rPr>
              <a:t>Functionality: Data acquisition, is to collect data from relevant sources before it can be stored, cleaned, preprocessed, and used further. It is the process of retrieving relevant information, transforming the data into the required form, and loading it into the designated system.</a:t>
            </a:r>
          </a:p>
          <a:p>
            <a:pPr algn="just">
              <a:lnSpc>
                <a:spcPct val="150000"/>
              </a:lnSpc>
            </a:pPr>
            <a:r>
              <a:rPr lang="en-US" sz="2400" dirty="0">
                <a:latin typeface="Times New Roman" panose="02020603050405020304" pitchFamily="18" charset="0"/>
                <a:cs typeface="Times New Roman" panose="02020603050405020304" pitchFamily="18" charset="0"/>
              </a:rPr>
              <a:t>Algorithm: </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Acquiring the data from the dataset.</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Analyzing the dataset.</a:t>
            </a:r>
          </a:p>
        </p:txBody>
      </p:sp>
      <p:sp>
        <p:nvSpPr>
          <p:cNvPr id="8" name="Slide Number Placeholder 7">
            <a:extLst>
              <a:ext uri="{FF2B5EF4-FFF2-40B4-BE49-F238E27FC236}">
                <a16:creationId xmlns:a16="http://schemas.microsoft.com/office/drawing/2014/main" id="{AB4CC82A-243B-4202-A33C-9295FFB1A6BC}"/>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E0795615-9965-49AE-B5D6-C6E28FCF4C54}" type="slidenum">
              <a:rPr lang="en-IN" altLang="en-US">
                <a:solidFill>
                  <a:srgbClr val="898989"/>
                </a:solidFill>
              </a:rPr>
              <a:pPr/>
              <a:t>15</a:t>
            </a:fld>
            <a:endParaRPr lang="en-IN" altLang="en-US">
              <a:solidFill>
                <a:srgbClr val="898989"/>
              </a:solidFill>
            </a:endParaRPr>
          </a:p>
        </p:txBody>
      </p:sp>
      <p:sp>
        <p:nvSpPr>
          <p:cNvPr id="9" name="Footer Placeholder 8">
            <a:extLst>
              <a:ext uri="{FF2B5EF4-FFF2-40B4-BE49-F238E27FC236}">
                <a16:creationId xmlns:a16="http://schemas.microsoft.com/office/drawing/2014/main" id="{92175683-CC62-4957-94EC-C38B01D053C8}"/>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7234F-485C-DB86-125E-DEF507DFC37C}"/>
              </a:ext>
            </a:extLst>
          </p:cNvPr>
          <p:cNvSpPr>
            <a:spLocks noGrp="1"/>
          </p:cNvSpPr>
          <p:nvPr>
            <p:ph type="title"/>
          </p:nvPr>
        </p:nvSpPr>
        <p:spPr>
          <a:xfrm>
            <a:off x="838200" y="136521"/>
            <a:ext cx="10515600" cy="1325563"/>
          </a:xfrm>
        </p:spPr>
        <p:txBody>
          <a:bodyPr/>
          <a:lstStyle/>
          <a:p>
            <a:r>
              <a:rPr lang="en-IN" dirty="0">
                <a:latin typeface="Times New Roman" panose="02020603050405020304" pitchFamily="18" charset="0"/>
                <a:cs typeface="Times New Roman" panose="02020603050405020304" pitchFamily="18" charset="0"/>
              </a:rPr>
              <a:t>Data Pre-Processing</a:t>
            </a:r>
            <a:endParaRPr lang="en-IN" dirty="0"/>
          </a:p>
        </p:txBody>
      </p:sp>
      <p:sp>
        <p:nvSpPr>
          <p:cNvPr id="3" name="Content Placeholder 2">
            <a:extLst>
              <a:ext uri="{FF2B5EF4-FFF2-40B4-BE49-F238E27FC236}">
                <a16:creationId xmlns:a16="http://schemas.microsoft.com/office/drawing/2014/main" id="{DD27FA89-9AA3-C1D8-4BBA-AFA314C2FE0F}"/>
              </a:ext>
            </a:extLst>
          </p:cNvPr>
          <p:cNvSpPr>
            <a:spLocks noGrp="1"/>
          </p:cNvSpPr>
          <p:nvPr>
            <p:ph idx="1"/>
          </p:nvPr>
        </p:nvSpPr>
        <p:spPr>
          <a:xfrm>
            <a:off x="838200" y="1368420"/>
            <a:ext cx="10515600" cy="4716694"/>
          </a:xfrm>
        </p:spPr>
        <p:txBody>
          <a:bodyPr/>
          <a:lstStyle/>
          <a:p>
            <a:pPr algn="just">
              <a:lnSpc>
                <a:spcPct val="150000"/>
              </a:lnSpc>
            </a:pPr>
            <a:r>
              <a:rPr lang="en-US" sz="2400" b="0" i="0" dirty="0">
                <a:effectLst/>
                <a:latin typeface="Times New Roman" panose="02020603050405020304" pitchFamily="18" charset="0"/>
                <a:cs typeface="Times New Roman" panose="02020603050405020304" pitchFamily="18" charset="0"/>
              </a:rPr>
              <a:t>Functionality: </a:t>
            </a:r>
            <a:r>
              <a:rPr lang="en-US" sz="2400" dirty="0">
                <a:latin typeface="Times New Roman" panose="02020603050405020304" pitchFamily="18" charset="0"/>
                <a:cs typeface="Times New Roman" panose="02020603050405020304" pitchFamily="18" charset="0"/>
              </a:rPr>
              <a:t>Pre-processing refers to the transformations applied to our data before feeding it to the algorithm. Data pre-processing is a technique that is used to convert the raw data into a clean data set. </a:t>
            </a:r>
          </a:p>
          <a:p>
            <a:pPr algn="just">
              <a:lnSpc>
                <a:spcPct val="150000"/>
              </a:lnSpc>
            </a:pPr>
            <a:r>
              <a:rPr lang="en-US" sz="2400" dirty="0">
                <a:latin typeface="Times New Roman" panose="02020603050405020304" pitchFamily="18" charset="0"/>
                <a:cs typeface="Times New Roman" panose="02020603050405020304" pitchFamily="18" charset="0"/>
              </a:rPr>
              <a:t>Input: Raw Data.</a:t>
            </a:r>
          </a:p>
          <a:p>
            <a:pPr algn="just">
              <a:lnSpc>
                <a:spcPct val="150000"/>
              </a:lnSpc>
            </a:pPr>
            <a:r>
              <a:rPr lang="en-US" sz="2400" dirty="0">
                <a:latin typeface="Times New Roman" panose="02020603050405020304" pitchFamily="18" charset="0"/>
                <a:cs typeface="Times New Roman" panose="02020603050405020304" pitchFamily="18" charset="0"/>
              </a:rPr>
              <a:t>Output: Cleaned data.</a:t>
            </a:r>
          </a:p>
        </p:txBody>
      </p:sp>
      <p:sp>
        <p:nvSpPr>
          <p:cNvPr id="4" name="Footer Placeholder 3">
            <a:extLst>
              <a:ext uri="{FF2B5EF4-FFF2-40B4-BE49-F238E27FC236}">
                <a16:creationId xmlns:a16="http://schemas.microsoft.com/office/drawing/2014/main" id="{4C2EFEC4-85FF-B314-4AAF-60E31D887075}"/>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D5DE4A3E-3274-45C4-DB49-CB2B21CBB006}"/>
              </a:ext>
            </a:extLst>
          </p:cNvPr>
          <p:cNvSpPr>
            <a:spLocks noGrp="1"/>
          </p:cNvSpPr>
          <p:nvPr>
            <p:ph type="sldNum" sz="quarter" idx="11"/>
          </p:nvPr>
        </p:nvSpPr>
        <p:spPr/>
        <p:txBody>
          <a:bodyPr/>
          <a:lstStyle/>
          <a:p>
            <a:fld id="{25C42BF0-F0BA-4BEC-BFEF-185B471DC7CC}" type="slidenum">
              <a:rPr lang="en-IN" altLang="en-US" smtClean="0"/>
              <a:pPr/>
              <a:t>16</a:t>
            </a:fld>
            <a:endParaRPr lang="en-IN" altLang="en-US"/>
          </a:p>
        </p:txBody>
      </p:sp>
    </p:spTree>
    <p:extLst>
      <p:ext uri="{BB962C8B-B14F-4D97-AF65-F5344CB8AC3E}">
        <p14:creationId xmlns:p14="http://schemas.microsoft.com/office/powerpoint/2010/main" val="3315205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28BB61-2E5D-A580-EFEF-53DF4569A3AE}"/>
              </a:ext>
            </a:extLst>
          </p:cNvPr>
          <p:cNvSpPr>
            <a:spLocks noGrp="1"/>
          </p:cNvSpPr>
          <p:nvPr>
            <p:ph idx="1"/>
          </p:nvPr>
        </p:nvSpPr>
        <p:spPr>
          <a:xfrm>
            <a:off x="838200" y="506185"/>
            <a:ext cx="10515600" cy="5311549"/>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Algorithm:</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Getting the dataset.</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Importing libraries.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Importing datasets.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Finding Missing Data.</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Encoding Categorical Data.</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Splitting dataset into training and test set.</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Feature scaling.</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9AFB37F-DD6E-65F3-A594-BE0F4A6E2E9E}"/>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23FDA23D-AB2C-CA61-E6AF-21899276FE94}"/>
              </a:ext>
            </a:extLst>
          </p:cNvPr>
          <p:cNvSpPr>
            <a:spLocks noGrp="1"/>
          </p:cNvSpPr>
          <p:nvPr>
            <p:ph type="sldNum" sz="quarter" idx="11"/>
          </p:nvPr>
        </p:nvSpPr>
        <p:spPr/>
        <p:txBody>
          <a:bodyPr/>
          <a:lstStyle/>
          <a:p>
            <a:fld id="{25C42BF0-F0BA-4BEC-BFEF-185B471DC7CC}" type="slidenum">
              <a:rPr lang="en-IN" altLang="en-US" smtClean="0"/>
              <a:pPr/>
              <a:t>17</a:t>
            </a:fld>
            <a:endParaRPr lang="en-IN" altLang="en-US"/>
          </a:p>
        </p:txBody>
      </p:sp>
    </p:spTree>
    <p:extLst>
      <p:ext uri="{BB962C8B-B14F-4D97-AF65-F5344CB8AC3E}">
        <p14:creationId xmlns:p14="http://schemas.microsoft.com/office/powerpoint/2010/main" val="2214252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915CE-13AB-6AF4-B521-97AD6C6336D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Machine Learning Training</a:t>
            </a:r>
            <a:endParaRPr lang="en-IN" dirty="0"/>
          </a:p>
        </p:txBody>
      </p:sp>
      <p:sp>
        <p:nvSpPr>
          <p:cNvPr id="3" name="Content Placeholder 2">
            <a:extLst>
              <a:ext uri="{FF2B5EF4-FFF2-40B4-BE49-F238E27FC236}">
                <a16:creationId xmlns:a16="http://schemas.microsoft.com/office/drawing/2014/main" id="{583266CF-932F-35B0-2973-DA9B1C7535E3}"/>
              </a:ext>
            </a:extLst>
          </p:cNvPr>
          <p:cNvSpPr>
            <a:spLocks noGrp="1"/>
          </p:cNvSpPr>
          <p:nvPr>
            <p:ph idx="1"/>
          </p:nvPr>
        </p:nvSpPr>
        <p:spPr/>
        <p:txBody>
          <a:bodyPr/>
          <a:lstStyle/>
          <a:p>
            <a:pPr algn="just">
              <a:lnSpc>
                <a:spcPct val="150000"/>
              </a:lnSpc>
            </a:pPr>
            <a:r>
              <a:rPr lang="en-US" sz="2400" b="0" i="0" dirty="0">
                <a:effectLst/>
                <a:latin typeface="Times New Roman" panose="02020603050405020304" pitchFamily="18" charset="0"/>
                <a:cs typeface="Times New Roman" panose="02020603050405020304" pitchFamily="18" charset="0"/>
              </a:rPr>
              <a:t>Functionality: A Machine Learning system learns from historical data, builds the prediction models, and whenever it receives new data, predicts the output for it using </a:t>
            </a:r>
            <a:r>
              <a:rPr lang="en-US" sz="2400" dirty="0">
                <a:latin typeface="Times New Roman" panose="02020603050405020304" pitchFamily="18" charset="0"/>
                <a:cs typeface="Times New Roman" panose="02020603050405020304" pitchFamily="18" charset="0"/>
              </a:rPr>
              <a:t>KNN Algorithm, Logistic Regression, Random Forest, and Decision Tree.</a:t>
            </a:r>
          </a:p>
          <a:p>
            <a:pPr algn="just">
              <a:lnSpc>
                <a:spcPct val="150000"/>
              </a:lnSpc>
            </a:pPr>
            <a:r>
              <a:rPr lang="en-US" sz="2400" dirty="0">
                <a:latin typeface="Times New Roman" panose="02020603050405020304" pitchFamily="18" charset="0"/>
                <a:cs typeface="Times New Roman" panose="02020603050405020304" pitchFamily="18" charset="0"/>
              </a:rPr>
              <a:t>Input: Pre-Processed Data.</a:t>
            </a:r>
          </a:p>
          <a:p>
            <a:pPr algn="just">
              <a:lnSpc>
                <a:spcPct val="150000"/>
              </a:lnSpc>
            </a:pPr>
            <a:r>
              <a:rPr lang="en-US" sz="2400" dirty="0">
                <a:latin typeface="Times New Roman" panose="02020603050405020304" pitchFamily="18" charset="0"/>
                <a:cs typeface="Times New Roman" panose="02020603050405020304" pitchFamily="18" charset="0"/>
              </a:rPr>
              <a:t>Output: Accuracy of machine learning algorithms such as KNN Algorithm, Logistic Regression, Random Forest and Decision Tree.</a:t>
            </a:r>
          </a:p>
          <a:p>
            <a:endParaRPr lang="en-IN" sz="2400" dirty="0"/>
          </a:p>
          <a:p>
            <a:pPr algn="just">
              <a:lnSpc>
                <a:spcPct val="150000"/>
              </a:lnSpc>
            </a:pP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algn="just">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FEC2E9F-BC5F-0D1E-AF18-4EEE9047CB9D}"/>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62A9E606-6F52-8D43-7236-FFFE4378B099}"/>
              </a:ext>
            </a:extLst>
          </p:cNvPr>
          <p:cNvSpPr>
            <a:spLocks noGrp="1"/>
          </p:cNvSpPr>
          <p:nvPr>
            <p:ph type="sldNum" sz="quarter" idx="11"/>
          </p:nvPr>
        </p:nvSpPr>
        <p:spPr/>
        <p:txBody>
          <a:bodyPr/>
          <a:lstStyle/>
          <a:p>
            <a:fld id="{25C42BF0-F0BA-4BEC-BFEF-185B471DC7CC}" type="slidenum">
              <a:rPr lang="en-IN" altLang="en-US" smtClean="0"/>
              <a:pPr/>
              <a:t>18</a:t>
            </a:fld>
            <a:endParaRPr lang="en-IN" altLang="en-US"/>
          </a:p>
        </p:txBody>
      </p:sp>
    </p:spTree>
    <p:extLst>
      <p:ext uri="{BB962C8B-B14F-4D97-AF65-F5344CB8AC3E}">
        <p14:creationId xmlns:p14="http://schemas.microsoft.com/office/powerpoint/2010/main" val="1627708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CA3AB5-6908-833E-7107-772AD0EA5E74}"/>
              </a:ext>
            </a:extLst>
          </p:cNvPr>
          <p:cNvSpPr>
            <a:spLocks noGrp="1"/>
          </p:cNvSpPr>
          <p:nvPr>
            <p:ph idx="1"/>
          </p:nvPr>
        </p:nvSpPr>
        <p:spPr>
          <a:xfrm>
            <a:off x="838200" y="386904"/>
            <a:ext cx="10515600" cy="5937704"/>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Algorithm - KNN:</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Select the number K of the neighbors.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Calculate the Euclidean distance of K number of neighbors.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Take the K nearest neighbors as per the calculated Euclidean distance.</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Among these k neighbors, count the number of the data points in each category.</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Assign the new data points to that category for which the number of the neighbor is maximum.</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Our model is ready.</a:t>
            </a:r>
          </a:p>
          <a:p>
            <a:endParaRPr lang="en-IN" dirty="0"/>
          </a:p>
        </p:txBody>
      </p:sp>
      <p:sp>
        <p:nvSpPr>
          <p:cNvPr id="4" name="Footer Placeholder 3">
            <a:extLst>
              <a:ext uri="{FF2B5EF4-FFF2-40B4-BE49-F238E27FC236}">
                <a16:creationId xmlns:a16="http://schemas.microsoft.com/office/drawing/2014/main" id="{D7FDDEC5-355F-A1C4-81E3-650EDF0BD028}"/>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F6156D52-6288-938D-D4AD-057123449946}"/>
              </a:ext>
            </a:extLst>
          </p:cNvPr>
          <p:cNvSpPr>
            <a:spLocks noGrp="1"/>
          </p:cNvSpPr>
          <p:nvPr>
            <p:ph type="sldNum" sz="quarter" idx="11"/>
          </p:nvPr>
        </p:nvSpPr>
        <p:spPr/>
        <p:txBody>
          <a:bodyPr/>
          <a:lstStyle/>
          <a:p>
            <a:fld id="{25C42BF0-F0BA-4BEC-BFEF-185B471DC7CC}" type="slidenum">
              <a:rPr lang="en-IN" altLang="en-US" smtClean="0"/>
              <a:pPr/>
              <a:t>19</a:t>
            </a:fld>
            <a:endParaRPr lang="en-IN" altLang="en-US"/>
          </a:p>
        </p:txBody>
      </p:sp>
    </p:spTree>
    <p:extLst>
      <p:ext uri="{BB962C8B-B14F-4D97-AF65-F5344CB8AC3E}">
        <p14:creationId xmlns:p14="http://schemas.microsoft.com/office/powerpoint/2010/main" val="1243118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6FA43-66A9-B39D-DA25-F21CA24877AB}"/>
              </a:ext>
            </a:extLst>
          </p:cNvPr>
          <p:cNvSpPr>
            <a:spLocks noGrp="1"/>
          </p:cNvSpPr>
          <p:nvPr>
            <p:ph idx="1"/>
          </p:nvPr>
        </p:nvSpPr>
        <p:spPr>
          <a:xfrm>
            <a:off x="838200" y="555171"/>
            <a:ext cx="10515600" cy="5621792"/>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Algorithm - Logistic Regression:</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Data Pre-processing step.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Fitting Logistic Regression to the Training set.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Predicting the test result.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Test accuracy of the result(Creation of Confusion matrix).</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Visualizing the test set result.</a:t>
            </a:r>
          </a:p>
          <a:p>
            <a:pPr>
              <a:lnSpc>
                <a:spcPct val="150000"/>
              </a:lnSpc>
            </a:pPr>
            <a:endParaRPr lang="en-IN" dirty="0"/>
          </a:p>
        </p:txBody>
      </p:sp>
      <p:sp>
        <p:nvSpPr>
          <p:cNvPr id="4" name="Footer Placeholder 3">
            <a:extLst>
              <a:ext uri="{FF2B5EF4-FFF2-40B4-BE49-F238E27FC236}">
                <a16:creationId xmlns:a16="http://schemas.microsoft.com/office/drawing/2014/main" id="{C8910944-32B9-7E01-FF96-9C8EE35C57C3}"/>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48426909-BC87-3485-AC44-301C4F547A1E}"/>
              </a:ext>
            </a:extLst>
          </p:cNvPr>
          <p:cNvSpPr>
            <a:spLocks noGrp="1"/>
          </p:cNvSpPr>
          <p:nvPr>
            <p:ph type="sldNum" sz="quarter" idx="11"/>
          </p:nvPr>
        </p:nvSpPr>
        <p:spPr/>
        <p:txBody>
          <a:bodyPr/>
          <a:lstStyle/>
          <a:p>
            <a:fld id="{25C42BF0-F0BA-4BEC-BFEF-185B471DC7CC}" type="slidenum">
              <a:rPr lang="en-IN" altLang="en-US" smtClean="0"/>
              <a:pPr/>
              <a:t>20</a:t>
            </a:fld>
            <a:endParaRPr lang="en-IN" altLang="en-US"/>
          </a:p>
        </p:txBody>
      </p:sp>
    </p:spTree>
    <p:extLst>
      <p:ext uri="{BB962C8B-B14F-4D97-AF65-F5344CB8AC3E}">
        <p14:creationId xmlns:p14="http://schemas.microsoft.com/office/powerpoint/2010/main" val="29062502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A38CD-3B98-9D23-BC10-0E80D06D396A}"/>
              </a:ext>
            </a:extLst>
          </p:cNvPr>
          <p:cNvSpPr>
            <a:spLocks noGrp="1"/>
          </p:cNvSpPr>
          <p:nvPr>
            <p:ph idx="1"/>
          </p:nvPr>
        </p:nvSpPr>
        <p:spPr>
          <a:xfrm>
            <a:off x="838200" y="489859"/>
            <a:ext cx="10515600" cy="5866491"/>
          </a:xfrm>
        </p:spPr>
        <p:txBody>
          <a:bodyPr/>
          <a:lstStyle/>
          <a:p>
            <a:pPr>
              <a:lnSpc>
                <a:spcPct val="150000"/>
              </a:lnSpc>
            </a:pPr>
            <a:r>
              <a:rPr lang="en-US" sz="2400" dirty="0">
                <a:latin typeface="Times New Roman" panose="02020603050405020304" pitchFamily="18" charset="0"/>
                <a:cs typeface="Times New Roman" panose="02020603050405020304" pitchFamily="18" charset="0"/>
              </a:rPr>
              <a:t>Algorithm - Decision Tree: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It begins with the original set S as the root node.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On each iteration of the algorithm, it iterates through the very unused attribute of the set S and calculates Entropy(H) and Information gain(IG) of this attribute.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It then selects the attribute which has the smallest Entropy or Largest Information gain.</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set S is then split by the selected attribute to produce a subset of the data.</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algorithm continues to recur on each subset, considering only attributes never selected before.</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49491A2-C651-7E68-108E-084BAC483C76}"/>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B95CFD4F-75DC-C493-B72B-816A5BBA5FE9}"/>
              </a:ext>
            </a:extLst>
          </p:cNvPr>
          <p:cNvSpPr>
            <a:spLocks noGrp="1"/>
          </p:cNvSpPr>
          <p:nvPr>
            <p:ph type="sldNum" sz="quarter" idx="11"/>
          </p:nvPr>
        </p:nvSpPr>
        <p:spPr/>
        <p:txBody>
          <a:bodyPr/>
          <a:lstStyle/>
          <a:p>
            <a:fld id="{25C42BF0-F0BA-4BEC-BFEF-185B471DC7CC}" type="slidenum">
              <a:rPr lang="en-IN" altLang="en-US" smtClean="0"/>
              <a:pPr/>
              <a:t>21</a:t>
            </a:fld>
            <a:endParaRPr lang="en-IN" altLang="en-US" dirty="0"/>
          </a:p>
        </p:txBody>
      </p:sp>
    </p:spTree>
    <p:extLst>
      <p:ext uri="{BB962C8B-B14F-4D97-AF65-F5344CB8AC3E}">
        <p14:creationId xmlns:p14="http://schemas.microsoft.com/office/powerpoint/2010/main" val="4202428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98D327-B736-4080-B636-CDD161F4DB03}"/>
              </a:ext>
            </a:extLst>
          </p:cNvPr>
          <p:cNvSpPr>
            <a:spLocks noGrp="1"/>
          </p:cNvSpPr>
          <p:nvPr>
            <p:ph idx="1"/>
          </p:nvPr>
        </p:nvSpPr>
        <p:spPr>
          <a:xfrm>
            <a:off x="838200" y="604157"/>
            <a:ext cx="10515600" cy="5572806"/>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Algorithm - Random Forest:</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Select random K data points from the training set.</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Build the decision trees associated with the selected data points (Subsets).</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Choose the number N for decision trees that you want to build.</a:t>
            </a:r>
          </a:p>
          <a:p>
            <a:pPr marL="457200" indent="-457200" algn="just">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Repeat Step 1 &amp; 2.</a:t>
            </a:r>
          </a:p>
          <a:p>
            <a:pPr marL="457200" indent="-457200" algn="just">
              <a:lnSpc>
                <a:spcPct val="150000"/>
              </a:lnSpc>
              <a:buFont typeface="+mj-lt"/>
              <a:buAutoNum type="arabicPeriod"/>
            </a:pPr>
            <a:r>
              <a:rPr lang="en-US" sz="2400">
                <a:latin typeface="Times New Roman" panose="02020603050405020304" pitchFamily="18" charset="0"/>
                <a:cs typeface="Times New Roman" panose="02020603050405020304" pitchFamily="18" charset="0"/>
              </a:rPr>
              <a:t>For new data points, find the predictions of each decision tree, and assign the new data points to the category that wins the majority votes</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A8F1EF2-FD26-CCF9-1A47-94EBFAB5BE85}"/>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F6FAC16C-343F-C9FD-C9C0-D6D08E59692F}"/>
              </a:ext>
            </a:extLst>
          </p:cNvPr>
          <p:cNvSpPr>
            <a:spLocks noGrp="1"/>
          </p:cNvSpPr>
          <p:nvPr>
            <p:ph type="sldNum" sz="quarter" idx="11"/>
          </p:nvPr>
        </p:nvSpPr>
        <p:spPr/>
        <p:txBody>
          <a:bodyPr/>
          <a:lstStyle/>
          <a:p>
            <a:fld id="{25C42BF0-F0BA-4BEC-BFEF-185B471DC7CC}" type="slidenum">
              <a:rPr lang="en-IN" altLang="en-US" smtClean="0"/>
              <a:pPr/>
              <a:t>22</a:t>
            </a:fld>
            <a:endParaRPr lang="en-IN" altLang="en-US"/>
          </a:p>
        </p:txBody>
      </p:sp>
    </p:spTree>
    <p:extLst>
      <p:ext uri="{BB962C8B-B14F-4D97-AF65-F5344CB8AC3E}">
        <p14:creationId xmlns:p14="http://schemas.microsoft.com/office/powerpoint/2010/main" val="2134650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2CD6A-CF39-0746-F917-3277A4152F7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Model Evaluation</a:t>
            </a:r>
            <a:endParaRPr lang="en-IN" dirty="0"/>
          </a:p>
        </p:txBody>
      </p:sp>
      <p:sp>
        <p:nvSpPr>
          <p:cNvPr id="3" name="Content Placeholder 2">
            <a:extLst>
              <a:ext uri="{FF2B5EF4-FFF2-40B4-BE49-F238E27FC236}">
                <a16:creationId xmlns:a16="http://schemas.microsoft.com/office/drawing/2014/main" id="{35D1B11D-7E74-84B8-F46D-EF6223860100}"/>
              </a:ext>
            </a:extLst>
          </p:cNvPr>
          <p:cNvSpPr>
            <a:spLocks noGrp="1"/>
          </p:cNvSpPr>
          <p:nvPr>
            <p:ph idx="1"/>
          </p:nvPr>
        </p:nvSpPr>
        <p:spPr/>
        <p:txBody>
          <a:bodyPr/>
          <a:lstStyle/>
          <a:p>
            <a:pPr>
              <a:lnSpc>
                <a:spcPct val="150000"/>
              </a:lnSpc>
            </a:pPr>
            <a:r>
              <a:rPr lang="en-US" sz="2400" b="0" i="0" dirty="0">
                <a:effectLst/>
                <a:latin typeface="Times New Roman" panose="02020603050405020304" pitchFamily="18" charset="0"/>
                <a:cs typeface="Times New Roman" panose="02020603050405020304" pitchFamily="18" charset="0"/>
              </a:rPr>
              <a:t>Model Evaluation is an integral part of the model development process. It helps to find the best model that represents our data and how well the chosen model will work in the future.</a:t>
            </a:r>
          </a:p>
          <a:p>
            <a:pPr>
              <a:lnSpc>
                <a:spcPct val="15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Input: Accuracy score of Algorithm.</a:t>
            </a:r>
          </a:p>
          <a:p>
            <a:pPr>
              <a:lnSpc>
                <a:spcPct val="15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Output: Comparing the graphs.</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6EF0DCC-A9EE-0E81-D15B-4BE913D57413}"/>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134B3A87-5205-E3D7-3E42-D7F1AC215975}"/>
              </a:ext>
            </a:extLst>
          </p:cNvPr>
          <p:cNvSpPr>
            <a:spLocks noGrp="1"/>
          </p:cNvSpPr>
          <p:nvPr>
            <p:ph type="sldNum" sz="quarter" idx="11"/>
          </p:nvPr>
        </p:nvSpPr>
        <p:spPr/>
        <p:txBody>
          <a:bodyPr/>
          <a:lstStyle/>
          <a:p>
            <a:fld id="{25C42BF0-F0BA-4BEC-BFEF-185B471DC7CC}" type="slidenum">
              <a:rPr lang="en-IN" altLang="en-US" smtClean="0"/>
              <a:pPr/>
              <a:t>23</a:t>
            </a:fld>
            <a:endParaRPr lang="en-IN" altLang="en-US"/>
          </a:p>
        </p:txBody>
      </p:sp>
    </p:spTree>
    <p:extLst>
      <p:ext uri="{BB962C8B-B14F-4D97-AF65-F5344CB8AC3E}">
        <p14:creationId xmlns:p14="http://schemas.microsoft.com/office/powerpoint/2010/main" val="3422918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r>
              <a:rPr lang="en-US" b="1" dirty="0"/>
              <a:t> </a:t>
            </a:r>
          </a:p>
        </p:txBody>
      </p:sp>
      <p:sp>
        <p:nvSpPr>
          <p:cNvPr id="3" name="Content Placeholder 2"/>
          <p:cNvSpPr>
            <a:spLocks noGrp="1"/>
          </p:cNvSpPr>
          <p:nvPr>
            <p:ph idx="1"/>
          </p:nvPr>
        </p:nvSpPr>
        <p:spPr>
          <a:xfrm>
            <a:off x="838200" y="1825625"/>
            <a:ext cx="5998029" cy="4351338"/>
          </a:xfrm>
        </p:spPr>
        <p:txBody>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Proposed </a:t>
            </a:r>
            <a:r>
              <a:rPr lang="en-IN" sz="2400" dirty="0">
                <a:latin typeface="Times New Roman" panose="02020603050405020304" pitchFamily="18" charset="0"/>
                <a:cs typeface="Times New Roman" panose="02020603050405020304" pitchFamily="18" charset="0"/>
              </a:rPr>
              <a:t>solutions</a:t>
            </a:r>
            <a:r>
              <a:rPr lang="en-US" sz="2400" dirty="0">
                <a:latin typeface="Times New Roman" panose="02020603050405020304" pitchFamily="18" charset="0"/>
                <a:cs typeface="Times New Roman" panose="02020603050405020304" pitchFamily="18" charset="0"/>
              </a:rPr>
              <a:t> is above 88% accuracy using KNN </a:t>
            </a:r>
            <a:r>
              <a:rPr lang="en-IN" sz="2400" dirty="0">
                <a:latin typeface="Times New Roman" panose="02020603050405020304" pitchFamily="18" charset="0"/>
                <a:cs typeface="Times New Roman" panose="02020603050405020304" pitchFamily="18" charset="0"/>
              </a:rPr>
              <a:t>algorithm</a:t>
            </a:r>
            <a:r>
              <a:rPr lang="en-US" sz="2400" dirty="0">
                <a:latin typeface="Times New Roman" panose="02020603050405020304" pitchFamily="18" charset="0"/>
                <a:cs typeface="Times New Roman" panose="02020603050405020304" pitchFamily="18" charset="0"/>
              </a:rPr>
              <a:t> which is more than other algo like logistic regression, random forest and decision. Hence we conclude that KNN is having better accuracy.</a:t>
            </a:r>
          </a:p>
          <a:p>
            <a:pPr marL="0" indent="0" algn="just">
              <a:lnSpc>
                <a:spcPct val="150000"/>
              </a:lnSpc>
              <a:buNone/>
            </a:pPr>
            <a:r>
              <a:rPr lang="en-US" sz="2400" dirty="0"/>
              <a:t> </a:t>
            </a:r>
          </a:p>
        </p:txBody>
      </p:sp>
      <p:sp>
        <p:nvSpPr>
          <p:cNvPr id="4" name="Footer Placeholder 3"/>
          <p:cNvSpPr>
            <a:spLocks noGrp="1"/>
          </p:cNvSpPr>
          <p:nvPr>
            <p:ph type="ftr" sz="quarter" idx="10"/>
          </p:nvPr>
        </p:nvSpPr>
        <p:spPr/>
        <p:txBody>
          <a:bodyPr/>
          <a:lstStyle/>
          <a:p>
            <a:pPr>
              <a:defRPr/>
            </a:pPr>
            <a:r>
              <a:rPr lang="en-US"/>
              <a:t>Dept of CSE,GAT                     2021-22                                                                                                           </a:t>
            </a:r>
            <a:endParaRPr lang="en-IN"/>
          </a:p>
        </p:txBody>
      </p:sp>
      <p:sp>
        <p:nvSpPr>
          <p:cNvPr id="5" name="Slide Number Placeholder 4"/>
          <p:cNvSpPr>
            <a:spLocks noGrp="1"/>
          </p:cNvSpPr>
          <p:nvPr>
            <p:ph type="sldNum" sz="quarter" idx="11"/>
          </p:nvPr>
        </p:nvSpPr>
        <p:spPr/>
        <p:txBody>
          <a:bodyPr/>
          <a:lstStyle/>
          <a:p>
            <a:fld id="{25C42BF0-F0BA-4BEC-BFEF-185B471DC7CC}" type="slidenum">
              <a:rPr lang="en-IN" altLang="en-US" smtClean="0"/>
              <a:pPr/>
              <a:t>24</a:t>
            </a:fld>
            <a:endParaRPr lang="en-IN" altLang="en-US"/>
          </a:p>
        </p:txBody>
      </p:sp>
      <p:pic>
        <p:nvPicPr>
          <p:cNvPr id="10" name="Content Placeholder 6" descr="Table&#10;&#10;Description automatically generated">
            <a:extLst>
              <a:ext uri="{FF2B5EF4-FFF2-40B4-BE49-F238E27FC236}">
                <a16:creationId xmlns:a16="http://schemas.microsoft.com/office/drawing/2014/main" id="{EDA1FB83-3CA5-5361-D4AF-F2D8AEC8B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6760029" y="1505627"/>
            <a:ext cx="5138057" cy="3784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71E4B4-AE57-142C-12CC-34DA9F0277A4}"/>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7CCAFA27-6513-9F77-BDC5-EA2337BBB2DC}"/>
              </a:ext>
            </a:extLst>
          </p:cNvPr>
          <p:cNvSpPr>
            <a:spLocks noGrp="1"/>
          </p:cNvSpPr>
          <p:nvPr>
            <p:ph type="sldNum" sz="quarter" idx="11"/>
          </p:nvPr>
        </p:nvSpPr>
        <p:spPr/>
        <p:txBody>
          <a:bodyPr/>
          <a:lstStyle/>
          <a:p>
            <a:fld id="{25C42BF0-F0BA-4BEC-BFEF-185B471DC7CC}" type="slidenum">
              <a:rPr lang="en-IN" altLang="en-US" smtClean="0"/>
              <a:pPr/>
              <a:t>25</a:t>
            </a:fld>
            <a:endParaRPr lang="en-IN" altLang="en-US"/>
          </a:p>
        </p:txBody>
      </p:sp>
      <p:pic>
        <p:nvPicPr>
          <p:cNvPr id="8" name="Picture 7" descr="Chart, box and whisker chart&#10;&#10;Description automatically generated">
            <a:extLst>
              <a:ext uri="{FF2B5EF4-FFF2-40B4-BE49-F238E27FC236}">
                <a16:creationId xmlns:a16="http://schemas.microsoft.com/office/drawing/2014/main" id="{52D27986-309D-F506-8842-5F2DC81EE06C}"/>
              </a:ext>
            </a:extLst>
          </p:cNvPr>
          <p:cNvPicPr>
            <a:picLocks noChangeAspect="1"/>
          </p:cNvPicPr>
          <p:nvPr/>
        </p:nvPicPr>
        <p:blipFill rotWithShape="1">
          <a:blip r:embed="rId2">
            <a:extLst>
              <a:ext uri="{28A0092B-C50C-407E-A947-70E740481C1C}">
                <a14:useLocalDpi xmlns:a14="http://schemas.microsoft.com/office/drawing/2010/main" val="0"/>
              </a:ext>
            </a:extLst>
          </a:blip>
          <a:srcRect r="8156"/>
          <a:stretch/>
        </p:blipFill>
        <p:spPr>
          <a:xfrm>
            <a:off x="7271658" y="794658"/>
            <a:ext cx="4691743" cy="3285402"/>
          </a:xfrm>
          <a:prstGeom prst="rect">
            <a:avLst/>
          </a:prstGeom>
        </p:spPr>
      </p:pic>
      <p:sp>
        <p:nvSpPr>
          <p:cNvPr id="9" name="Content Placeholder 8">
            <a:extLst>
              <a:ext uri="{FF2B5EF4-FFF2-40B4-BE49-F238E27FC236}">
                <a16:creationId xmlns:a16="http://schemas.microsoft.com/office/drawing/2014/main" id="{3EB0B692-C080-5AED-FDE3-7418EA3A6E7F}"/>
              </a:ext>
            </a:extLst>
          </p:cNvPr>
          <p:cNvSpPr>
            <a:spLocks noGrp="1"/>
          </p:cNvSpPr>
          <p:nvPr>
            <p:ph idx="1"/>
          </p:nvPr>
        </p:nvSpPr>
        <p:spPr>
          <a:xfrm>
            <a:off x="805541" y="718457"/>
            <a:ext cx="6128658" cy="5458506"/>
          </a:xfrm>
        </p:spPr>
        <p:txBody>
          <a:bodyPr/>
          <a:lstStyle/>
          <a:p>
            <a:pPr algn="just">
              <a:lnSpc>
                <a:spcPct val="150000"/>
              </a:lnSpc>
            </a:pPr>
            <a:r>
              <a:rPr lang="en-US" dirty="0">
                <a:latin typeface="Times New Roman" panose="02020603050405020304" pitchFamily="18" charset="0"/>
                <a:cs typeface="Times New Roman" panose="02020603050405020304" pitchFamily="18" charset="0"/>
              </a:rPr>
              <a:t>The graph depicted shows the comparison between all the algorithms used along with the accuracy of different models which can be visualized based on the metric parameters.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9684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9AB402-D62F-A83F-E7C1-5E9C55294CCC}"/>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BA8C6E9E-D3DE-EB7E-DEAC-254B4CC2ECB4}"/>
              </a:ext>
            </a:extLst>
          </p:cNvPr>
          <p:cNvSpPr>
            <a:spLocks noGrp="1"/>
          </p:cNvSpPr>
          <p:nvPr>
            <p:ph type="sldNum" sz="quarter" idx="11"/>
          </p:nvPr>
        </p:nvSpPr>
        <p:spPr/>
        <p:txBody>
          <a:bodyPr/>
          <a:lstStyle/>
          <a:p>
            <a:fld id="{25C42BF0-F0BA-4BEC-BFEF-185B471DC7CC}" type="slidenum">
              <a:rPr lang="en-IN" altLang="en-US" smtClean="0"/>
              <a:pPr/>
              <a:t>26</a:t>
            </a:fld>
            <a:endParaRPr lang="en-IN" altLang="en-US"/>
          </a:p>
        </p:txBody>
      </p:sp>
      <p:sp>
        <p:nvSpPr>
          <p:cNvPr id="6" name="TextBox 5">
            <a:extLst>
              <a:ext uri="{FF2B5EF4-FFF2-40B4-BE49-F238E27FC236}">
                <a16:creationId xmlns:a16="http://schemas.microsoft.com/office/drawing/2014/main" id="{A9AE19FD-2B60-A3B1-8FB9-6A3BAFC23FE1}"/>
              </a:ext>
            </a:extLst>
          </p:cNvPr>
          <p:cNvSpPr txBox="1"/>
          <p:nvPr/>
        </p:nvSpPr>
        <p:spPr>
          <a:xfrm>
            <a:off x="772160" y="304800"/>
            <a:ext cx="10581640" cy="5940088"/>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Bibliography</a:t>
            </a:r>
          </a:p>
          <a:p>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[1]. </a:t>
            </a:r>
            <a:r>
              <a:rPr lang="en-IN" sz="2400" dirty="0" err="1">
                <a:latin typeface="Times New Roman" panose="02020603050405020304" pitchFamily="18" charset="0"/>
                <a:cs typeface="Times New Roman" panose="02020603050405020304" pitchFamily="18" charset="0"/>
              </a:rPr>
              <a:t>Mubariz</a:t>
            </a:r>
            <a:r>
              <a:rPr lang="en-IN" sz="2400" dirty="0">
                <a:latin typeface="Times New Roman" panose="02020603050405020304" pitchFamily="18" charset="0"/>
                <a:cs typeface="Times New Roman" panose="02020603050405020304" pitchFamily="18" charset="0"/>
              </a:rPr>
              <a:t> Manzoor, Muhammad </a:t>
            </a:r>
            <a:r>
              <a:rPr lang="en-IN" sz="2400" dirty="0" err="1">
                <a:latin typeface="Times New Roman" panose="02020603050405020304" pitchFamily="18" charset="0"/>
                <a:cs typeface="Times New Roman" panose="02020603050405020304" pitchFamily="18" charset="0"/>
              </a:rPr>
              <a:t>Umer</a:t>
            </a:r>
            <a:r>
              <a:rPr lang="en-IN" sz="2400" dirty="0">
                <a:latin typeface="Times New Roman" panose="02020603050405020304" pitchFamily="18" charset="0"/>
                <a:cs typeface="Times New Roman" panose="02020603050405020304" pitchFamily="18" charset="0"/>
              </a:rPr>
              <a:t>, Saima Sadiq Saleem Ullah, hamza Ahmad </a:t>
            </a:r>
            <a:r>
              <a:rPr lang="en-IN" sz="2400" dirty="0" err="1">
                <a:latin typeface="Times New Roman" panose="02020603050405020304" pitchFamily="18" charset="0"/>
                <a:cs typeface="Times New Roman" panose="02020603050405020304" pitchFamily="18" charset="0"/>
              </a:rPr>
              <a:t>Madni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abid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Ishaq</a:t>
            </a:r>
            <a:r>
              <a:rPr lang="en-IN" sz="2400" dirty="0">
                <a:latin typeface="Times New Roman" panose="02020603050405020304" pitchFamily="18" charset="0"/>
                <a:cs typeface="Times New Roman" panose="02020603050405020304" pitchFamily="18" charset="0"/>
              </a:rPr>
              <a:t>, and carmen </a:t>
            </a:r>
            <a:r>
              <a:rPr lang="en-IN" sz="2400" dirty="0" err="1">
                <a:latin typeface="Times New Roman" panose="02020603050405020304" pitchFamily="18" charset="0"/>
                <a:cs typeface="Times New Roman" panose="02020603050405020304" pitchFamily="18" charset="0"/>
              </a:rPr>
              <a:t>bisogni</a:t>
            </a:r>
            <a:r>
              <a:rPr lang="en-IN"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Traffic Accident Severity Prediction Based on Decision Level Fusion of Machine and Deep Learning Model</a:t>
            </a:r>
            <a:r>
              <a:rPr lang="en-IN" sz="2400" dirty="0">
                <a:latin typeface="Times New Roman" panose="02020603050405020304" pitchFamily="18" charset="0"/>
                <a:cs typeface="Times New Roman" panose="02020603050405020304" pitchFamily="18" charset="0"/>
              </a:rPr>
              <a:t>.”IEEE Access </a:t>
            </a:r>
            <a:r>
              <a:rPr lang="en-IN" sz="2400" b="0" i="1" dirty="0">
                <a:solidFill>
                  <a:srgbClr val="000000"/>
                </a:solidFill>
                <a:effectLst/>
                <a:latin typeface="Times New Roman" panose="02020603050405020304" pitchFamily="18" charset="0"/>
                <a:cs typeface="Times New Roman" panose="02020603050405020304" pitchFamily="18" charset="0"/>
              </a:rPr>
              <a:t>10.1109/ACCESS.2021.3112546</a:t>
            </a:r>
          </a:p>
          <a:p>
            <a:pPr algn="just"/>
            <a:endParaRPr lang="en-IN" sz="2400" i="1" dirty="0">
              <a:solidFill>
                <a:srgbClr val="000000"/>
              </a:solidFill>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[2]. N. Sridevi, M. V. </a:t>
            </a:r>
            <a:r>
              <a:rPr lang="en-IN" sz="2400" dirty="0" err="1">
                <a:latin typeface="Times New Roman" panose="02020603050405020304" pitchFamily="18" charset="0"/>
                <a:cs typeface="Times New Roman" panose="02020603050405020304" pitchFamily="18" charset="0"/>
              </a:rPr>
              <a:t>Keerthana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Monisha</a:t>
            </a:r>
            <a:r>
              <a:rPr lang="en-IN" sz="2400" dirty="0">
                <a:latin typeface="Times New Roman" panose="02020603050405020304" pitchFamily="18" charset="0"/>
                <a:cs typeface="Times New Roman" panose="02020603050405020304" pitchFamily="18" charset="0"/>
              </a:rPr>
              <a:t> V. Pal, T. R. </a:t>
            </a:r>
            <a:r>
              <a:rPr lang="en-IN" sz="2400" dirty="0" err="1">
                <a:latin typeface="Times New Roman" panose="02020603050405020304" pitchFamily="18" charset="0"/>
                <a:cs typeface="Times New Roman" panose="02020603050405020304" pitchFamily="18" charset="0"/>
              </a:rPr>
              <a:t>Nikshitha</a:t>
            </a:r>
            <a:r>
              <a:rPr lang="en-IN" sz="2400" dirty="0">
                <a:latin typeface="Times New Roman" panose="02020603050405020304" pitchFamily="18" charset="0"/>
                <a:cs typeface="Times New Roman" panose="02020603050405020304" pitchFamily="18" charset="0"/>
              </a:rPr>
              <a:t>, P. Jyothi.”</a:t>
            </a:r>
            <a:r>
              <a:rPr lang="en-US" sz="2400" dirty="0">
                <a:latin typeface="Times New Roman" panose="02020603050405020304" pitchFamily="18" charset="0"/>
                <a:cs typeface="Times New Roman" panose="02020603050405020304" pitchFamily="18" charset="0"/>
              </a:rPr>
              <a:t> Road Accident Analysis Using  Machine Learning.” International Journal of Research in Engineering, Science and Management  Volume-3, Issue-5, May-2020 www.ijresm.com | ISSN (Online): 2581-5792</a:t>
            </a:r>
            <a:endParaRPr lang="en-IN" sz="2400" b="0" i="1" dirty="0">
              <a:solidFill>
                <a:srgbClr val="000000"/>
              </a:solidFill>
              <a:effectLst/>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[3]. </a:t>
            </a:r>
            <a:r>
              <a:rPr lang="en-IN" sz="2400" dirty="0" err="1">
                <a:latin typeface="Times New Roman" panose="02020603050405020304" pitchFamily="18" charset="0"/>
                <a:cs typeface="Times New Roman" panose="02020603050405020304" pitchFamily="18" charset="0"/>
              </a:rPr>
              <a:t>Akanksh</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Basavaraju</a:t>
            </a:r>
            <a:r>
              <a:rPr lang="en-IN" sz="2400" dirty="0">
                <a:latin typeface="Times New Roman" panose="02020603050405020304" pitchFamily="18" charset="0"/>
                <a:cs typeface="Times New Roman" panose="02020603050405020304" pitchFamily="18" charset="0"/>
              </a:rPr>
              <a:t>, Jing Du, </a:t>
            </a:r>
            <a:r>
              <a:rPr lang="en-IN" sz="2400" dirty="0" err="1">
                <a:latin typeface="Times New Roman" panose="02020603050405020304" pitchFamily="18" charset="0"/>
                <a:cs typeface="Times New Roman" panose="02020603050405020304" pitchFamily="18" charset="0"/>
              </a:rPr>
              <a:t>Fujie</a:t>
            </a:r>
            <a:r>
              <a:rPr lang="en-IN" sz="2400" dirty="0">
                <a:latin typeface="Times New Roman" panose="02020603050405020304" pitchFamily="18" charset="0"/>
                <a:cs typeface="Times New Roman" panose="02020603050405020304" pitchFamily="18" charset="0"/>
              </a:rPr>
              <a:t> Zhou, and Jim Ji.”</a:t>
            </a:r>
            <a:r>
              <a:rPr lang="en-US" sz="2400" dirty="0">
                <a:latin typeface="Times New Roman" panose="02020603050405020304" pitchFamily="18" charset="0"/>
                <a:cs typeface="Times New Roman" panose="02020603050405020304" pitchFamily="18" charset="0"/>
              </a:rPr>
              <a:t>A Machine Learning Approach to Road Surface Anomaly Assessment Using Smartphone Sensors .”IEEE SENSORS JOURNAL, VOL. 20, NO. 5, MARCH 1, 2020</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91810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CBEECD9F-3539-AC55-4157-15CF597847D1}"/>
              </a:ext>
            </a:extLst>
          </p:cNvPr>
          <p:cNvSpPr>
            <a:spLocks noGrp="1"/>
          </p:cNvSpPr>
          <p:nvPr>
            <p:ph type="ftr" sz="quarter" idx="10"/>
          </p:nvPr>
        </p:nvSpPr>
        <p:spPr/>
        <p:txBody>
          <a:bodyPr/>
          <a:lstStyle/>
          <a:p>
            <a:pPr>
              <a:defRPr/>
            </a:pPr>
            <a:r>
              <a:rPr lang="en-US"/>
              <a:t>Dept of CSE,GAT                     2021-22                                                                                                           </a:t>
            </a:r>
            <a:endParaRPr lang="en-IN"/>
          </a:p>
        </p:txBody>
      </p:sp>
      <p:sp>
        <p:nvSpPr>
          <p:cNvPr id="5" name="Slide Number Placeholder 4">
            <a:extLst>
              <a:ext uri="{FF2B5EF4-FFF2-40B4-BE49-F238E27FC236}">
                <a16:creationId xmlns:a16="http://schemas.microsoft.com/office/drawing/2014/main" id="{B7FC4DBB-025D-043E-9965-86BC8AF53194}"/>
              </a:ext>
            </a:extLst>
          </p:cNvPr>
          <p:cNvSpPr>
            <a:spLocks noGrp="1"/>
          </p:cNvSpPr>
          <p:nvPr>
            <p:ph type="sldNum" sz="quarter" idx="11"/>
          </p:nvPr>
        </p:nvSpPr>
        <p:spPr/>
        <p:txBody>
          <a:bodyPr/>
          <a:lstStyle/>
          <a:p>
            <a:fld id="{25C42BF0-F0BA-4BEC-BFEF-185B471DC7CC}" type="slidenum">
              <a:rPr lang="en-IN" altLang="en-US" smtClean="0"/>
              <a:pPr/>
              <a:t>27</a:t>
            </a:fld>
            <a:endParaRPr lang="en-IN" altLang="en-US"/>
          </a:p>
        </p:txBody>
      </p:sp>
      <p:sp>
        <p:nvSpPr>
          <p:cNvPr id="6" name="TextBox 5">
            <a:extLst>
              <a:ext uri="{FF2B5EF4-FFF2-40B4-BE49-F238E27FC236}">
                <a16:creationId xmlns:a16="http://schemas.microsoft.com/office/drawing/2014/main" id="{4605BC8E-CA92-2193-386E-0E52F8CA0629}"/>
              </a:ext>
            </a:extLst>
          </p:cNvPr>
          <p:cNvSpPr txBox="1"/>
          <p:nvPr/>
        </p:nvSpPr>
        <p:spPr>
          <a:xfrm>
            <a:off x="802640" y="284480"/>
            <a:ext cx="10581640" cy="6001643"/>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[4]. Sahil </a:t>
            </a:r>
            <a:r>
              <a:rPr lang="en-US" sz="2400" dirty="0" err="1">
                <a:latin typeface="Times New Roman" panose="02020603050405020304" pitchFamily="18" charset="0"/>
                <a:cs typeface="Times New Roman" panose="02020603050405020304" pitchFamily="18" charset="0"/>
              </a:rPr>
              <a:t>Dabhade</a:t>
            </a:r>
            <a:r>
              <a:rPr lang="en-US" sz="2400" dirty="0">
                <a:latin typeface="Times New Roman" panose="02020603050405020304" pitchFamily="18" charset="0"/>
                <a:cs typeface="Times New Roman" panose="02020603050405020304" pitchFamily="18" charset="0"/>
              </a:rPr>
              <a:t>, Sai </a:t>
            </a:r>
            <a:r>
              <a:rPr lang="en-US" sz="2400" dirty="0" err="1">
                <a:latin typeface="Times New Roman" panose="02020603050405020304" pitchFamily="18" charset="0"/>
                <a:cs typeface="Times New Roman" panose="02020603050405020304" pitchFamily="18" charset="0"/>
              </a:rPr>
              <a:t>Mahale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Avinash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Chitalkar</a:t>
            </a:r>
            <a:r>
              <a:rPr lang="en-US" sz="2400" dirty="0">
                <a:latin typeface="Times New Roman" panose="02020603050405020304" pitchFamily="18" charset="0"/>
                <a:cs typeface="Times New Roman" panose="02020603050405020304" pitchFamily="18" charset="0"/>
              </a:rPr>
              <a:t>, Pushkar </a:t>
            </a:r>
            <a:r>
              <a:rPr lang="en-US" sz="2400" dirty="0" err="1">
                <a:latin typeface="Times New Roman" panose="02020603050405020304" pitchFamily="18" charset="0"/>
                <a:cs typeface="Times New Roman" panose="02020603050405020304" pitchFamily="18" charset="0"/>
              </a:rPr>
              <a:t>Gawhad</a:t>
            </a:r>
            <a:r>
              <a:rPr lang="en-US" sz="2400" dirty="0">
                <a:latin typeface="Times New Roman" panose="02020603050405020304" pitchFamily="18" charset="0"/>
                <a:cs typeface="Times New Roman" panose="02020603050405020304" pitchFamily="18" charset="0"/>
              </a:rPr>
              <a:t>, Vicky </a:t>
            </a:r>
            <a:r>
              <a:rPr lang="en-US" sz="2400" dirty="0" err="1">
                <a:latin typeface="Times New Roman" panose="02020603050405020304" pitchFamily="18" charset="0"/>
                <a:cs typeface="Times New Roman" panose="02020603050405020304" pitchFamily="18" charset="0"/>
              </a:rPr>
              <a:t>Pagare</a:t>
            </a:r>
            <a:r>
              <a:rPr lang="en-US" sz="2400" dirty="0">
                <a:latin typeface="Times New Roman" panose="02020603050405020304" pitchFamily="18" charset="0"/>
                <a:cs typeface="Times New Roman" panose="02020603050405020304" pitchFamily="18" charset="0"/>
              </a:rPr>
              <a:t>.”Road Accident Analysis and Prediction using Machine Learning.”</a:t>
            </a:r>
            <a:r>
              <a:rPr lang="en-IN" sz="2400" dirty="0">
                <a:latin typeface="Times New Roman" panose="02020603050405020304" pitchFamily="18" charset="0"/>
                <a:cs typeface="Times New Roman" panose="02020603050405020304" pitchFamily="18" charset="0"/>
              </a:rPr>
              <a:t>International Journal for Research in Applied Science &amp; Engineering Technology (IJRASET) ISSN: 2321-9653; IC Value: 45.98; SJ Impact Factor: 7.177 Volume 8 Issue I, Jan 2020- Available at www.ijraset.com</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[5]. Vipul Rana, Hemant  Joshi, Deepak Parmar, </a:t>
            </a:r>
            <a:r>
              <a:rPr lang="en-US" sz="2400" dirty="0" err="1">
                <a:latin typeface="Times New Roman" panose="02020603050405020304" pitchFamily="18" charset="0"/>
                <a:cs typeface="Times New Roman" panose="02020603050405020304" pitchFamily="18" charset="0"/>
              </a:rPr>
              <a:t>Pradnya</a:t>
            </a:r>
            <a:r>
              <a:rPr lang="en-US" sz="2400" dirty="0">
                <a:latin typeface="Times New Roman" panose="02020603050405020304" pitchFamily="18" charset="0"/>
                <a:cs typeface="Times New Roman" panose="02020603050405020304" pitchFamily="18" charset="0"/>
              </a:rPr>
              <a:t>  Jadhav,  Monika </a:t>
            </a:r>
            <a:r>
              <a:rPr lang="en-US" sz="2400" dirty="0" err="1">
                <a:latin typeface="Times New Roman" panose="02020603050405020304" pitchFamily="18" charset="0"/>
                <a:cs typeface="Times New Roman" panose="02020603050405020304" pitchFamily="18" charset="0"/>
              </a:rPr>
              <a:t>Kanojiya</a:t>
            </a:r>
            <a:r>
              <a:rPr lang="en-US" sz="2400" dirty="0">
                <a:latin typeface="Times New Roman" panose="02020603050405020304" pitchFamily="18" charset="0"/>
                <a:cs typeface="Times New Roman" panose="02020603050405020304" pitchFamily="18" charset="0"/>
              </a:rPr>
              <a:t>.” Road  Accident  Prediction  using  Machine Learning  Algorithm.” International Research  Journal of  Engineering and Technology  (IRJET) Volume:  06  Issue:  03  |  Mar  2019 www.irjet.net</a:t>
            </a:r>
          </a:p>
          <a:p>
            <a:pPr marL="0" indent="0" algn="just">
              <a:buNone/>
            </a:pPr>
            <a:endParaRPr lang="en-IN" sz="2400" i="1" dirty="0">
              <a:solidFill>
                <a:srgbClr val="000000"/>
              </a:solidFill>
              <a:latin typeface="Times New Roman" panose="02020603050405020304" pitchFamily="18" charset="0"/>
              <a:cs typeface="Times New Roman" panose="02020603050405020304" pitchFamily="18" charset="0"/>
            </a:endParaRPr>
          </a:p>
          <a:p>
            <a:pPr marL="0" indent="0" algn="just">
              <a:buNone/>
            </a:pPr>
            <a:r>
              <a:rPr lang="en-IN" sz="2400" dirty="0">
                <a:latin typeface="Times New Roman" panose="02020603050405020304" pitchFamily="18" charset="0"/>
                <a:cs typeface="Times New Roman" panose="02020603050405020304" pitchFamily="18" charset="0"/>
              </a:rPr>
              <a:t>[6]. </a:t>
            </a:r>
            <a:r>
              <a:rPr lang="en-IN" sz="2400" dirty="0" err="1">
                <a:latin typeface="Times New Roman" panose="02020603050405020304" pitchFamily="18" charset="0"/>
                <a:cs typeface="Times New Roman" panose="02020603050405020304" pitchFamily="18" charset="0"/>
              </a:rPr>
              <a:t>Meenu</a:t>
            </a:r>
            <a:r>
              <a:rPr lang="en-IN" sz="2400" dirty="0">
                <a:latin typeface="Times New Roman" panose="02020603050405020304" pitchFamily="18" charset="0"/>
                <a:cs typeface="Times New Roman" panose="02020603050405020304" pitchFamily="18" charset="0"/>
              </a:rPr>
              <a:t> Rani </a:t>
            </a:r>
            <a:r>
              <a:rPr lang="en-IN" sz="2400" dirty="0" err="1">
                <a:latin typeface="Times New Roman" panose="02020603050405020304" pitchFamily="18" charset="0"/>
                <a:cs typeface="Times New Roman" panose="02020603050405020304" pitchFamily="18" charset="0"/>
              </a:rPr>
              <a:t>Dey,Utkalika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Satapathy,Pranali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Bhanse,Bhabendu</a:t>
            </a:r>
            <a:r>
              <a:rPr lang="en-IN" sz="2400" dirty="0">
                <a:latin typeface="Times New Roman" panose="02020603050405020304" pitchFamily="18" charset="0"/>
                <a:cs typeface="Times New Roman" panose="02020603050405020304" pitchFamily="18" charset="0"/>
              </a:rPr>
              <a:t> Kr. </a:t>
            </a:r>
            <a:r>
              <a:rPr lang="en-IN" sz="2400" dirty="0" err="1">
                <a:latin typeface="Times New Roman" panose="02020603050405020304" pitchFamily="18" charset="0"/>
                <a:cs typeface="Times New Roman" panose="02020603050405020304" pitchFamily="18" charset="0"/>
              </a:rPr>
              <a:t>Mohanta,Debasish</a:t>
            </a:r>
            <a:r>
              <a:rPr lang="en-IN" sz="2400" dirty="0">
                <a:latin typeface="Times New Roman" panose="02020603050405020304" pitchFamily="18" charset="0"/>
                <a:cs typeface="Times New Roman" panose="02020603050405020304" pitchFamily="18" charset="0"/>
              </a:rPr>
              <a:t> Jena.”</a:t>
            </a:r>
            <a:r>
              <a:rPr lang="en-US" sz="2400" b="0" i="0" dirty="0">
                <a:solidFill>
                  <a:srgbClr val="242021"/>
                </a:solidFill>
                <a:effectLst/>
                <a:latin typeface="Times New Roman" panose="02020603050405020304" pitchFamily="18" charset="0"/>
                <a:cs typeface="Times New Roman" panose="02020603050405020304" pitchFamily="18" charset="0"/>
              </a:rPr>
              <a:t> Detecting Road Surface Condition using</a:t>
            </a:r>
            <a:br>
              <a:rPr lang="en-US" sz="2400" b="0" i="0" dirty="0">
                <a:solidFill>
                  <a:srgbClr val="242021"/>
                </a:solidFill>
                <a:effectLst/>
                <a:latin typeface="Times New Roman" panose="02020603050405020304" pitchFamily="18" charset="0"/>
                <a:cs typeface="Times New Roman" panose="02020603050405020304" pitchFamily="18" charset="0"/>
              </a:rPr>
            </a:br>
            <a:r>
              <a:rPr lang="en-US" sz="2400" b="0" i="0" dirty="0">
                <a:solidFill>
                  <a:srgbClr val="242021"/>
                </a:solidFill>
                <a:effectLst/>
                <a:latin typeface="Times New Roman" panose="02020603050405020304" pitchFamily="18" charset="0"/>
                <a:cs typeface="Times New Roman" panose="02020603050405020304" pitchFamily="18" charset="0"/>
              </a:rPr>
              <a:t>Smartphone Sensors and Machine Learning.”</a:t>
            </a:r>
            <a:r>
              <a:rPr lang="en-IN" sz="2400" dirty="0">
                <a:latin typeface="Times New Roman" panose="02020603050405020304" pitchFamily="18" charset="0"/>
                <a:cs typeface="Times New Roman" panose="02020603050405020304" pitchFamily="18" charset="0"/>
              </a:rPr>
              <a:t>Information Security Lab IIIT Bhubaneswar Odisha, India a117004@iiit-bh.ac.in 978-1-7281-1895-6/19/$31.00 c2019 IEEE.</a:t>
            </a:r>
          </a:p>
        </p:txBody>
      </p:sp>
    </p:spTree>
    <p:extLst>
      <p:ext uri="{BB962C8B-B14F-4D97-AF65-F5344CB8AC3E}">
        <p14:creationId xmlns:p14="http://schemas.microsoft.com/office/powerpoint/2010/main" val="13487580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00A5F769-DE9F-4ED6-B754-42F8F89CE66A}"/>
              </a:ext>
            </a:extLst>
          </p:cNvPr>
          <p:cNvSpPr>
            <a:spLocks noGrp="1"/>
          </p:cNvSpPr>
          <p:nvPr>
            <p:ph idx="1"/>
          </p:nvPr>
        </p:nvSpPr>
        <p:spPr>
          <a:xfrm>
            <a:off x="838200" y="395288"/>
            <a:ext cx="10515600" cy="5781675"/>
          </a:xfrm>
        </p:spPr>
        <p:txBody>
          <a:bodyPr/>
          <a:lstStyle/>
          <a:p>
            <a:pPr marL="0" indent="0" algn="ctr">
              <a:buFont typeface="Arial" panose="020B0604020202020204" pitchFamily="34" charset="0"/>
              <a:buNone/>
            </a:pPr>
            <a:endParaRPr lang="en-IN" altLang="en-US" sz="7200"/>
          </a:p>
          <a:p>
            <a:pPr marL="0" indent="0" algn="ctr">
              <a:buFont typeface="Arial" panose="020B0604020202020204" pitchFamily="34" charset="0"/>
              <a:buNone/>
            </a:pPr>
            <a:endParaRPr lang="en-IN" altLang="en-US" sz="7200"/>
          </a:p>
          <a:p>
            <a:pPr marL="0" indent="0" algn="ctr">
              <a:buFont typeface="Arial" panose="020B0604020202020204" pitchFamily="34" charset="0"/>
              <a:buNone/>
            </a:pPr>
            <a:r>
              <a:rPr lang="en-IN" altLang="en-US" sz="7200"/>
              <a:t>Thank You</a:t>
            </a:r>
          </a:p>
        </p:txBody>
      </p:sp>
      <p:sp>
        <p:nvSpPr>
          <p:cNvPr id="8" name="Slide Number Placeholder 7">
            <a:extLst>
              <a:ext uri="{FF2B5EF4-FFF2-40B4-BE49-F238E27FC236}">
                <a16:creationId xmlns:a16="http://schemas.microsoft.com/office/drawing/2014/main" id="{CBDEF0E0-4B2D-4E8C-9DBA-BA417E1E5176}"/>
              </a:ext>
            </a:extLst>
          </p:cNvPr>
          <p:cNvSpPr>
            <a:spLocks noGrp="1"/>
          </p:cNvSpPr>
          <p:nvPr>
            <p:ph type="sldNum" sz="quarter" idx="11"/>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0F68421-9D82-44FE-A25A-82D9B9DCA617}" type="slidenum">
              <a:rPr lang="en-IN" altLang="en-US">
                <a:solidFill>
                  <a:srgbClr val="898989"/>
                </a:solidFill>
              </a:rPr>
              <a:pPr/>
              <a:t>28</a:t>
            </a:fld>
            <a:endParaRPr lang="en-IN" altLang="en-US">
              <a:solidFill>
                <a:srgbClr val="898989"/>
              </a:solidFill>
            </a:endParaRPr>
          </a:p>
        </p:txBody>
      </p:sp>
      <p:sp>
        <p:nvSpPr>
          <p:cNvPr id="9" name="Footer Placeholder 8">
            <a:extLst>
              <a:ext uri="{FF2B5EF4-FFF2-40B4-BE49-F238E27FC236}">
                <a16:creationId xmlns:a16="http://schemas.microsoft.com/office/drawing/2014/main" id="{01441ACA-5084-4374-A043-163C2DB5ECBA}"/>
              </a:ext>
            </a:extLst>
          </p:cNvPr>
          <p:cNvSpPr>
            <a:spLocks noGrp="1"/>
          </p:cNvSpPr>
          <p:nvPr>
            <p:ph type="ftr" sz="quarter" idx="10"/>
          </p:nvPr>
        </p:nvSpPr>
        <p:spPr/>
        <p:txBody>
          <a:bodyPr/>
          <a:lstStyle/>
          <a:p>
            <a:pPr>
              <a:defRPr/>
            </a:pPr>
            <a:r>
              <a:rPr lang="en-US"/>
              <a:t>Dept of CSE,GAT                     2021-22                                                                                                           </a:t>
            </a: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TotalTime>
  <Words>2077</Words>
  <Application>Microsoft Office PowerPoint</Application>
  <PresentationFormat>Widescreen</PresentationFormat>
  <Paragraphs>279</Paragraphs>
  <Slides>28</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Roboto</vt:lpstr>
      <vt:lpstr>Times New Roman</vt:lpstr>
      <vt:lpstr>Office Theme</vt:lpstr>
      <vt:lpstr>GLOBAL ACADEMY OF TECHNOLOGY DEPARTMENT OF COMPUTER SCIENCE AND ENGINEERING</vt:lpstr>
      <vt:lpstr>Agenda</vt:lpstr>
      <vt:lpstr>Introduction</vt:lpstr>
      <vt:lpstr>Problem Statement</vt:lpstr>
      <vt:lpstr>Objectives </vt:lpstr>
      <vt:lpstr>Existing System</vt:lpstr>
      <vt:lpstr>PowerPoint Presentation</vt:lpstr>
      <vt:lpstr>Proposed System</vt:lpstr>
      <vt:lpstr>System Design</vt:lpstr>
      <vt:lpstr>High-level design Data Flow Diagram – Level 0</vt:lpstr>
      <vt:lpstr>Data Flow Diagram – Level 1</vt:lpstr>
      <vt:lpstr>Class Diagram</vt:lpstr>
      <vt:lpstr>Use Case Diagram</vt:lpstr>
      <vt:lpstr>Implementation Modules</vt:lpstr>
      <vt:lpstr>Data Acquisition</vt:lpstr>
      <vt:lpstr>Data Pre-Processing</vt:lpstr>
      <vt:lpstr>PowerPoint Presentation</vt:lpstr>
      <vt:lpstr>Machine Learning Training</vt:lpstr>
      <vt:lpstr>PowerPoint Presentation</vt:lpstr>
      <vt:lpstr>PowerPoint Presentation</vt:lpstr>
      <vt:lpstr>PowerPoint Presentation</vt:lpstr>
      <vt:lpstr>PowerPoint Presentation</vt:lpstr>
      <vt:lpstr>Model Evaluation</vt:lpstr>
      <vt:lpstr>Conclusion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ACADEMY OF TECHNOLOGY DEPARTMENT OF COMPUTER SCIENCE AND ENGINEERING</dc:title>
  <dc:creator>admin</dc:creator>
  <cp:lastModifiedBy>Akhiladevi M</cp:lastModifiedBy>
  <cp:revision>89</cp:revision>
  <dcterms:created xsi:type="dcterms:W3CDTF">2018-01-23T09:52:46Z</dcterms:created>
  <dcterms:modified xsi:type="dcterms:W3CDTF">2022-05-17T16:30:14Z</dcterms:modified>
</cp:coreProperties>
</file>