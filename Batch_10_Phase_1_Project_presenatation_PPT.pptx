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58" r:id="rId4"/>
    <p:sldId id="259" r:id="rId5"/>
    <p:sldId id="272" r:id="rId6"/>
    <p:sldId id="273" r:id="rId7"/>
    <p:sldId id="274" r:id="rId8"/>
    <p:sldId id="275" r:id="rId9"/>
    <p:sldId id="276" r:id="rId10"/>
    <p:sldId id="278" r:id="rId11"/>
    <p:sldId id="280" r:id="rId12"/>
    <p:sldId id="281" r:id="rId13"/>
    <p:sldId id="269" r:id="rId14"/>
    <p:sldId id="264" r:id="rId15"/>
    <p:sldId id="266" r:id="rId16"/>
    <p:sldId id="265" r:id="rId17"/>
  </p:sldIdLst>
  <p:sldSz cx="12192000" cy="6858000"/>
  <p:notesSz cx="6954838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F8BA2592-37C6-4071-8C95-F74DDD69B6FE}" type="datetimeFigureOut">
              <a:rPr lang="en-IN" smtClean="0"/>
              <a:pPr/>
              <a:t>29-11-2021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r>
              <a:rPr lang="en-US"/>
              <a:t>Dept. of CSE, GAT                                           2018-19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80221FE1-528C-4581-9630-D496CD92E29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22397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4FAE1FFC-BB9A-4B6C-B478-F218775EACC6}" type="datetimeFigureOut">
              <a:rPr lang="en-IN" smtClean="0"/>
              <a:pPr/>
              <a:t>29-11-2021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r>
              <a:rPr lang="en-US"/>
              <a:t>Dept. of CSE, GAT                                           2018-19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4F106680-AFFF-4043-92CD-40567EBB64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806675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106680-AFFF-4043-92CD-40567EBB641E}" type="slidenum">
              <a:rPr lang="en-IN" smtClean="0"/>
              <a:pPr/>
              <a:t>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GAT                                           2018-19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4549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106680-AFFF-4043-92CD-40567EBB641E}" type="slidenum">
              <a:rPr lang="en-IN" smtClean="0"/>
              <a:pPr/>
              <a:t>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GAT                                           2018-19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0656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106680-AFFF-4043-92CD-40567EBB641E}" type="slidenum">
              <a:rPr lang="en-IN" smtClean="0"/>
              <a:pPr/>
              <a:t>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GAT                                           2018-19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8397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Dept. of CSE, GAT                                           2018-19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106680-AFFF-4043-92CD-40567EBB641E}" type="slidenum">
              <a:rPr lang="en-IN" smtClean="0"/>
              <a:pPr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623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307D4-25BF-4687-876E-02D2FCCE49A4}" type="datetime1">
              <a:rPr lang="en-IN" smtClean="0"/>
              <a:t>29-11-2021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GAT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962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F90E7-F75A-461B-BDC6-C83EFAC770E8}" type="datetime1">
              <a:rPr lang="en-IN" smtClean="0"/>
              <a:t>29-11-2021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GAT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217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A30A2-4F8E-4C4A-84D0-F5D839640A13}" type="datetime1">
              <a:rPr lang="en-IN" smtClean="0"/>
              <a:t>29-11-2021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GAT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431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CDACE-158E-40AB-A56E-44AD2653A93B}" type="datetime1">
              <a:rPr lang="en-IN" smtClean="0"/>
              <a:t>29-11-2021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GAT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123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E6992-0784-4D01-A097-A4A69BCDA605}" type="datetime1">
              <a:rPr lang="en-IN" smtClean="0"/>
              <a:t>29-11-2021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GAT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968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57A0A-CA02-45A5-9B05-93F10A3C12D6}" type="datetime1">
              <a:rPr lang="en-IN" smtClean="0"/>
              <a:t>29-11-2021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GAT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538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F3900-179E-4B87-AF0A-EBFEB3EB9949}" type="datetime1">
              <a:rPr lang="en-IN" smtClean="0"/>
              <a:t>29-11-2021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GAT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641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4F948-2B25-4043-BA78-434B6065872C}" type="datetime1">
              <a:rPr lang="en-IN" smtClean="0"/>
              <a:t>29-11-2021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GAT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6345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9168-876B-4637-A7DC-8D46F42C9607}" type="datetime1">
              <a:rPr lang="en-IN" smtClean="0"/>
              <a:t>29-11-2021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GAT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9358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21D9-FED9-4BC6-83CE-E8BB34F3BDB1}" type="datetime1">
              <a:rPr lang="en-IN" smtClean="0"/>
              <a:t>29-11-2021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GAT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5456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88E13-BEA9-4FAF-ABF6-925C0F3964A1}" type="datetime1">
              <a:rPr lang="en-IN" smtClean="0"/>
              <a:t>29-11-2021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GAT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233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0AD9B-2101-4CB9-B0A2-3263509CF405}" type="datetime1">
              <a:rPr lang="en-IN" smtClean="0"/>
              <a:t>29-11-2021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Dept. of CSE, GAT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3D2DC-5F12-406D-9BC7-0C4E2707489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985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9975" y="0"/>
            <a:ext cx="10977349" cy="1752600"/>
          </a:xfrm>
        </p:spPr>
        <p:txBody>
          <a:bodyPr>
            <a:noAutofit/>
          </a:bodyPr>
          <a:lstStyle/>
          <a:p>
            <a:b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ACADEMY OF TECHNOLOGY</a:t>
            </a:r>
            <a:br>
              <a:rPr lang="en-IN" sz="2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  <a:br>
              <a:rPr lang="en-IN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1" dirty="0"/>
              <a:t>(Accredited by NBA 2019-2022)</a:t>
            </a:r>
            <a:br>
              <a:rPr lang="en-IN" sz="2200" dirty="0"/>
            </a:br>
            <a:r>
              <a:rPr lang="en-IN" sz="2200" b="1" dirty="0"/>
              <a:t>Academic Year : 2021 – 22( ODD </a:t>
            </a:r>
            <a:r>
              <a:rPr lang="en-IN" sz="2200" b="1" dirty="0" err="1"/>
              <a:t>Sem</a:t>
            </a:r>
            <a:r>
              <a:rPr lang="en-IN" sz="2200" b="1" dirty="0"/>
              <a:t>)</a:t>
            </a:r>
            <a:br>
              <a:rPr lang="en-IN" sz="2400" dirty="0"/>
            </a:br>
            <a:endParaRPr lang="en-IN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K:\ns2 templates\KIRAN NS-2\college_logo3.png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40010" y="325320"/>
            <a:ext cx="923925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959565"/>
              </p:ext>
            </p:extLst>
          </p:nvPr>
        </p:nvGraphicFramePr>
        <p:xfrm>
          <a:off x="1062037" y="1503679"/>
          <a:ext cx="10420279" cy="4930531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36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725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8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82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157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Subject Name</a:t>
                      </a:r>
                      <a:endParaRPr lang="en-IN" sz="16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Work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Subject Code</a:t>
                      </a:r>
                      <a:endParaRPr lang="en-IN" sz="16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18CSP77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683">
                <a:tc rowSpan="4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Name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AKHILADEVI M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 rowSpan="4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USN</a:t>
                      </a:r>
                      <a:endParaRPr lang="en-IN" sz="16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1GA18CS017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68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AMRUTHA M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1GA18CS023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68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CHANDANASHREE K R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1GA18CS045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68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AMRUTHA K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1GA18CS194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139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Domain</a:t>
                      </a:r>
                      <a:endParaRPr lang="en-IN" sz="16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MACHINE LEARNING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 No: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10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139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Title</a:t>
                      </a:r>
                      <a:endParaRPr lang="en-IN" sz="16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 gridSpan="3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“ROAD ACCIDENT ANALYSIS USING MACHINE </a:t>
                      </a: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</a:t>
                      </a: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”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72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taken at</a:t>
                      </a:r>
                      <a:endParaRPr lang="en-IN" sz="16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 gridSpan="3">
                  <a:txBody>
                    <a:bodyPr/>
                    <a:lstStyle/>
                    <a:p>
                      <a:pPr marR="3175" algn="l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GLOBAL ACADEMY OF TECHNOLOGY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872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Guide Name</a:t>
                      </a:r>
                      <a:endParaRPr lang="en-IN" sz="16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 gridSpan="3">
                  <a:txBody>
                    <a:bodyPr/>
                    <a:lstStyle/>
                    <a:p>
                      <a:pPr marR="3175" algn="l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 Dr. ANITHA K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0000000-0008-0000-0000-00000300000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885" y="381000"/>
            <a:ext cx="633670" cy="727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777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Problem Description </a:t>
            </a:r>
          </a:p>
          <a:p>
            <a:r>
              <a:rPr lang="en-IN" sz="2400" dirty="0"/>
              <a:t>Literature Survey</a:t>
            </a:r>
          </a:p>
          <a:p>
            <a:r>
              <a:rPr lang="en-IN" sz="2400" dirty="0"/>
              <a:t>Identified Gaps </a:t>
            </a:r>
          </a:p>
          <a:p>
            <a:r>
              <a:rPr lang="en-IN" sz="2400" dirty="0"/>
              <a:t>Objective and scope of the project work</a:t>
            </a:r>
          </a:p>
          <a:p>
            <a:r>
              <a:rPr lang="en-US" sz="2400" dirty="0"/>
              <a:t>Proposed Solution </a:t>
            </a:r>
          </a:p>
          <a:p>
            <a:r>
              <a:rPr lang="en-IN" sz="2400" dirty="0"/>
              <a:t>Requirements Specifications</a:t>
            </a:r>
          </a:p>
          <a:p>
            <a:r>
              <a:rPr lang="en-US" sz="2400" dirty="0"/>
              <a:t>Project Work plan</a:t>
            </a:r>
            <a:endParaRPr lang="en-IN" sz="2400" dirty="0"/>
          </a:p>
          <a:p>
            <a:r>
              <a:rPr lang="en-IN" sz="2400" dirty="0"/>
              <a:t>Bibliography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7315200" cy="365125"/>
          </a:xfrm>
        </p:spPr>
        <p:txBody>
          <a:bodyPr/>
          <a:lstStyle/>
          <a:p>
            <a:pPr algn="l"/>
            <a:r>
              <a:rPr lang="en-IN" dirty="0"/>
              <a:t>Dept. of CSE, GAT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2968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7315200" cy="365125"/>
          </a:xfrm>
        </p:spPr>
        <p:txBody>
          <a:bodyPr/>
          <a:lstStyle/>
          <a:p>
            <a:pPr algn="l"/>
            <a:r>
              <a:rPr lang="en-US"/>
              <a:t>Dept. of CSE, GAT</a:t>
            </a:r>
            <a:endParaRPr lang="en-IN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/>
              <a:pPr/>
              <a:t>3</a:t>
            </a:fld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BD9397-F3F7-407F-99BE-E7DAA429D9E2}"/>
              </a:ext>
            </a:extLst>
          </p:cNvPr>
          <p:cNvSpPr txBox="1"/>
          <p:nvPr/>
        </p:nvSpPr>
        <p:spPr>
          <a:xfrm>
            <a:off x="838200" y="690880"/>
            <a:ext cx="10515600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+mj-lt"/>
              </a:rPr>
              <a:t>Project Description</a:t>
            </a:r>
          </a:p>
          <a:p>
            <a:endParaRPr lang="en-IN" sz="24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400" dirty="0"/>
              <a:t>In recent years, road accident has become a global problem and are marked as the ninth prominent[1] cause of death in the world due to the enormous number of road accidents every year.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400" dirty="0"/>
              <a:t>Traffic accidents on highways are a leading cause of death despite the development of traffic safety measures.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400" dirty="0"/>
              <a:t>The features affecting accidental severity include distance, temperature, humidity, visibility, and wind direction.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400" dirty="0"/>
              <a:t>Road traffic accidents are a major cause of injuries, deaths, permanent disabilities, and property loss.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400" dirty="0"/>
              <a:t>It not only affects the economy it also affects the health care system because it puts the burden on the hospitals.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400" dirty="0"/>
              <a:t>To overcome these problems we use “Road Accident Analysis”.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676434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0645"/>
            <a:ext cx="10515600" cy="1325563"/>
          </a:xfrm>
        </p:spPr>
        <p:txBody>
          <a:bodyPr/>
          <a:lstStyle/>
          <a:p>
            <a:r>
              <a:rPr lang="en-IN" dirty="0"/>
              <a:t>Literature Survey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2627779"/>
              </p:ext>
            </p:extLst>
          </p:nvPr>
        </p:nvGraphicFramePr>
        <p:xfrm>
          <a:off x="838200" y="1524000"/>
          <a:ext cx="10515600" cy="4111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271">
                <a:tc>
                  <a:txBody>
                    <a:bodyPr/>
                    <a:lstStyle/>
                    <a:p>
                      <a:r>
                        <a:rPr lang="en-IN" dirty="0"/>
                        <a:t>Title</a:t>
                      </a:r>
                      <a:r>
                        <a:rPr lang="en-IN" baseline="0" dirty="0"/>
                        <a:t> of the paper and year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Methodology</a:t>
                      </a:r>
                      <a:r>
                        <a:rPr lang="en-IN" baseline="0" dirty="0"/>
                        <a:t>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Advantages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Disadvantages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0021">
                <a:tc>
                  <a:txBody>
                    <a:bodyPr/>
                    <a:lstStyle/>
                    <a:p>
                      <a:pPr algn="just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Traffic Accident Severity Prediction Based on Decision Level Fusion of Machine and Deep Learning Model    </a:t>
                      </a:r>
                      <a:r>
                        <a:rPr lang="en-US" dirty="0"/>
                        <a:t>        (Sep 2021).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Data Mining, CNN, Random Forest, Logistic Regression.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architecture of RFCNN is more efficient, accurate and gives highest performance.</a:t>
                      </a:r>
                      <a:br>
                        <a:rPr lang="en-US" dirty="0"/>
                      </a:b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Implementation of these methodologies increases the Complexity.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66333"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Road Accident Analysis using Machine Learning (May 2020).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Data Mining, 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Apriori, K-Means.</a:t>
                      </a:r>
                      <a:br>
                        <a:rPr lang="en-IN" b="0" dirty="0"/>
                      </a:b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Prototypes are built which provides the precautions to the people in a particular area.</a:t>
                      </a:r>
                      <a:br>
                        <a:rPr lang="en-US" dirty="0"/>
                      </a:b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Difficult to provide confidence and support values 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continuously.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/>
              <a:pPr/>
              <a:t>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54FACE-E4E7-476C-8A77-AD5D9AA7E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GAT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214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2891BC-1BC8-4045-A5F7-5E18F17C9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GAT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FB3DC3-2F7A-4137-AF8D-C24ECA8AF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/>
              <a:pPr/>
              <a:t>5</a:t>
            </a:fld>
            <a:endParaRPr lang="en-I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EFDE742-C87C-4848-89C0-056346BDE4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8031772"/>
              </p:ext>
            </p:extLst>
          </p:nvPr>
        </p:nvGraphicFramePr>
        <p:xfrm>
          <a:off x="838200" y="697864"/>
          <a:ext cx="10515600" cy="4991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92587191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0758508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4217703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870307982"/>
                    </a:ext>
                  </a:extLst>
                </a:gridCol>
              </a:tblGrid>
              <a:tr h="8319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Title</a:t>
                      </a:r>
                      <a:r>
                        <a:rPr lang="en-IN" baseline="0" dirty="0"/>
                        <a:t> of the paper and year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Advantages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Disadvantages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806658"/>
                  </a:ext>
                </a:extLst>
              </a:tr>
              <a:tr h="2258166">
                <a:tc>
                  <a:txBody>
                    <a:bodyPr/>
                    <a:lstStyle/>
                    <a:p>
                      <a:pPr algn="just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Machine Learning Approach to Road Surface Anomaly Assessment Using Smartphone Sensors</a:t>
                      </a:r>
                      <a:r>
                        <a:rPr lang="en-US" dirty="0"/>
                        <a:t> (Mar 2020).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SVM, Neural network, Decision Tree.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Classifiers trained using features from all axis proved to be more accurate when compared to features from only one axis.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Sensor technology can be expensive and also SVM consumes huge amount of time.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146290"/>
                  </a:ext>
                </a:extLst>
              </a:tr>
              <a:tr h="1901614"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Road Accident Analysis and Prediction using Machine Learning         (Jan 2020).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KNN Algorithm, Decision Tree Algorithm, Naïve Bayes Algorithm.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Analyses and simplifies the accidental data</a:t>
                      </a:r>
                      <a:b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 gives a proper and effective visualized report.</a:t>
                      </a:r>
                      <a:br>
                        <a:rPr lang="en-US" dirty="0"/>
                      </a:b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Concentrates only on Traffic conditions.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3220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233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703D9C-5036-4F83-9601-89C72CB52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GAT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1F1320-57E9-4BE1-A234-CC76DD2F4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/>
              <a:pPr/>
              <a:t>6</a:t>
            </a:fld>
            <a:endParaRPr lang="en-I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F4A9634-EB3D-41B6-AB8F-4407DCBF7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857964"/>
              </p:ext>
            </p:extLst>
          </p:nvPr>
        </p:nvGraphicFramePr>
        <p:xfrm>
          <a:off x="853440" y="650240"/>
          <a:ext cx="10500360" cy="5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5090">
                  <a:extLst>
                    <a:ext uri="{9D8B030D-6E8A-4147-A177-3AD203B41FA5}">
                      <a16:colId xmlns:a16="http://schemas.microsoft.com/office/drawing/2014/main" val="4173033393"/>
                    </a:ext>
                  </a:extLst>
                </a:gridCol>
                <a:gridCol w="2625090">
                  <a:extLst>
                    <a:ext uri="{9D8B030D-6E8A-4147-A177-3AD203B41FA5}">
                      <a16:colId xmlns:a16="http://schemas.microsoft.com/office/drawing/2014/main" val="1609670825"/>
                    </a:ext>
                  </a:extLst>
                </a:gridCol>
                <a:gridCol w="2625090">
                  <a:extLst>
                    <a:ext uri="{9D8B030D-6E8A-4147-A177-3AD203B41FA5}">
                      <a16:colId xmlns:a16="http://schemas.microsoft.com/office/drawing/2014/main" val="1299478019"/>
                    </a:ext>
                  </a:extLst>
                </a:gridCol>
                <a:gridCol w="2625090">
                  <a:extLst>
                    <a:ext uri="{9D8B030D-6E8A-4147-A177-3AD203B41FA5}">
                      <a16:colId xmlns:a16="http://schemas.microsoft.com/office/drawing/2014/main" val="2010961968"/>
                    </a:ext>
                  </a:extLst>
                </a:gridCol>
              </a:tblGrid>
              <a:tr h="790222">
                <a:tc>
                  <a:txBody>
                    <a:bodyPr/>
                    <a:lstStyle/>
                    <a:p>
                      <a:r>
                        <a:rPr lang="en-IN" dirty="0"/>
                        <a:t>Title</a:t>
                      </a:r>
                      <a:r>
                        <a:rPr lang="en-IN" baseline="0" dirty="0"/>
                        <a:t> of the paper and year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Methodology</a:t>
                      </a:r>
                      <a:r>
                        <a:rPr lang="en-IN" baseline="0" dirty="0"/>
                        <a:t>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Advantages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Disadvantages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01594"/>
                  </a:ext>
                </a:extLst>
              </a:tr>
              <a:tr h="2144889"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Road Accident Prediction using Machine Learning Algorithm (Mar 2019).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Data Mining, Logistic Regression Algorithm.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Algorithm is triggered automatically as user inputs the data.</a:t>
                      </a:r>
                      <a:br>
                        <a:rPr lang="en-US" dirty="0"/>
                      </a:b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The application completely depends on the user inputs.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195560"/>
                  </a:ext>
                </a:extLst>
              </a:tr>
              <a:tr h="2144889">
                <a:tc>
                  <a:txBody>
                    <a:bodyPr/>
                    <a:lstStyle/>
                    <a:p>
                      <a:pPr algn="just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Detecting Road Surface Condition using Smartphone Sensors and Machine Learning</a:t>
                      </a:r>
                      <a:r>
                        <a:rPr lang="en-US" dirty="0"/>
                        <a:t> (2019).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SVM, Random Forest, Random Tree in Mag Track.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MagTrack worked well in various distinguishable road condition with an average accuracy of 92%.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Smartphone app for data</a:t>
                      </a:r>
                      <a:b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Visualization is not implemented.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715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7670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22C47-3824-4132-A028-62F494133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GAT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3FE97-B121-4B08-A1FC-CD306562F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/>
              <a:pPr/>
              <a:t>7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C9CD6F-2F01-4A48-AA1D-C6D0CC7A56AB}"/>
              </a:ext>
            </a:extLst>
          </p:cNvPr>
          <p:cNvSpPr txBox="1"/>
          <p:nvPr/>
        </p:nvSpPr>
        <p:spPr>
          <a:xfrm>
            <a:off x="772160" y="711200"/>
            <a:ext cx="10581640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+mj-lt"/>
              </a:rPr>
              <a:t>Identified gaps in the Literature Survey</a:t>
            </a:r>
          </a:p>
          <a:p>
            <a:endParaRPr lang="en-IN" sz="2800" dirty="0">
              <a:latin typeface="+mj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b="0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Implementation of these methodologies increases the Complexity.</a:t>
            </a:r>
            <a:endParaRPr lang="en-US" sz="2400" dirty="0"/>
          </a:p>
          <a:p>
            <a:pPr algn="just"/>
            <a:endParaRPr lang="en-IN" sz="24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400" dirty="0"/>
              <a:t>Sensor technology and smartphone system used are expensive.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/>
              <a:t>Concentrates only on Traffic conditions.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400" dirty="0"/>
              <a:t>SVM consumes huge amount of time.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400" dirty="0"/>
              <a:t>Code Implementation is inefficient.</a:t>
            </a:r>
          </a:p>
        </p:txBody>
      </p:sp>
    </p:spTree>
    <p:extLst>
      <p:ext uri="{BB962C8B-B14F-4D97-AF65-F5344CB8AC3E}">
        <p14:creationId xmlns:p14="http://schemas.microsoft.com/office/powerpoint/2010/main" val="4232074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26FFDD-8BEB-4CCC-BCB2-0D686AB59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GAT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04207D-4E95-4ADA-9F05-0B6ABBBA2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/>
              <a:pPr/>
              <a:t>8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1130B9-DFA8-4DFF-91C4-3FE0D6045343}"/>
              </a:ext>
            </a:extLst>
          </p:cNvPr>
          <p:cNvSpPr txBox="1"/>
          <p:nvPr/>
        </p:nvSpPr>
        <p:spPr>
          <a:xfrm>
            <a:off x="772160" y="335280"/>
            <a:ext cx="1058164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+mj-lt"/>
              </a:rPr>
              <a:t>Objectives and scope of the project work</a:t>
            </a:r>
          </a:p>
          <a:p>
            <a:endParaRPr lang="en-IN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/>
              <a:t>To design and develop the model which will be cost effective ,simple and determine severity of accident using KNN.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/>
              <a:t>To analyze the previously occurred accidents in the locality which will help us to determine the most accident-prone area.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400" b="0" i="0" dirty="0">
              <a:solidFill>
                <a:srgbClr val="000000"/>
              </a:solidFill>
              <a:effectLst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/>
              <a:t>To make predictions based on constraints like weather, pollution, road structure, etc.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/>
              <a:t>Usage of KNN increases the efficiency and reduces the time requirements. </a:t>
            </a:r>
          </a:p>
        </p:txBody>
      </p:sp>
    </p:spTree>
    <p:extLst>
      <p:ext uri="{BB962C8B-B14F-4D97-AF65-F5344CB8AC3E}">
        <p14:creationId xmlns:p14="http://schemas.microsoft.com/office/powerpoint/2010/main" val="725022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7337D88-D6DE-40A6-84A7-AE684E505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GAT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D50044-9525-4270-92C8-EC27CC151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/>
              <a:pPr/>
              <a:t>9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450051-5D7C-4EA1-B446-DACD30442FD7}"/>
              </a:ext>
            </a:extLst>
          </p:cNvPr>
          <p:cNvSpPr txBox="1"/>
          <p:nvPr/>
        </p:nvSpPr>
        <p:spPr>
          <a:xfrm>
            <a:off x="772160" y="335280"/>
            <a:ext cx="1058164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+mj-lt"/>
              </a:rPr>
              <a:t>Proposed Solution</a:t>
            </a:r>
          </a:p>
          <a:p>
            <a:endParaRPr lang="en-US" sz="2800" dirty="0"/>
          </a:p>
          <a:p>
            <a:pPr algn="just"/>
            <a:r>
              <a:rPr lang="en-US" sz="2400" dirty="0"/>
              <a:t>Data Acquisition: Extraction and importing of data.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Data Preprocessing: Cleaning of data and feature extraction/selection.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Machine Learning Training: Decision Tree, Neural Network and Regression </a:t>
            </a:r>
            <a:r>
              <a:rPr lang="en-IN" sz="2400" dirty="0"/>
              <a:t>Algorithms.</a:t>
            </a:r>
          </a:p>
          <a:p>
            <a:pPr algn="just"/>
            <a:endParaRPr lang="en-IN" sz="2400" dirty="0"/>
          </a:p>
          <a:p>
            <a:pPr algn="just"/>
            <a:r>
              <a:rPr lang="en-IN" sz="2400" dirty="0"/>
              <a:t>Model Evaluation: Testing.</a:t>
            </a:r>
          </a:p>
          <a:p>
            <a:pPr algn="just"/>
            <a:endParaRPr lang="en-IN" sz="2400" dirty="0"/>
          </a:p>
          <a:p>
            <a:pPr algn="just"/>
            <a:r>
              <a:rPr lang="en-IN" sz="2400" dirty="0"/>
              <a:t>Output: Prediction of severity.</a:t>
            </a:r>
          </a:p>
        </p:txBody>
      </p:sp>
    </p:spTree>
    <p:extLst>
      <p:ext uri="{BB962C8B-B14F-4D97-AF65-F5344CB8AC3E}">
        <p14:creationId xmlns:p14="http://schemas.microsoft.com/office/powerpoint/2010/main" val="562791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6ABB0B6-A790-4F61-BBEA-AAF02DCAF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GAT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A66EAC-C225-4627-980D-705DC9820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/>
              <a:pPr/>
              <a:t>10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1EF4F5-2D3C-4CA5-9908-02B43AEA2534}"/>
              </a:ext>
            </a:extLst>
          </p:cNvPr>
          <p:cNvSpPr txBox="1"/>
          <p:nvPr/>
        </p:nvSpPr>
        <p:spPr>
          <a:xfrm>
            <a:off x="772160" y="335280"/>
            <a:ext cx="10581640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+mj-lt"/>
              </a:rPr>
              <a:t>Requirements Specification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/>
              <a:t>Hardware Requirements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400" i="1" dirty="0"/>
              <a:t>Processor: Any Processor above 500MHz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400" i="1" dirty="0"/>
              <a:t>RAM: 512Mb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400" i="1" dirty="0"/>
              <a:t>Hard Disk: 10GB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400" i="1" dirty="0"/>
              <a:t>Input Device: Standard keyboard and Mouse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400" i="1" dirty="0"/>
              <a:t>Output Device: VGA and High-Resolution Monitor</a:t>
            </a:r>
          </a:p>
          <a:p>
            <a:pPr lvl="1" algn="just"/>
            <a:endParaRPr lang="en-US" sz="24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/>
              <a:t>Software Requirements 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400" b="0" i="1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Anaconda </a:t>
            </a:r>
            <a:r>
              <a:rPr lang="en-IN" sz="2400" b="0" i="1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Navigator</a:t>
            </a:r>
            <a:endParaRPr lang="en-US" sz="2400" b="0" i="1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400" i="1" dirty="0"/>
              <a:t>Google Colaboratory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94671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1C9E83-7441-450A-9CE7-87142C427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GAT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975763-FE5C-4FE2-92FD-4B84B59A3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/>
              <a:pPr/>
              <a:t>11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0A9DDB-0FD7-4669-8548-2288301C4706}"/>
              </a:ext>
            </a:extLst>
          </p:cNvPr>
          <p:cNvSpPr txBox="1"/>
          <p:nvPr/>
        </p:nvSpPr>
        <p:spPr>
          <a:xfrm>
            <a:off x="772160" y="304800"/>
            <a:ext cx="1058164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+mj-lt"/>
              </a:rPr>
              <a:t>Project Work plan</a:t>
            </a:r>
          </a:p>
          <a:p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In 7</a:t>
            </a:r>
            <a:r>
              <a:rPr lang="en-US" sz="2800" baseline="30000" dirty="0"/>
              <a:t>th</a:t>
            </a:r>
            <a:r>
              <a:rPr lang="en-US" sz="2800" dirty="0"/>
              <a:t> semester – project phase 1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Synopsis Submission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Literature Survey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Project Presentation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Designing</a:t>
            </a:r>
          </a:p>
          <a:p>
            <a:pPr lvl="1" algn="just"/>
            <a:r>
              <a:rPr lang="en-US" sz="2800" dirty="0"/>
              <a:t>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In 8</a:t>
            </a:r>
            <a:r>
              <a:rPr lang="en-US" sz="2800" baseline="30000" dirty="0"/>
              <a:t>th</a:t>
            </a:r>
            <a:r>
              <a:rPr lang="en-US" sz="2800" dirty="0"/>
              <a:t> semester – project phase 2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Implementation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Report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77992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55C6A4E-77F1-4694-9174-021D2A197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GAT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C48773-8A36-49EE-9C03-9CD05B026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/>
              <a:pPr/>
              <a:t>12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D8A6EF-38D9-4F1D-B7A8-0CEEFF02EC86}"/>
              </a:ext>
            </a:extLst>
          </p:cNvPr>
          <p:cNvSpPr txBox="1"/>
          <p:nvPr/>
        </p:nvSpPr>
        <p:spPr>
          <a:xfrm>
            <a:off x="772160" y="741680"/>
            <a:ext cx="1058164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+mj-lt"/>
              </a:rPr>
              <a:t>Conclusion of the Presentation</a:t>
            </a:r>
          </a:p>
          <a:p>
            <a:endParaRPr lang="en-US" sz="2400" dirty="0"/>
          </a:p>
          <a:p>
            <a:pPr algn="just"/>
            <a:r>
              <a:rPr lang="en-US" sz="2400" dirty="0"/>
              <a:t>Proposed </a:t>
            </a:r>
            <a:r>
              <a:rPr lang="en-IN" sz="2400" dirty="0"/>
              <a:t>solutions</a:t>
            </a:r>
            <a:r>
              <a:rPr lang="en-US" sz="2400" dirty="0"/>
              <a:t> for road damage recognition achieved an 87% accuracy [3], the expected output aims to achieve accuracy above 90%. An efficient solution will be developed for Road Accident </a:t>
            </a:r>
            <a:r>
              <a:rPr lang="en-IN" sz="2400" dirty="0"/>
              <a:t>Analysis.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697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GAT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/>
              <a:pPr/>
              <a:t>13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144196-281D-48F8-A31B-CEAA54C99339}"/>
              </a:ext>
            </a:extLst>
          </p:cNvPr>
          <p:cNvSpPr txBox="1"/>
          <p:nvPr/>
        </p:nvSpPr>
        <p:spPr>
          <a:xfrm>
            <a:off x="772160" y="304800"/>
            <a:ext cx="10581640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+mj-lt"/>
              </a:rPr>
              <a:t>Bibliography</a:t>
            </a:r>
          </a:p>
          <a:p>
            <a:endParaRPr lang="en-IN" sz="2400" dirty="0">
              <a:latin typeface="+mj-lt"/>
            </a:endParaRPr>
          </a:p>
          <a:p>
            <a:pPr algn="just"/>
            <a:r>
              <a:rPr lang="en-IN" sz="2400" dirty="0"/>
              <a:t>[1]. </a:t>
            </a:r>
            <a:r>
              <a:rPr lang="en-IN" sz="2400" dirty="0" err="1"/>
              <a:t>Mubariz</a:t>
            </a:r>
            <a:r>
              <a:rPr lang="en-IN" sz="2400" dirty="0"/>
              <a:t> Manzoor, Muhammad </a:t>
            </a:r>
            <a:r>
              <a:rPr lang="en-IN" sz="2400" dirty="0" err="1"/>
              <a:t>Umer</a:t>
            </a:r>
            <a:r>
              <a:rPr lang="en-IN" sz="2400" dirty="0"/>
              <a:t>, Saima Sadiq Saleem Ullah, hamza Ahmad </a:t>
            </a:r>
            <a:r>
              <a:rPr lang="en-IN" sz="2400" dirty="0" err="1"/>
              <a:t>Madni</a:t>
            </a:r>
            <a:r>
              <a:rPr lang="en-IN" sz="2400" dirty="0"/>
              <a:t>, </a:t>
            </a:r>
            <a:r>
              <a:rPr lang="en-IN" sz="2400" dirty="0" err="1"/>
              <a:t>abid</a:t>
            </a:r>
            <a:r>
              <a:rPr lang="en-IN" sz="2400" dirty="0"/>
              <a:t> </a:t>
            </a:r>
            <a:r>
              <a:rPr lang="en-IN" sz="2400" dirty="0" err="1"/>
              <a:t>Ishaq</a:t>
            </a:r>
            <a:r>
              <a:rPr lang="en-IN" sz="2400" dirty="0"/>
              <a:t>, and carmen </a:t>
            </a:r>
            <a:r>
              <a:rPr lang="en-IN" sz="2400" dirty="0" err="1"/>
              <a:t>bisogni</a:t>
            </a:r>
            <a:r>
              <a:rPr lang="en-IN" sz="2400" dirty="0"/>
              <a:t>.”</a:t>
            </a:r>
            <a:r>
              <a:rPr lang="en-US" sz="2400" dirty="0"/>
              <a:t> Traffic Accident Severity Prediction Based on Decision Level Fusion of Machine and Deep Learning Model</a:t>
            </a:r>
            <a:r>
              <a:rPr lang="en-IN" sz="2400" dirty="0"/>
              <a:t>.”IEEE Access </a:t>
            </a:r>
            <a:r>
              <a:rPr lang="en-IN" sz="2400" b="0" i="1" dirty="0">
                <a:solidFill>
                  <a:srgbClr val="000000"/>
                </a:solidFill>
                <a:effectLst/>
              </a:rPr>
              <a:t>10.1109/ACCESS.2021.3112546</a:t>
            </a:r>
          </a:p>
          <a:p>
            <a:pPr algn="just"/>
            <a:endParaRPr lang="en-IN" sz="2400" i="1" dirty="0">
              <a:solidFill>
                <a:srgbClr val="000000"/>
              </a:solidFill>
            </a:endParaRPr>
          </a:p>
          <a:p>
            <a:pPr algn="just"/>
            <a:r>
              <a:rPr lang="en-IN" sz="2400" dirty="0"/>
              <a:t>[2]. N. Sridevi, M. V. </a:t>
            </a:r>
            <a:r>
              <a:rPr lang="en-IN" sz="2400" dirty="0" err="1"/>
              <a:t>Keerthana</a:t>
            </a:r>
            <a:r>
              <a:rPr lang="en-IN" sz="2400" dirty="0"/>
              <a:t>, </a:t>
            </a:r>
            <a:r>
              <a:rPr lang="en-IN" sz="2400" dirty="0" err="1"/>
              <a:t>Monisha</a:t>
            </a:r>
            <a:r>
              <a:rPr lang="en-IN" sz="2400" dirty="0"/>
              <a:t> V. Pal, T. R. </a:t>
            </a:r>
            <a:r>
              <a:rPr lang="en-IN" sz="2400" dirty="0" err="1"/>
              <a:t>Nikshitha</a:t>
            </a:r>
            <a:r>
              <a:rPr lang="en-IN" sz="2400" dirty="0"/>
              <a:t>, P. Jyothi.”</a:t>
            </a:r>
            <a:r>
              <a:rPr lang="en-US" sz="2400" dirty="0"/>
              <a:t> Road Accident Analysis Using  Machine Learning.” International Journal of Research in Engineering, Science and Management  Volume-3, Issue-5, May-2020 www.ijresm.com | ISSN (Online): 2581-5792</a:t>
            </a:r>
            <a:endParaRPr lang="en-IN" sz="2400" b="0" i="1" dirty="0">
              <a:solidFill>
                <a:srgbClr val="000000"/>
              </a:solidFill>
              <a:effectLst/>
            </a:endParaRPr>
          </a:p>
          <a:p>
            <a:pPr algn="just"/>
            <a:endParaRPr lang="en-US" sz="2400" dirty="0">
              <a:latin typeface="+mj-lt"/>
            </a:endParaRPr>
          </a:p>
          <a:p>
            <a:pPr marL="0" indent="0" algn="just">
              <a:buNone/>
            </a:pPr>
            <a:r>
              <a:rPr lang="en-US" sz="2400" dirty="0"/>
              <a:t>[3]. </a:t>
            </a:r>
            <a:r>
              <a:rPr lang="en-IN" sz="2400" dirty="0" err="1"/>
              <a:t>Akanksh</a:t>
            </a:r>
            <a:r>
              <a:rPr lang="en-IN" sz="2400" dirty="0"/>
              <a:t> </a:t>
            </a:r>
            <a:r>
              <a:rPr lang="en-IN" sz="2400" dirty="0" err="1"/>
              <a:t>Basavaraju</a:t>
            </a:r>
            <a:r>
              <a:rPr lang="en-IN" sz="2400" dirty="0"/>
              <a:t>, Jing Du, </a:t>
            </a:r>
            <a:r>
              <a:rPr lang="en-IN" sz="2400" dirty="0" err="1"/>
              <a:t>Fujie</a:t>
            </a:r>
            <a:r>
              <a:rPr lang="en-IN" sz="2400" dirty="0"/>
              <a:t> Zhou, and Jim Ji.”</a:t>
            </a:r>
            <a:r>
              <a:rPr lang="en-US" sz="2400" dirty="0"/>
              <a:t>A Machine Learning Approach to Road Surface Anomaly Assessment Using Smartphone Sensors .”IEEE SENSORS JOURNAL, VOL. 20, NO. 5, MARCH 1, 2020</a:t>
            </a:r>
            <a:r>
              <a:rPr lang="en-IN" sz="2400" dirty="0"/>
              <a:t>.”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7315200" cy="365125"/>
          </a:xfrm>
        </p:spPr>
        <p:txBody>
          <a:bodyPr/>
          <a:lstStyle/>
          <a:p>
            <a:pPr algn="l"/>
            <a:r>
              <a:rPr lang="en-US"/>
              <a:t>Dept. of CSE, GAT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/>
              <a:pPr/>
              <a:t>14</a:t>
            </a:fld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85C976-D075-4B14-93C9-1C33BB32E1FE}"/>
              </a:ext>
            </a:extLst>
          </p:cNvPr>
          <p:cNvSpPr txBox="1"/>
          <p:nvPr/>
        </p:nvSpPr>
        <p:spPr>
          <a:xfrm>
            <a:off x="802640" y="284480"/>
            <a:ext cx="1058164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[4]. Sahil </a:t>
            </a:r>
            <a:r>
              <a:rPr lang="en-US" sz="2400" dirty="0" err="1"/>
              <a:t>Dabhade</a:t>
            </a:r>
            <a:r>
              <a:rPr lang="en-US" sz="2400" dirty="0"/>
              <a:t>, Sai </a:t>
            </a:r>
            <a:r>
              <a:rPr lang="en-US" sz="2400" dirty="0" err="1"/>
              <a:t>Mahale</a:t>
            </a:r>
            <a:r>
              <a:rPr lang="en-US" sz="2400" dirty="0"/>
              <a:t>, </a:t>
            </a:r>
            <a:r>
              <a:rPr lang="en-US" sz="2400" dirty="0" err="1"/>
              <a:t>Avinash</a:t>
            </a:r>
            <a:r>
              <a:rPr lang="en-US" sz="2400" dirty="0"/>
              <a:t> </a:t>
            </a:r>
            <a:r>
              <a:rPr lang="en-US" sz="2400" dirty="0" err="1"/>
              <a:t>Chitalkar</a:t>
            </a:r>
            <a:r>
              <a:rPr lang="en-US" sz="2400" dirty="0"/>
              <a:t>, Pushkar </a:t>
            </a:r>
            <a:r>
              <a:rPr lang="en-US" sz="2400" dirty="0" err="1"/>
              <a:t>Gawhad</a:t>
            </a:r>
            <a:r>
              <a:rPr lang="en-US" sz="2400" dirty="0"/>
              <a:t>, Vicky </a:t>
            </a:r>
            <a:r>
              <a:rPr lang="en-US" sz="2400" dirty="0" err="1"/>
              <a:t>Pagare</a:t>
            </a:r>
            <a:r>
              <a:rPr lang="en-US" sz="2400" dirty="0"/>
              <a:t>.”Road Accident Analysis and Prediction using Machine Learning.”</a:t>
            </a:r>
            <a:r>
              <a:rPr lang="en-IN" sz="2400" dirty="0"/>
              <a:t>International Journal for Research in Applied Science &amp; Engineering Technology (IJRASET) ISSN: 2321-9653; IC Value: 45.98; SJ Impact Factor: 7.177 Volume 8 Issue I, Jan 2020- Available at www.ijraset.com</a:t>
            </a:r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r>
              <a:rPr lang="en-US" sz="2400" dirty="0"/>
              <a:t>[5]. Vipul Rana, Hemant  Joshi, Deepak Parmar, </a:t>
            </a:r>
            <a:r>
              <a:rPr lang="en-US" sz="2400" dirty="0" err="1"/>
              <a:t>Pradnya</a:t>
            </a:r>
            <a:r>
              <a:rPr lang="en-US" sz="2400" dirty="0"/>
              <a:t>  Jadhav,  Monika </a:t>
            </a:r>
            <a:r>
              <a:rPr lang="en-US" sz="2400" dirty="0" err="1"/>
              <a:t>Kanojiya</a:t>
            </a:r>
            <a:r>
              <a:rPr lang="en-US" sz="2400" dirty="0"/>
              <a:t>.” Road  Accident  Prediction  using  Machine Learning  Algorithm.” International Research  Journal of  Engineering and Technology  (IRJET) Volume:  06  Issue:  03  |  Mar  2019 www.irjet.net</a:t>
            </a:r>
          </a:p>
          <a:p>
            <a:pPr marL="0" indent="0" algn="just">
              <a:buNone/>
            </a:pPr>
            <a:endParaRPr lang="en-IN" sz="2400" i="1" dirty="0">
              <a:solidFill>
                <a:srgbClr val="000000"/>
              </a:solidFill>
            </a:endParaRPr>
          </a:p>
          <a:p>
            <a:pPr marL="0" indent="0" algn="just">
              <a:buNone/>
            </a:pPr>
            <a:r>
              <a:rPr lang="en-IN" sz="2400" dirty="0"/>
              <a:t>[6]. </a:t>
            </a:r>
            <a:r>
              <a:rPr lang="en-IN" sz="2400" dirty="0" err="1"/>
              <a:t>Meenu</a:t>
            </a:r>
            <a:r>
              <a:rPr lang="en-IN" sz="2400" dirty="0"/>
              <a:t> Rani </a:t>
            </a:r>
            <a:r>
              <a:rPr lang="en-IN" sz="2400" dirty="0" err="1"/>
              <a:t>Dey,Utkalika</a:t>
            </a:r>
            <a:r>
              <a:rPr lang="en-IN" sz="2400" dirty="0"/>
              <a:t> </a:t>
            </a:r>
            <a:r>
              <a:rPr lang="en-IN" sz="2400" dirty="0" err="1"/>
              <a:t>Satapathy,Pranali</a:t>
            </a:r>
            <a:r>
              <a:rPr lang="en-IN" sz="2400" dirty="0"/>
              <a:t> </a:t>
            </a:r>
            <a:r>
              <a:rPr lang="en-IN" sz="2400" dirty="0" err="1"/>
              <a:t>Bhanse,Bhabendu</a:t>
            </a:r>
            <a:r>
              <a:rPr lang="en-IN" sz="2400" dirty="0"/>
              <a:t> Kr. </a:t>
            </a:r>
            <a:r>
              <a:rPr lang="en-IN" sz="2400" dirty="0" err="1"/>
              <a:t>Mohanta,Debasish</a:t>
            </a:r>
            <a:r>
              <a:rPr lang="en-IN" sz="2400" dirty="0"/>
              <a:t> Jena.”</a:t>
            </a:r>
            <a:r>
              <a:rPr lang="en-US" sz="2400" b="0" i="0" dirty="0">
                <a:solidFill>
                  <a:srgbClr val="242021"/>
                </a:solidFill>
                <a:effectLst/>
              </a:rPr>
              <a:t> Detecting Road Surface Condition using</a:t>
            </a:r>
            <a:br>
              <a:rPr lang="en-US" sz="2400" b="0" i="0" dirty="0">
                <a:solidFill>
                  <a:srgbClr val="242021"/>
                </a:solidFill>
                <a:effectLst/>
              </a:rPr>
            </a:br>
            <a:r>
              <a:rPr lang="en-US" sz="2400" b="0" i="0" dirty="0">
                <a:solidFill>
                  <a:srgbClr val="242021"/>
                </a:solidFill>
                <a:effectLst/>
              </a:rPr>
              <a:t>Smartphone Sensors and Machine Learning.”</a:t>
            </a:r>
            <a:r>
              <a:rPr lang="en-IN" sz="2400" dirty="0"/>
              <a:t>Information Security Lab IIIT Bhubaneswar Odisha, India a117004@iiit-bh.ac.in 978-1-7281-1895-6/19/$31.00 c2019 IEEE.</a:t>
            </a:r>
          </a:p>
        </p:txBody>
      </p:sp>
    </p:spTree>
    <p:extLst>
      <p:ext uri="{BB962C8B-B14F-4D97-AF65-F5344CB8AC3E}">
        <p14:creationId xmlns:p14="http://schemas.microsoft.com/office/powerpoint/2010/main" val="15218168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sz="7200" dirty="0"/>
              <a:t>Q &amp; 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7315200" cy="365125"/>
          </a:xfrm>
        </p:spPr>
        <p:txBody>
          <a:bodyPr/>
          <a:lstStyle/>
          <a:p>
            <a:pPr algn="l"/>
            <a:r>
              <a:rPr lang="en-US"/>
              <a:t>Dept. of CSE, GAT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/>
              <a:pPr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616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95785"/>
            <a:ext cx="10515600" cy="578117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IN" sz="7200" dirty="0"/>
          </a:p>
          <a:p>
            <a:pPr marL="0" indent="0" algn="ctr">
              <a:buNone/>
            </a:pPr>
            <a:endParaRPr lang="en-IN" sz="7200" dirty="0"/>
          </a:p>
          <a:p>
            <a:pPr marL="0" indent="0" algn="ctr">
              <a:buNone/>
            </a:pPr>
            <a:r>
              <a:rPr lang="en-IN" sz="7200" dirty="0"/>
              <a:t>Thank You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7315200" cy="365125"/>
          </a:xfrm>
        </p:spPr>
        <p:txBody>
          <a:bodyPr/>
          <a:lstStyle/>
          <a:p>
            <a:pPr algn="l"/>
            <a:r>
              <a:rPr lang="en-US" dirty="0"/>
              <a:t>Dept. of CSE, GAT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/>
              <a:pPr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069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</TotalTime>
  <Words>1315</Words>
  <Application>Microsoft Office PowerPoint</Application>
  <PresentationFormat>Widescreen</PresentationFormat>
  <Paragraphs>192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                GLOBAL ACADEMY OF TECHNOLOGY DEPARTMENT OF COMPUTER SCIENCE AND ENGINEERING (Accredited by NBA 2019-2022) Academic Year : 2021 – 22( ODD Sem) </vt:lpstr>
      <vt:lpstr>Agenda</vt:lpstr>
      <vt:lpstr>PowerPoint Presentation</vt:lpstr>
      <vt:lpstr>Literature Survey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ACADEMY OF TECHNOLOGY DEPARTMENT OF COMPUTER SCIENCE AND ENGINEERING</dc:title>
  <dc:creator>admin</dc:creator>
  <cp:lastModifiedBy>Akhiladevi M</cp:lastModifiedBy>
  <cp:revision>56</cp:revision>
  <cp:lastPrinted>2018-09-04T04:42:13Z</cp:lastPrinted>
  <dcterms:created xsi:type="dcterms:W3CDTF">2018-01-23T09:52:46Z</dcterms:created>
  <dcterms:modified xsi:type="dcterms:W3CDTF">2021-11-29T15:51:56Z</dcterms:modified>
</cp:coreProperties>
</file>